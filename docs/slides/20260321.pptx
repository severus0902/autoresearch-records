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607" r:id="rId3"/>
    <p:sldId id="614" r:id="rId4"/>
    <p:sldId id="616" r:id="rId5"/>
    <p:sldId id="631" r:id="rId6"/>
    <p:sldId id="632" r:id="rId7"/>
    <p:sldId id="633" r:id="rId8"/>
    <p:sldId id="634" r:id="rId9"/>
    <p:sldId id="621" r:id="rId10"/>
    <p:sldId id="635" r:id="rId11"/>
    <p:sldId id="622" r:id="rId12"/>
    <p:sldId id="636" r:id="rId13"/>
    <p:sldId id="637" r:id="rId14"/>
    <p:sldId id="638" r:id="rId15"/>
    <p:sldId id="354" r:id="rId16"/>
  </p:sldIdLst>
  <p:sldSz cx="12192000" cy="6858000"/>
  <p:notesSz cx="7104063" cy="10234613"/>
  <p:custDataLst>
    <p:tags r:id="rId1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 SQ" initials="ZS" lastIdx="20" clrIdx="0"/>
  <p:cmAuthor id="2" name="Administrator" initials="A" lastIdx="2" clrIdx="1"/>
  <p:cmAuthor id="3" name="吴 亦珂" initials="吴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1F497D"/>
    <a:srgbClr val="FFF2CC"/>
    <a:srgbClr val="C9E6F1"/>
    <a:srgbClr val="DBF1CE"/>
    <a:srgbClr val="D4E0F9"/>
    <a:srgbClr val="071F65"/>
    <a:srgbClr val="F6BB00"/>
    <a:srgbClr val="BDD3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2805" autoAdjust="0"/>
  </p:normalViewPr>
  <p:slideViewPr>
    <p:cSldViewPr showGuides="1">
      <p:cViewPr varScale="1">
        <p:scale>
          <a:sx n="74" d="100"/>
          <a:sy n="74" d="100"/>
        </p:scale>
        <p:origin x="82" y="2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68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335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4" tIns="49532" rIns="99064" bIns="49532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4" tIns="49532" rIns="99064" bIns="49532" rtlCol="0"/>
          <a:lstStyle>
            <a:lvl1pPr algn="r">
              <a:defRPr sz="1300"/>
            </a:lvl1pPr>
          </a:lstStyle>
          <a:p>
            <a:fld id="{9917FF82-BF6E-4CF3-9BC5-B117A23C0B8B}" type="datetimeFigureOut">
              <a:rPr lang="zh-CN" altLang="en-US" smtClean="0"/>
              <a:t>2026-09-03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9064" tIns="49532" rIns="99064" bIns="49532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9064" tIns="49532" rIns="99064" bIns="49532" rtlCol="0" anchor="b"/>
          <a:lstStyle>
            <a:lvl1pPr algn="r">
              <a:defRPr sz="1300"/>
            </a:lvl1pPr>
          </a:lstStyle>
          <a:p>
            <a:fld id="{C1F7C08F-D52A-499E-A227-BAB2A2F122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4663" cy="3838575"/>
          </a:xfrm>
          <a:prstGeom prst="rect">
            <a:avLst/>
          </a:prstGeom>
        </p:spPr>
        <p:txBody>
          <a:bodyPr lIns="99064" tIns="49532" rIns="99064" bIns="49532"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47210" y="4861442"/>
            <a:ext cx="5209646" cy="4605575"/>
          </a:xfrm>
          <a:prstGeom prst="rect">
            <a:avLst/>
          </a:prstGeom>
        </p:spPr>
        <p:txBody>
          <a:bodyPr lIns="99064" tIns="49532" rIns="99064" bIns="49532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4663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/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4663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76102" y="1844823"/>
            <a:ext cx="9144000" cy="1548173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548336" y="3933056"/>
            <a:ext cx="4427984" cy="57606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汇报人：</a:t>
            </a:r>
          </a:p>
        </p:txBody>
      </p:sp>
      <p:sp>
        <p:nvSpPr>
          <p:cNvPr id="23" name="直接连接符 16"/>
          <p:cNvSpPr/>
          <p:nvPr userDrawn="1"/>
        </p:nvSpPr>
        <p:spPr>
          <a:xfrm>
            <a:off x="1376102" y="3573016"/>
            <a:ext cx="9171588" cy="0"/>
          </a:xfrm>
          <a:prstGeom prst="line">
            <a:avLst/>
          </a:prstGeom>
          <a:ln w="28575">
            <a:solidFill>
              <a:srgbClr val="3B3838"/>
            </a:solidFill>
            <a:miter/>
          </a:ln>
        </p:spPr>
        <p:txBody>
          <a:bodyPr lIns="45719" rIns="45719"/>
          <a:lstStyle/>
          <a:p>
            <a:endParaRPr dirty="0"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911424" y="674380"/>
            <a:ext cx="10988093" cy="4571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1814820" y="821851"/>
            <a:ext cx="10377180" cy="45719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3499776" y="6237312"/>
            <a:ext cx="5192447" cy="400110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pic>
        <p:nvPicPr>
          <p:cNvPr id="20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278349" y="271432"/>
            <a:ext cx="1210787" cy="12133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  <a:headEnd/>
            <a:tailEnd/>
          </a:ln>
        </p:spPr>
      </p:pic>
      <p:sp>
        <p:nvSpPr>
          <p:cNvPr id="21" name="平行四边形 20"/>
          <p:cNvSpPr/>
          <p:nvPr userDrawn="1"/>
        </p:nvSpPr>
        <p:spPr>
          <a:xfrm>
            <a:off x="9959911" y="1383388"/>
            <a:ext cx="660854" cy="57444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22" name="椭圆 21"/>
          <p:cNvSpPr/>
          <p:nvPr userDrawn="1"/>
        </p:nvSpPr>
        <p:spPr>
          <a:xfrm>
            <a:off x="9568735" y="1223108"/>
            <a:ext cx="324723" cy="9574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4" name="椭圆 23"/>
          <p:cNvSpPr/>
          <p:nvPr userDrawn="1"/>
        </p:nvSpPr>
        <p:spPr>
          <a:xfrm>
            <a:off x="9634158" y="240164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5" name="椭圆 24"/>
          <p:cNvSpPr/>
          <p:nvPr userDrawn="1"/>
        </p:nvSpPr>
        <p:spPr>
          <a:xfrm flipH="1">
            <a:off x="9926169" y="327129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6" name="矩形 25"/>
          <p:cNvSpPr/>
          <p:nvPr userDrawn="1"/>
        </p:nvSpPr>
        <p:spPr>
          <a:xfrm rot="2100000">
            <a:off x="9776972" y="649458"/>
            <a:ext cx="828960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7" name="椭圆 26"/>
          <p:cNvSpPr/>
          <p:nvPr userDrawn="1"/>
        </p:nvSpPr>
        <p:spPr>
          <a:xfrm>
            <a:off x="9408368" y="923917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8" name="椭圆 27"/>
          <p:cNvSpPr/>
          <p:nvPr userDrawn="1"/>
        </p:nvSpPr>
        <p:spPr>
          <a:xfrm flipH="1">
            <a:off x="9700379" y="1010882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9" name="矩形 28"/>
          <p:cNvSpPr/>
          <p:nvPr userDrawn="1"/>
        </p:nvSpPr>
        <p:spPr>
          <a:xfrm rot="17160000">
            <a:off x="9482134" y="729367"/>
            <a:ext cx="497553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9908946" y="977141"/>
            <a:ext cx="103750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31" name="椭圆 30"/>
          <p:cNvSpPr/>
          <p:nvPr userDrawn="1"/>
        </p:nvSpPr>
        <p:spPr>
          <a:xfrm>
            <a:off x="10255679" y="663819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2" name="椭圆 31"/>
          <p:cNvSpPr/>
          <p:nvPr userDrawn="1"/>
        </p:nvSpPr>
        <p:spPr>
          <a:xfrm flipH="1">
            <a:off x="10547690" y="750784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3" name="矩形 32"/>
          <p:cNvSpPr/>
          <p:nvPr userDrawn="1"/>
        </p:nvSpPr>
        <p:spPr>
          <a:xfrm rot="20520000">
            <a:off x="9761327" y="949176"/>
            <a:ext cx="588018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18402" y="836712"/>
            <a:ext cx="1755195" cy="648072"/>
          </a:xfrm>
          <a:prstGeom prst="rect">
            <a:avLst/>
          </a:prstGeom>
        </p:spPr>
        <p:txBody>
          <a:bodyPr anchor="b"/>
          <a:lstStyle>
            <a:lvl1pPr algn="l">
              <a:defRPr sz="4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目  录</a:t>
            </a:r>
          </a:p>
        </p:txBody>
      </p:sp>
      <p:sp>
        <p:nvSpPr>
          <p:cNvPr id="50" name="矩形 49"/>
          <p:cNvSpPr/>
          <p:nvPr/>
        </p:nvSpPr>
        <p:spPr>
          <a:xfrm>
            <a:off x="1099517" y="531922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1" name="平行四边形 50"/>
          <p:cNvSpPr/>
          <p:nvPr/>
        </p:nvSpPr>
        <p:spPr>
          <a:xfrm>
            <a:off x="10150783" y="1080026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9840927" y="898952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9892997" y="116632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" name="椭圆 53"/>
          <p:cNvSpPr/>
          <p:nvPr/>
        </p:nvSpPr>
        <p:spPr>
          <a:xfrm flipH="1">
            <a:off x="10125407" y="185847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5" name="矩形 54"/>
          <p:cNvSpPr/>
          <p:nvPr/>
        </p:nvSpPr>
        <p:spPr>
          <a:xfrm rot="2100000">
            <a:off x="10006662" y="442387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9713292" y="66082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9945702" y="73004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8" name="矩形 57"/>
          <p:cNvSpPr/>
          <p:nvPr/>
        </p:nvSpPr>
        <p:spPr>
          <a:xfrm rot="17160000">
            <a:off x="9772002" y="505986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0076577" y="726166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60" name="矩形 59"/>
          <p:cNvSpPr/>
          <p:nvPr/>
        </p:nvSpPr>
        <p:spPr>
          <a:xfrm>
            <a:off x="1219953" y="601648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10387662" y="45381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2" name="椭圆 61"/>
          <p:cNvSpPr/>
          <p:nvPr/>
        </p:nvSpPr>
        <p:spPr>
          <a:xfrm flipH="1">
            <a:off x="10620072" y="52303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3" name="矩形 62"/>
          <p:cNvSpPr/>
          <p:nvPr/>
        </p:nvSpPr>
        <p:spPr>
          <a:xfrm rot="20520000">
            <a:off x="9994210" y="680931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774440" y="6298981"/>
            <a:ext cx="4689104" cy="369332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pic>
        <p:nvPicPr>
          <p:cNvPr id="65" name="图片 3" descr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48853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子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梯形 7"/>
          <p:cNvSpPr/>
          <p:nvPr userDrawn="1"/>
        </p:nvSpPr>
        <p:spPr>
          <a:xfrm rot="16200000">
            <a:off x="7305290" y="-190466"/>
            <a:ext cx="2534492" cy="72389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4502" y="0"/>
                </a:lnTo>
                <a:lnTo>
                  <a:pt x="17098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" name="任意多边形 5"/>
          <p:cNvSpPr/>
          <p:nvPr userDrawn="1"/>
        </p:nvSpPr>
        <p:spPr>
          <a:xfrm>
            <a:off x="-101744" y="2276872"/>
            <a:ext cx="5054814" cy="22828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897"/>
                </a:lnTo>
                <a:lnTo>
                  <a:pt x="21600" y="3879"/>
                </a:lnTo>
                <a:lnTo>
                  <a:pt x="0" y="0"/>
                </a:lnTo>
                <a:close/>
              </a:path>
            </a:pathLst>
          </a:custGeom>
          <a:solidFill>
            <a:srgbClr val="F6BB00">
              <a:alpha val="6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pic>
        <p:nvPicPr>
          <p:cNvPr id="8" name="图片 1" descr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07" y="1948519"/>
            <a:ext cx="2215952" cy="219151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矩形 8"/>
          <p:cNvSpPr/>
          <p:nvPr userDrawn="1"/>
        </p:nvSpPr>
        <p:spPr>
          <a:xfrm>
            <a:off x="46800" y="618926"/>
            <a:ext cx="11852717" cy="5569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551384" y="728664"/>
            <a:ext cx="11565785" cy="45719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平行四边形 9"/>
          <p:cNvSpPr/>
          <p:nvPr userDrawn="1"/>
        </p:nvSpPr>
        <p:spPr>
          <a:xfrm>
            <a:off x="9959911" y="1283324"/>
            <a:ext cx="660854" cy="57444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568735" y="1123044"/>
            <a:ext cx="324723" cy="9574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9634158" y="140100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 flipH="1">
            <a:off x="9926169" y="227065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 rot="2100000">
            <a:off x="9776972" y="549394"/>
            <a:ext cx="828960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椭圆 14"/>
          <p:cNvSpPr/>
          <p:nvPr userDrawn="1"/>
        </p:nvSpPr>
        <p:spPr>
          <a:xfrm>
            <a:off x="9408368" y="823853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椭圆 15"/>
          <p:cNvSpPr/>
          <p:nvPr userDrawn="1"/>
        </p:nvSpPr>
        <p:spPr>
          <a:xfrm flipH="1">
            <a:off x="9700379" y="910818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 rot="17160000">
            <a:off x="9482134" y="629303"/>
            <a:ext cx="497553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9908946" y="877077"/>
            <a:ext cx="103750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20" name="椭圆 19"/>
          <p:cNvSpPr/>
          <p:nvPr userDrawn="1"/>
        </p:nvSpPr>
        <p:spPr>
          <a:xfrm>
            <a:off x="10255679" y="563755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1" name="椭圆 20"/>
          <p:cNvSpPr/>
          <p:nvPr userDrawn="1"/>
        </p:nvSpPr>
        <p:spPr>
          <a:xfrm flipH="1">
            <a:off x="10547690" y="650720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 rot="20520000">
            <a:off x="9761327" y="849112"/>
            <a:ext cx="588018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3000441" y="6198735"/>
            <a:ext cx="6191118" cy="461665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3055062" y="3523960"/>
            <a:ext cx="1366044" cy="437851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1">
                <a:solidFill>
                  <a:srgbClr val="FFFFFF"/>
                </a:solidFill>
                <a:latin typeface="Adobe 黑体 Std R"/>
                <a:ea typeface="Adobe 黑体 Std R"/>
                <a:cs typeface="Adobe 黑体 Std R"/>
                <a:sym typeface="Adobe 黑体 Std R"/>
              </a:defRPr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Adobe 黑体 Std R"/>
                <a:sym typeface="Adobe 黑体 Std R"/>
              </a:rPr>
              <a:t>Part</a:t>
            </a:r>
            <a:endParaRPr kumimoji="0" lang="en-US" altLang="zh-CN" sz="6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obe 黑体 Std R"/>
              <a:ea typeface="Adobe 黑体 Std R"/>
              <a:sym typeface="Adobe 黑体 Std R"/>
            </a:endParaRPr>
          </a:p>
        </p:txBody>
      </p:sp>
      <p:sp>
        <p:nvSpPr>
          <p:cNvPr id="30" name="文本占位符 28"/>
          <p:cNvSpPr>
            <a:spLocks noGrp="1"/>
          </p:cNvSpPr>
          <p:nvPr>
            <p:ph type="body" sz="quarter" idx="11" hasCustomPrompt="1"/>
          </p:nvPr>
        </p:nvSpPr>
        <p:spPr>
          <a:xfrm>
            <a:off x="3689796" y="3066760"/>
            <a:ext cx="1366044" cy="914400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1">
                <a:solidFill>
                  <a:srgbClr val="FFFFFF"/>
                </a:solidFill>
                <a:latin typeface="Adobe 黑体 Std R"/>
                <a:ea typeface="Adobe 黑体 Std R"/>
                <a:cs typeface="Adobe 黑体 Std R"/>
                <a:sym typeface="Adobe 黑体 Std R"/>
              </a:defRPr>
            </a:pPr>
            <a: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Adobe 黑体 Std R"/>
                <a:sym typeface="Adobe 黑体 Std R"/>
              </a:rPr>
              <a:t>1</a:t>
            </a: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3" hasCustomPrompt="1"/>
          </p:nvPr>
        </p:nvSpPr>
        <p:spPr>
          <a:xfrm>
            <a:off x="6035338" y="3220594"/>
            <a:ext cx="1750685" cy="522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911424" y="9932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占位符 2"/>
          <p:cNvSpPr>
            <a:spLocks noGrp="1"/>
          </p:cNvSpPr>
          <p:nvPr>
            <p:ph idx="1"/>
          </p:nvPr>
        </p:nvSpPr>
        <p:spPr>
          <a:xfrm>
            <a:off x="911424" y="2438900"/>
            <a:ext cx="10515600" cy="3875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1099517" y="531922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7" name="平行四边形 6"/>
          <p:cNvSpPr/>
          <p:nvPr userDrawn="1"/>
        </p:nvSpPr>
        <p:spPr>
          <a:xfrm>
            <a:off x="10150783" y="1080026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9840927" y="898952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9892997" y="116632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 flipH="1">
            <a:off x="10125407" y="185847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 rot="2100000">
            <a:off x="10006662" y="442387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9713292" y="66082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 flipH="1">
            <a:off x="9945702" y="73004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 rot="17160000">
            <a:off x="9772002" y="505986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076577" y="726166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1219953" y="601648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7" name="椭圆 16"/>
          <p:cNvSpPr/>
          <p:nvPr userDrawn="1"/>
        </p:nvSpPr>
        <p:spPr>
          <a:xfrm>
            <a:off x="10387662" y="45381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 flipH="1">
            <a:off x="10620072" y="52303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 rot="20520000">
            <a:off x="9994210" y="680931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774440" y="6445076"/>
            <a:ext cx="4689104" cy="369332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pic>
        <p:nvPicPr>
          <p:cNvPr id="21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48853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99517" y="458382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1105103" y="1008018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0795247" y="826944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10847317" y="44624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 flipH="1">
            <a:off x="11079727" y="113839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 rot="2100000">
            <a:off x="10960982" y="370379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667612" y="58881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 flipH="1">
            <a:off x="10900022" y="65803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 rot="17160000">
            <a:off x="10726322" y="433978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1030897" y="654158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20" name="矩形 19"/>
          <p:cNvSpPr/>
          <p:nvPr userDrawn="1"/>
        </p:nvSpPr>
        <p:spPr>
          <a:xfrm rot="20520000">
            <a:off x="10948530" y="608923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2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116632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" name="矩形 16"/>
          <p:cNvSpPr/>
          <p:nvPr userDrawn="1"/>
        </p:nvSpPr>
        <p:spPr>
          <a:xfrm>
            <a:off x="1219953" y="528108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1341982" y="38180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 flipH="1">
            <a:off x="11574392" y="45102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99517" y="746414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0150783" y="1294518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9840927" y="1113444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9892997" y="331124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 flipH="1">
            <a:off x="10125407" y="400339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 rot="2100000">
            <a:off x="10006662" y="656879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9713292" y="87531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 flipH="1">
            <a:off x="9945702" y="94453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 rot="17160000">
            <a:off x="9772002" y="720478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076577" y="940658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1219953" y="816140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0387662" y="66830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 flipH="1">
            <a:off x="10620072" y="73752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 rot="20520000">
            <a:off x="9994210" y="895423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2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116632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栏-大面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99517" y="746414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1069995" y="1294518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0760139" y="1113444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10812209" y="331124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 flipH="1">
            <a:off x="11044619" y="400339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 rot="2100000">
            <a:off x="10925874" y="656879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632504" y="87531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 flipH="1">
            <a:off x="10864914" y="94453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 rot="17160000">
            <a:off x="10691214" y="720478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995789" y="940658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1219953" y="816140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1306874" y="66830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 flipH="1">
            <a:off x="11539284" y="73752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 rot="20520000">
            <a:off x="10913422" y="895423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2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116632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 userDrawn="1"/>
        </p:nvSpPr>
        <p:spPr>
          <a:xfrm>
            <a:off x="3651598" y="6289238"/>
            <a:ext cx="4689104" cy="369332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sp>
        <p:nvSpPr>
          <p:cNvPr id="40" name="任意多边形 6"/>
          <p:cNvSpPr/>
          <p:nvPr/>
        </p:nvSpPr>
        <p:spPr>
          <a:xfrm>
            <a:off x="8147909" y="1716433"/>
            <a:ext cx="4122553" cy="4184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257" y="11120"/>
                </a:moveTo>
                <a:lnTo>
                  <a:pt x="9095" y="11200"/>
                </a:lnTo>
                <a:lnTo>
                  <a:pt x="21600" y="0"/>
                </a:lnTo>
                <a:lnTo>
                  <a:pt x="21356" y="18080"/>
                </a:lnTo>
                <a:lnTo>
                  <a:pt x="0" y="21600"/>
                </a:lnTo>
                <a:lnTo>
                  <a:pt x="1056" y="17200"/>
                </a:lnTo>
                <a:lnTo>
                  <a:pt x="9338" y="10880"/>
                </a:lnTo>
                <a:lnTo>
                  <a:pt x="9257" y="11120"/>
                </a:lnTo>
                <a:close/>
              </a:path>
            </a:pathLst>
          </a:custGeom>
          <a:solidFill>
            <a:srgbClr val="1F497D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41" name="矩形 13"/>
          <p:cNvSpPr/>
          <p:nvPr/>
        </p:nvSpPr>
        <p:spPr>
          <a:xfrm rot="15778716">
            <a:off x="9553773" y="4299863"/>
            <a:ext cx="1405177" cy="174441"/>
          </a:xfrm>
          <a:prstGeom prst="rect">
            <a:avLst/>
          </a:prstGeom>
          <a:gradFill flip="none" rotWithShape="1">
            <a:gsLst>
              <a:gs pos="0">
                <a:srgbClr val="04133E">
                  <a:alpha val="71000"/>
                </a:srgbClr>
              </a:gs>
              <a:gs pos="98000">
                <a:srgbClr val="04133E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42" name="矩形 14"/>
          <p:cNvSpPr/>
          <p:nvPr/>
        </p:nvSpPr>
        <p:spPr>
          <a:xfrm rot="20391046">
            <a:off x="8563822" y="5408665"/>
            <a:ext cx="1807308" cy="104850"/>
          </a:xfrm>
          <a:prstGeom prst="rect">
            <a:avLst/>
          </a:prstGeom>
          <a:gradFill flip="none" rotWithShape="1">
            <a:gsLst>
              <a:gs pos="0">
                <a:srgbClr val="04133E">
                  <a:alpha val="71000"/>
                </a:srgbClr>
              </a:gs>
              <a:gs pos="98000">
                <a:srgbClr val="04133E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43" name="任意多边形 8"/>
          <p:cNvSpPr/>
          <p:nvPr userDrawn="1"/>
        </p:nvSpPr>
        <p:spPr>
          <a:xfrm>
            <a:off x="8147909" y="5095065"/>
            <a:ext cx="2107770" cy="8059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88" y="0"/>
                </a:moveTo>
                <a:lnTo>
                  <a:pt x="0" y="21600"/>
                </a:lnTo>
                <a:lnTo>
                  <a:pt x="21600" y="0"/>
                </a:lnTo>
                <a:lnTo>
                  <a:pt x="1588" y="0"/>
                </a:lnTo>
                <a:close/>
              </a:path>
            </a:pathLst>
          </a:custGeom>
          <a:solidFill>
            <a:srgbClr val="F6BB00">
              <a:alpha val="9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0" name="Line"/>
          <p:cNvSpPr/>
          <p:nvPr/>
        </p:nvSpPr>
        <p:spPr>
          <a:xfrm>
            <a:off x="-298672" y="1762930"/>
            <a:ext cx="10554351" cy="3332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6978" y="1005"/>
                </a:lnTo>
                <a:lnTo>
                  <a:pt x="6978" y="3215"/>
                </a:lnTo>
                <a:lnTo>
                  <a:pt x="21093" y="3215"/>
                </a:lnTo>
                <a:lnTo>
                  <a:pt x="21600" y="21600"/>
                </a:lnTo>
                <a:lnTo>
                  <a:pt x="4314" y="21299"/>
                </a:lnTo>
                <a:lnTo>
                  <a:pt x="4314" y="19792"/>
                </a:lnTo>
                <a:lnTo>
                  <a:pt x="127" y="18988"/>
                </a:lnTo>
              </a:path>
            </a:pathLst>
          </a:custGeom>
          <a:solidFill>
            <a:srgbClr val="1F497D"/>
          </a:solidFill>
          <a:ln w="12700" cap="flat">
            <a:solidFill>
              <a:srgbClr val="42719B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1" name="Text"/>
          <p:cNvSpPr txBox="1"/>
          <p:nvPr/>
        </p:nvSpPr>
        <p:spPr>
          <a:xfrm>
            <a:off x="-298672" y="3244333"/>
            <a:ext cx="1055435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dirty="0">
                <a:ea typeface="楷体" panose="02010609060101010101" pitchFamily="49" charset="-122"/>
              </a:rPr>
              <a:t>   </a:t>
            </a:r>
          </a:p>
        </p:txBody>
      </p:sp>
      <p:sp>
        <p:nvSpPr>
          <p:cNvPr id="48" name="矩形 12"/>
          <p:cNvSpPr/>
          <p:nvPr/>
        </p:nvSpPr>
        <p:spPr>
          <a:xfrm rot="16200000">
            <a:off x="1950003" y="3453336"/>
            <a:ext cx="2573116" cy="266703"/>
          </a:xfrm>
          <a:prstGeom prst="rect">
            <a:avLst/>
          </a:prstGeom>
          <a:gradFill flip="none" rotWithShape="1">
            <a:gsLst>
              <a:gs pos="0">
                <a:srgbClr val="04133E">
                  <a:alpha val="71000"/>
                </a:srgbClr>
              </a:gs>
              <a:gs pos="98000">
                <a:srgbClr val="04133E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pic>
        <p:nvPicPr>
          <p:cNvPr id="49" name="图片 1" descr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04" y="2350228"/>
            <a:ext cx="1867031" cy="1861853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sp>
        <p:nvSpPr>
          <p:cNvPr id="46" name="任意多边形 9"/>
          <p:cNvSpPr/>
          <p:nvPr/>
        </p:nvSpPr>
        <p:spPr>
          <a:xfrm>
            <a:off x="1794391" y="4816095"/>
            <a:ext cx="1308818" cy="250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387"/>
                </a:lnTo>
                <a:lnTo>
                  <a:pt x="341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6BB0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6800" y="667466"/>
            <a:ext cx="11852717" cy="5569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51384" y="777204"/>
            <a:ext cx="11565785" cy="45719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5" name="平行四边形 54"/>
          <p:cNvSpPr/>
          <p:nvPr/>
        </p:nvSpPr>
        <p:spPr>
          <a:xfrm>
            <a:off x="9959911" y="1331864"/>
            <a:ext cx="660854" cy="57444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9568735" y="1171584"/>
            <a:ext cx="324723" cy="9574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9634158" y="188640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8" name="椭圆 57"/>
          <p:cNvSpPr/>
          <p:nvPr/>
        </p:nvSpPr>
        <p:spPr>
          <a:xfrm flipH="1">
            <a:off x="9926169" y="275605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9" name="矩形 58"/>
          <p:cNvSpPr/>
          <p:nvPr/>
        </p:nvSpPr>
        <p:spPr>
          <a:xfrm rot="2100000">
            <a:off x="9776972" y="597934"/>
            <a:ext cx="828960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9408368" y="872393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1" name="椭圆 60"/>
          <p:cNvSpPr/>
          <p:nvPr/>
        </p:nvSpPr>
        <p:spPr>
          <a:xfrm flipH="1">
            <a:off x="9700379" y="959358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 rot="17160000">
            <a:off x="9482134" y="677843"/>
            <a:ext cx="497553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908946" y="925617"/>
            <a:ext cx="103750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64" name="椭圆 63"/>
          <p:cNvSpPr/>
          <p:nvPr/>
        </p:nvSpPr>
        <p:spPr>
          <a:xfrm>
            <a:off x="10255679" y="612295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5" name="椭圆 64"/>
          <p:cNvSpPr/>
          <p:nvPr/>
        </p:nvSpPr>
        <p:spPr>
          <a:xfrm flipH="1">
            <a:off x="10547690" y="699260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6" name="矩形 65"/>
          <p:cNvSpPr/>
          <p:nvPr/>
        </p:nvSpPr>
        <p:spPr>
          <a:xfrm rot="20520000">
            <a:off x="9761327" y="897652"/>
            <a:ext cx="588018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7" name="文本框 10"/>
          <p:cNvSpPr txBox="1"/>
          <p:nvPr userDrawn="1"/>
        </p:nvSpPr>
        <p:spPr>
          <a:xfrm>
            <a:off x="3752206" y="3248797"/>
            <a:ext cx="5881870" cy="81047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indent="71755">
              <a:defRPr sz="5400" b="1" spc="7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ctr">
              <a:lnSpc>
                <a:spcPts val="5600"/>
              </a:lnSpc>
              <a:spcAft>
                <a:spcPts val="600"/>
              </a:spcAft>
            </a:pPr>
            <a:r>
              <a:rPr lang="zh-CN" altLang="en-US" sz="4800" b="1" dirty="0">
                <a:latin typeface="楷体" panose="02010609060101010101" pitchFamily="49" charset="-122"/>
                <a:ea typeface="楷体" panose="02010609060101010101" pitchFamily="49" charset="-122"/>
              </a:rPr>
              <a:t>请各位批评指正！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2026-09-03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B9123EB0-0993-4C23-A09B-08DFC7C375F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767408" y="2276872"/>
            <a:ext cx="10513168" cy="1228328"/>
          </a:xfrm>
        </p:spPr>
        <p:txBody>
          <a:bodyPr/>
          <a:lstStyle/>
          <a:p>
            <a:r>
              <a:rPr lang="en-US" altLang="zh-CN" sz="4800" dirty="0">
                <a:latin typeface="+mj-lt"/>
              </a:rPr>
              <a:t>20260321</a:t>
            </a:r>
            <a:r>
              <a:rPr lang="zh-CN" altLang="en-US" sz="4800" dirty="0">
                <a:latin typeface="+mj-lt"/>
              </a:rPr>
              <a:t>进展汇报</a:t>
            </a:r>
            <a:endParaRPr lang="zh-CN" altLang="en-US" sz="4800" b="1" kern="100" dirty="0">
              <a:effectLst/>
              <a:latin typeface="+mj-lt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1524000" y="4293096"/>
            <a:ext cx="9144000" cy="1655762"/>
          </a:xfrm>
        </p:spPr>
        <p:txBody>
          <a:bodyPr/>
          <a:lstStyle/>
          <a:p>
            <a:r>
              <a:rPr lang="zh-CN" altLang="en-US" sz="3200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汇报人：魏熙润</a:t>
            </a:r>
          </a:p>
          <a:p>
            <a:r>
              <a:rPr lang="en-US" altLang="zh-CN" sz="3200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2026</a:t>
            </a:r>
            <a:r>
              <a:rPr lang="zh-CN" altLang="en-US" sz="3200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年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</a:rPr>
              <a:t>3</a:t>
            </a:r>
            <a:r>
              <a:rPr lang="zh-CN" altLang="en-US" sz="3200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月</a:t>
            </a:r>
            <a:r>
              <a:rPr lang="en-US" altLang="zh-CN" sz="3200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21</a:t>
            </a:r>
            <a:r>
              <a:rPr lang="zh-CN" altLang="en-US" sz="3200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6168390" y="3068955"/>
            <a:ext cx="4039870" cy="686435"/>
          </a:xfrm>
        </p:spPr>
        <p:txBody>
          <a:bodyPr/>
          <a:lstStyle/>
          <a:p>
            <a:r>
              <a:rPr lang="zh-CN" altLang="en-US" sz="6600" b="1" dirty="0"/>
              <a:t>问题背景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55440" y="1399774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35CCE34-9047-D1F4-1A8B-51B3A1885CE2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zh-CN" altLang="en-US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为什么需要 </a:t>
            </a:r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LLM-based KGR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774335-7C25-D913-2E72-F91E434EC64B}"/>
              </a:ext>
            </a:extLst>
          </p:cNvPr>
          <p:cNvSpPr txBox="1"/>
          <p:nvPr/>
        </p:nvSpPr>
        <p:spPr>
          <a:xfrm>
            <a:off x="1198848" y="2041906"/>
            <a:ext cx="9794303" cy="3416320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复杂问题通常需要跨多个实体与关系进行多跳推理</a:t>
            </a:r>
            <a:r>
              <a:rPr lang="zh-CN" altLang="en-US" sz="2400" dirty="0"/>
              <a:t>，不能只靠单跳检索或实体匹配</a:t>
            </a:r>
            <a:endParaRPr lang="en-US" altLang="zh-C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知识图谱提供显式关系结构</a:t>
            </a:r>
            <a:r>
              <a:rPr lang="zh-CN" altLang="en-US" sz="2400" dirty="0"/>
              <a:t>，适合做路径级别的解释、约束满足与结果验证</a:t>
            </a:r>
            <a:endParaRPr lang="en-US" altLang="zh-C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图谱规模大、候选路径多</a:t>
            </a:r>
            <a:r>
              <a:rPr lang="zh-CN" altLang="en-US" sz="2400" dirty="0"/>
              <a:t>，容易出现搜索空间爆炸、噪声扩展和错误累积，因此需要更强的</a:t>
            </a:r>
            <a:r>
              <a:rPr lang="zh-CN" altLang="en-US" sz="2400" b="1" dirty="0"/>
              <a:t>推理组织</a:t>
            </a:r>
            <a:r>
              <a:rPr lang="zh-CN" altLang="en-US" sz="2400" dirty="0"/>
              <a:t>能力</a:t>
            </a:r>
            <a:endParaRPr lang="en-US" altLang="zh-C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C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LLM-based KGR</a:t>
            </a:r>
            <a:r>
              <a:rPr lang="zh-CN" altLang="en-US" sz="2400" dirty="0"/>
              <a:t>可以利用 </a:t>
            </a:r>
            <a:r>
              <a:rPr lang="en-US" altLang="zh-CN" sz="2400" dirty="0"/>
              <a:t>LLM </a:t>
            </a:r>
            <a:r>
              <a:rPr lang="zh-CN" altLang="en-US" sz="2400" dirty="0"/>
              <a:t>的语义理解与推理能力，更高效地在 </a:t>
            </a:r>
            <a:r>
              <a:rPr lang="en-US" altLang="zh-CN" sz="2400" dirty="0"/>
              <a:t>KG </a:t>
            </a:r>
            <a:r>
              <a:rPr lang="zh-CN" altLang="en-US" sz="2400" dirty="0"/>
              <a:t>上完成多跳推理与答案生成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D7368-DAE4-D80B-C848-8422F463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253D6C-04DC-9A2F-861B-E208FE1A1B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8390" y="3068955"/>
            <a:ext cx="4039870" cy="686435"/>
          </a:xfrm>
        </p:spPr>
        <p:txBody>
          <a:bodyPr/>
          <a:lstStyle/>
          <a:p>
            <a:r>
              <a:rPr lang="zh-CN" altLang="en-US" sz="6600" b="1" dirty="0"/>
              <a:t>两种范式</a:t>
            </a:r>
          </a:p>
        </p:txBody>
      </p:sp>
    </p:spTree>
    <p:extLst>
      <p:ext uri="{BB962C8B-B14F-4D97-AF65-F5344CB8AC3E}">
        <p14:creationId xmlns:p14="http://schemas.microsoft.com/office/powerpoint/2010/main" val="1454445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EEAB-40C0-9C57-7D26-8D3190B73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8DE214-14B3-40FD-D398-7A62E04A33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9664E5-9C63-D448-4466-F4F0A85FE61A}"/>
              </a:ext>
            </a:extLst>
          </p:cNvPr>
          <p:cNvSpPr txBox="1"/>
          <p:nvPr/>
        </p:nvSpPr>
        <p:spPr>
          <a:xfrm>
            <a:off x="1055440" y="1399774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C4301E3-29B1-A1EA-5091-8BFA2E68B839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Retrieval-based vs Synergy-based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BBDE04-1E39-2D72-7F70-487EB151C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430" y="1272932"/>
            <a:ext cx="7845140" cy="556185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1D9AC6E-CEF6-9F45-C408-891F98DD6C8C}"/>
              </a:ext>
            </a:extLst>
          </p:cNvPr>
          <p:cNvSpPr txBox="1"/>
          <p:nvPr/>
        </p:nvSpPr>
        <p:spPr>
          <a:xfrm>
            <a:off x="1559496" y="871488"/>
            <a:ext cx="10410874" cy="400110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现有 </a:t>
            </a:r>
            <a:r>
              <a:rPr lang="en-US" altLang="zh-CN" sz="2000" dirty="0"/>
              <a:t>LLM-based KGR </a:t>
            </a:r>
            <a:r>
              <a:rPr lang="zh-CN" altLang="en-US" sz="2000" dirty="0"/>
              <a:t>方法分为 </a:t>
            </a:r>
            <a:r>
              <a:rPr lang="en-US" altLang="zh-CN" sz="2000" dirty="0"/>
              <a:t>retrieval-augmented </a:t>
            </a:r>
            <a:r>
              <a:rPr lang="zh-CN" altLang="en-US" sz="2000" dirty="0"/>
              <a:t>与 </a:t>
            </a:r>
            <a:r>
              <a:rPr lang="en-US" altLang="zh-CN" sz="2000" dirty="0"/>
              <a:t>synergy-augmented </a:t>
            </a:r>
            <a:r>
              <a:rPr lang="zh-CN" altLang="en-US" sz="2000" dirty="0"/>
              <a:t>两类</a:t>
            </a:r>
          </a:p>
        </p:txBody>
      </p:sp>
    </p:spTree>
    <p:extLst>
      <p:ext uri="{BB962C8B-B14F-4D97-AF65-F5344CB8AC3E}">
        <p14:creationId xmlns:p14="http://schemas.microsoft.com/office/powerpoint/2010/main" val="16926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B4360-ED41-7A29-8AC4-54203D88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D4A42B-E430-CD4C-3625-79A6C7D61F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8DF336-5E84-F804-FE29-1C5F122BEDEC}"/>
              </a:ext>
            </a:extLst>
          </p:cNvPr>
          <p:cNvSpPr txBox="1"/>
          <p:nvPr/>
        </p:nvSpPr>
        <p:spPr>
          <a:xfrm>
            <a:off x="1055440" y="1399774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63E5837-BF4D-6EDA-D8DE-C0F2298206E7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Retrieval-based KGR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6CADA7-ACBA-BD4F-BE69-B084ED84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54" y="1744054"/>
            <a:ext cx="7456238" cy="424253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427EC7E-3EA6-648C-886C-4390FCAAC3B5}"/>
              </a:ext>
            </a:extLst>
          </p:cNvPr>
          <p:cNvSpPr txBox="1"/>
          <p:nvPr/>
        </p:nvSpPr>
        <p:spPr>
          <a:xfrm>
            <a:off x="7781946" y="1989769"/>
            <a:ext cx="4248472" cy="70788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核心流程：检索三元组</a:t>
            </a:r>
            <a:r>
              <a:rPr lang="en-US" altLang="zh-CN" sz="2000" dirty="0"/>
              <a:t>/</a:t>
            </a:r>
            <a:r>
              <a:rPr lang="zh-CN" altLang="en-US" sz="2000" dirty="0"/>
              <a:t>路径</a:t>
            </a:r>
            <a:r>
              <a:rPr lang="en-US" altLang="zh-CN" sz="2000" dirty="0"/>
              <a:t>/</a:t>
            </a:r>
            <a:r>
              <a:rPr lang="zh-CN" altLang="en-US" sz="2000" dirty="0"/>
              <a:t>子图</a:t>
            </a:r>
            <a:r>
              <a:rPr lang="en-US" altLang="zh-CN" sz="2000" dirty="0"/>
              <a:t> → LLM</a:t>
            </a:r>
            <a:r>
              <a:rPr lang="zh-CN" altLang="en-US" sz="2000" dirty="0"/>
              <a:t>推理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4987D80-58AA-EB74-B464-E4640EE67123}"/>
              </a:ext>
            </a:extLst>
          </p:cNvPr>
          <p:cNvSpPr txBox="1"/>
          <p:nvPr/>
        </p:nvSpPr>
        <p:spPr>
          <a:xfrm>
            <a:off x="7740130" y="2945058"/>
            <a:ext cx="4332103" cy="1323439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优点：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流程清晰，检索推理分离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解释性强，可以追溯检索路径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成本较低，调用</a:t>
            </a:r>
            <a:r>
              <a:rPr lang="en-US" altLang="zh-CN" sz="2000" dirty="0"/>
              <a:t>LLM</a:t>
            </a:r>
            <a:r>
              <a:rPr lang="zh-CN" altLang="en-US" sz="2000" dirty="0"/>
              <a:t>次数有限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EBCA62C-646B-42B2-8A12-DC2311F3CF44}"/>
              </a:ext>
            </a:extLst>
          </p:cNvPr>
          <p:cNvSpPr txBox="1"/>
          <p:nvPr/>
        </p:nvSpPr>
        <p:spPr>
          <a:xfrm>
            <a:off x="7740130" y="4668953"/>
            <a:ext cx="4224209" cy="1323439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局限性：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检索质量决定上限，漏召回或者噪声路径会影响</a:t>
            </a:r>
            <a:r>
              <a:rPr lang="en-US" altLang="zh-CN" sz="2000" dirty="0"/>
              <a:t>LLM</a:t>
            </a:r>
            <a:r>
              <a:rPr lang="zh-CN" altLang="en-US" sz="2000" dirty="0"/>
              <a:t>生成质量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无法根据中间推理结果动态调整</a:t>
            </a:r>
          </a:p>
        </p:txBody>
      </p:sp>
    </p:spTree>
    <p:extLst>
      <p:ext uri="{BB962C8B-B14F-4D97-AF65-F5344CB8AC3E}">
        <p14:creationId xmlns:p14="http://schemas.microsoft.com/office/powerpoint/2010/main" val="2302454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43612-B302-E7D0-CFBB-B08D8F9FE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2CCB06-1632-1BB5-AACB-6E3D8C3D1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681675-9DA9-F71E-447B-C26413F1C4D5}"/>
              </a:ext>
            </a:extLst>
          </p:cNvPr>
          <p:cNvSpPr txBox="1"/>
          <p:nvPr/>
        </p:nvSpPr>
        <p:spPr>
          <a:xfrm>
            <a:off x="1055440" y="1399774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497764E-9E28-C62E-BE83-F4BA48727138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Synergy-based KGR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18EF80-14E3-9839-C851-44A0FA557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561030"/>
            <a:ext cx="7632848" cy="479532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48290C6-CD39-1561-6EAC-60EFD0F74DE2}"/>
              </a:ext>
            </a:extLst>
          </p:cNvPr>
          <p:cNvSpPr txBox="1"/>
          <p:nvPr/>
        </p:nvSpPr>
        <p:spPr>
          <a:xfrm>
            <a:off x="7781945" y="1621619"/>
            <a:ext cx="4248472" cy="1015663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核心流程：</a:t>
            </a:r>
            <a:r>
              <a:rPr lang="en-US" altLang="zh-CN" sz="2000" dirty="0"/>
              <a:t>LLM </a:t>
            </a:r>
            <a:r>
              <a:rPr lang="zh-CN" altLang="en-US" sz="2000" dirty="0"/>
              <a:t>根据当前推理状态动态决定下一步 </a:t>
            </a:r>
            <a:r>
              <a:rPr lang="en-US" altLang="zh-CN" sz="2000" dirty="0"/>
              <a:t>KG </a:t>
            </a:r>
            <a:r>
              <a:rPr lang="zh-CN" altLang="en-US" sz="2000" dirty="0"/>
              <a:t>查询，</a:t>
            </a:r>
            <a:r>
              <a:rPr lang="en-US" altLang="zh-CN" sz="2000" dirty="0"/>
              <a:t>KG </a:t>
            </a:r>
            <a:r>
              <a:rPr lang="zh-CN" altLang="en-US" sz="2000" dirty="0"/>
              <a:t>返回结果后，</a:t>
            </a:r>
            <a:r>
              <a:rPr lang="en-US" altLang="zh-CN" sz="2000" dirty="0"/>
              <a:t>LLM </a:t>
            </a:r>
            <a:r>
              <a:rPr lang="zh-CN" altLang="en-US" sz="2000" dirty="0"/>
              <a:t>继续迭代推理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E08AD4-97CF-0650-E60B-EA5E2251FF04}"/>
              </a:ext>
            </a:extLst>
          </p:cNvPr>
          <p:cNvSpPr txBox="1"/>
          <p:nvPr/>
        </p:nvSpPr>
        <p:spPr>
          <a:xfrm>
            <a:off x="7740130" y="2945058"/>
            <a:ext cx="4332103" cy="163121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优点：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推理灵活：根据中间结果调整查询策略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适合复杂多跳推理：逐步探索推理路径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F65A77-5E25-BF2B-7B18-DF8A0F45D9EE}"/>
              </a:ext>
            </a:extLst>
          </p:cNvPr>
          <p:cNvSpPr txBox="1"/>
          <p:nvPr/>
        </p:nvSpPr>
        <p:spPr>
          <a:xfrm>
            <a:off x="7740130" y="4668953"/>
            <a:ext cx="4224209" cy="1323439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局限性：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成本高：多次 </a:t>
            </a:r>
            <a:r>
              <a:rPr lang="en-US" altLang="zh-CN" sz="2000" dirty="0"/>
              <a:t>LLM </a:t>
            </a:r>
            <a:r>
              <a:rPr lang="zh-CN" altLang="en-US" sz="2000" dirty="0"/>
              <a:t>调用增加成本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搜索控制难：如何决定何时停止</a:t>
            </a:r>
          </a:p>
        </p:txBody>
      </p:sp>
    </p:spTree>
    <p:extLst>
      <p:ext uri="{BB962C8B-B14F-4D97-AF65-F5344CB8AC3E}">
        <p14:creationId xmlns:p14="http://schemas.microsoft.com/office/powerpoint/2010/main" val="160949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7C2DC-E9C8-6AD5-EF8B-5BA34688F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5177BA-5AB1-944E-AF8D-43F221F54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189C91-0515-4E85-4838-0DB21CA5CEB6}"/>
              </a:ext>
            </a:extLst>
          </p:cNvPr>
          <p:cNvSpPr txBox="1"/>
          <p:nvPr/>
        </p:nvSpPr>
        <p:spPr>
          <a:xfrm>
            <a:off x="695400" y="1381488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9CFA2A9D-E267-9722-8649-013D91F5A99F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 err="1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PathMind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85D3D0A-5351-DE48-3481-76DB63D5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16" y="1521628"/>
            <a:ext cx="6696744" cy="483472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7315A05-C09E-A6BC-181D-B2E9DFCEE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131" y="2900525"/>
            <a:ext cx="3325145" cy="83898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2237F3D-8617-A217-E0E7-B0E3F9701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066" y="4324985"/>
            <a:ext cx="3886200" cy="78105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99F6187-49CE-BCF1-B7C6-C494DC515676}"/>
              </a:ext>
            </a:extLst>
          </p:cNvPr>
          <p:cNvSpPr txBox="1"/>
          <p:nvPr/>
        </p:nvSpPr>
        <p:spPr>
          <a:xfrm>
            <a:off x="6874066" y="3739511"/>
            <a:ext cx="5040560" cy="646331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从问题到当前实体 𝑒</a:t>
            </a:r>
            <a:r>
              <a:rPr lang="en-US" altLang="zh-CN" dirty="0"/>
              <a:t> </a:t>
            </a:r>
            <a:r>
              <a:rPr lang="zh-CN" altLang="en-US" dirty="0"/>
              <a:t>的所有路径中，已经积累的语义路径价值。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2F22AD-948A-D250-AE5D-2C04030617C5}"/>
              </a:ext>
            </a:extLst>
          </p:cNvPr>
          <p:cNvSpPr txBox="1"/>
          <p:nvPr/>
        </p:nvSpPr>
        <p:spPr>
          <a:xfrm>
            <a:off x="6835511" y="5155369"/>
            <a:ext cx="5174753" cy="646331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基于当前状态 𝑑</a:t>
            </a:r>
            <a:r>
              <a:rPr lang="en-US" altLang="zh-CN" dirty="0"/>
              <a:t>(</a:t>
            </a:r>
            <a:r>
              <a:rPr lang="zh-CN" altLang="en-US" dirty="0"/>
              <a:t>𝑞</a:t>
            </a:r>
            <a:r>
              <a:rPr lang="en-US" altLang="zh-CN" dirty="0"/>
              <a:t>,</a:t>
            </a:r>
            <a:r>
              <a:rPr lang="zh-CN" altLang="en-US" dirty="0"/>
              <a:t>𝑒</a:t>
            </a:r>
            <a:r>
              <a:rPr lang="en-US" altLang="zh-CN" dirty="0"/>
              <a:t>)</a:t>
            </a:r>
            <a:r>
              <a:rPr lang="zh-CN" altLang="en-US" dirty="0"/>
              <a:t>和问题 𝑞，估计从当前实体继续搜索，到达正确答案的潜力。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F39A7B-5235-FFDF-5E3F-198F282E2468}"/>
              </a:ext>
            </a:extLst>
          </p:cNvPr>
          <p:cNvSpPr txBox="1"/>
          <p:nvPr/>
        </p:nvSpPr>
        <p:spPr>
          <a:xfrm>
            <a:off x="6893657" y="1958289"/>
            <a:ext cx="5174752" cy="70788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核心流程：用优先级函数对当前实体 𝑒</a:t>
            </a:r>
            <a:r>
              <a:rPr lang="en-US" altLang="zh-CN" sz="2000" dirty="0"/>
              <a:t>e</a:t>
            </a:r>
            <a:r>
              <a:rPr lang="zh-CN" altLang="en-US" sz="2000" dirty="0"/>
              <a:t>打分，优先扩展更有价值的推理路径。</a:t>
            </a:r>
          </a:p>
        </p:txBody>
      </p:sp>
    </p:spTree>
    <p:extLst>
      <p:ext uri="{BB962C8B-B14F-4D97-AF65-F5344CB8AC3E}">
        <p14:creationId xmlns:p14="http://schemas.microsoft.com/office/powerpoint/2010/main" val="2477087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041AA-B9C8-1E8C-7472-9E64D2E1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EE8972-2BB6-95CE-A0BB-0385705C5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8390" y="3068955"/>
            <a:ext cx="4039870" cy="686435"/>
          </a:xfrm>
        </p:spPr>
        <p:txBody>
          <a:bodyPr/>
          <a:lstStyle/>
          <a:p>
            <a:r>
              <a:rPr lang="en-US" altLang="zh-CN" sz="6600" b="1" dirty="0">
                <a:latin typeface="+mj-lt"/>
                <a:ea typeface="等线" panose="02010600030101010101" pitchFamily="2" charset="-122"/>
              </a:rPr>
              <a:t>KG-Agent</a:t>
            </a:r>
            <a:endParaRPr lang="zh-CN" altLang="en-US" sz="6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68727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CEABD-00F7-96ED-31FC-C8F4A182A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34B90D-01A5-B283-8259-616C5CD5C9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1430FC-748C-9C77-3ACB-4E8E89A68C86}"/>
              </a:ext>
            </a:extLst>
          </p:cNvPr>
          <p:cNvSpPr txBox="1"/>
          <p:nvPr/>
        </p:nvSpPr>
        <p:spPr>
          <a:xfrm>
            <a:off x="695400" y="1381488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1B8B512-F537-5FE9-19ED-5B27C75C7F98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KG-Agent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D9EC99-9B2C-4CDB-B2D2-4F1E80759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12" y="2089374"/>
            <a:ext cx="7583362" cy="421159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172587A-341A-070D-4CA3-A6A99683A4C0}"/>
              </a:ext>
            </a:extLst>
          </p:cNvPr>
          <p:cNvSpPr txBox="1"/>
          <p:nvPr/>
        </p:nvSpPr>
        <p:spPr>
          <a:xfrm>
            <a:off x="191344" y="1095517"/>
            <a:ext cx="10657184" cy="70788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b="1" dirty="0"/>
              <a:t>问题动机</a:t>
            </a:r>
            <a:r>
              <a:rPr lang="zh-CN" altLang="en-US" sz="2000" dirty="0"/>
              <a:t>：</a:t>
            </a:r>
            <a:r>
              <a:rPr lang="zh-CN" altLang="en-US" sz="2000" dirty="0">
                <a:latin typeface="+mn-lt"/>
              </a:rPr>
              <a:t>已有 </a:t>
            </a:r>
            <a:r>
              <a:rPr lang="en-US" altLang="zh-CN" sz="2000" dirty="0">
                <a:latin typeface="+mn-lt"/>
              </a:rPr>
              <a:t>synergy-based </a:t>
            </a:r>
            <a:r>
              <a:rPr lang="zh-CN" altLang="en-US" sz="2000" dirty="0">
                <a:latin typeface="+mn-lt"/>
              </a:rPr>
              <a:t>往往依赖</a:t>
            </a:r>
            <a:r>
              <a:rPr lang="zh-CN" altLang="en-US" sz="2000" b="1" dirty="0">
                <a:latin typeface="+mn-lt"/>
              </a:rPr>
              <a:t>预定义交互流程</a:t>
            </a:r>
            <a:r>
              <a:rPr lang="zh-CN" altLang="en-US" sz="2000" dirty="0">
                <a:latin typeface="+mn-lt"/>
              </a:rPr>
              <a:t>，且依赖强闭源模型；同时，这类复杂交互往往依赖 </a:t>
            </a:r>
            <a:r>
              <a:rPr lang="en-US" altLang="zh-CN" sz="2000" b="1" dirty="0">
                <a:latin typeface="+mn-lt"/>
              </a:rPr>
              <a:t>GPT-4 </a:t>
            </a:r>
            <a:r>
              <a:rPr lang="zh-CN" altLang="en-US" sz="2000" b="1" dirty="0">
                <a:latin typeface="+mn-lt"/>
              </a:rPr>
              <a:t>等强闭源模型</a:t>
            </a:r>
            <a:r>
              <a:rPr lang="zh-CN" altLang="en-US" sz="2000" dirty="0">
                <a:latin typeface="+mn-lt"/>
              </a:rPr>
              <a:t>，小模型难以直接胜任。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6894D0-046C-2756-7892-C140FB8102D4}"/>
              </a:ext>
            </a:extLst>
          </p:cNvPr>
          <p:cNvSpPr txBox="1"/>
          <p:nvPr/>
        </p:nvSpPr>
        <p:spPr>
          <a:xfrm>
            <a:off x="7774706" y="2241860"/>
            <a:ext cx="4369966" cy="2308324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b="1" dirty="0"/>
              <a:t>核心原理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Planner</a:t>
            </a:r>
            <a:r>
              <a:rPr lang="zh-CN" altLang="en-US" b="1" dirty="0"/>
              <a:t>（</a:t>
            </a:r>
            <a:r>
              <a:rPr lang="en-US" altLang="zh-CN" b="1" dirty="0"/>
              <a:t>LLM</a:t>
            </a:r>
            <a:r>
              <a:rPr lang="zh-CN" altLang="en-US" b="1" dirty="0"/>
              <a:t>）：</a:t>
            </a:r>
            <a:r>
              <a:rPr lang="zh-CN" altLang="en-US" dirty="0"/>
              <a:t>根据当前状态决定下一步调用哪个工具。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Toolbox + Executor</a:t>
            </a:r>
            <a:r>
              <a:rPr lang="zh-CN" altLang="en-US" b="1" dirty="0"/>
              <a:t>：</a:t>
            </a:r>
            <a:r>
              <a:rPr lang="zh-CN" altLang="en-US" dirty="0"/>
              <a:t>把 </a:t>
            </a:r>
            <a:r>
              <a:rPr lang="en-US" altLang="zh-CN" dirty="0"/>
              <a:t>KG </a:t>
            </a:r>
            <a:r>
              <a:rPr lang="zh-CN" altLang="en-US" dirty="0"/>
              <a:t>推理拆成可执行的结构化操作，而不是纯文本推理。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Knowledge Memory</a:t>
            </a:r>
            <a:r>
              <a:rPr lang="zh-CN" altLang="en-US" b="1" dirty="0"/>
              <a:t>：</a:t>
            </a:r>
            <a:r>
              <a:rPr lang="zh-CN" altLang="en-US" dirty="0"/>
              <a:t>保存当前 </a:t>
            </a:r>
            <a:r>
              <a:rPr lang="en-US" altLang="zh-CN" dirty="0"/>
              <a:t>KG </a:t>
            </a:r>
            <a:r>
              <a:rPr lang="zh-CN" altLang="en-US" dirty="0"/>
              <a:t>信息和历史推理程序，支持下一步决策。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A7537D-D6C2-513A-7014-C653EEF9817C}"/>
              </a:ext>
            </a:extLst>
          </p:cNvPr>
          <p:cNvSpPr txBox="1"/>
          <p:nvPr/>
        </p:nvSpPr>
        <p:spPr>
          <a:xfrm>
            <a:off x="7793637" y="4730179"/>
            <a:ext cx="4332103" cy="163121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优点：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只用</a:t>
            </a:r>
            <a:r>
              <a:rPr lang="en-US" altLang="zh-CN" sz="2000" dirty="0"/>
              <a:t>10K instruction samples </a:t>
            </a:r>
            <a:r>
              <a:rPr lang="zh-CN" altLang="en-US" sz="2000" dirty="0"/>
              <a:t>微调 </a:t>
            </a:r>
            <a:r>
              <a:rPr lang="en-US" altLang="zh-CN" sz="2000" dirty="0"/>
              <a:t>LLaMA-7B</a:t>
            </a:r>
            <a:r>
              <a:rPr lang="zh-CN" altLang="en-US" sz="2000" dirty="0"/>
              <a:t>，。就能在多项数据集上超过更大模型或更多数据的方法</a:t>
            </a:r>
          </a:p>
        </p:txBody>
      </p:sp>
    </p:spTree>
    <p:extLst>
      <p:ext uri="{BB962C8B-B14F-4D97-AF65-F5344CB8AC3E}">
        <p14:creationId xmlns:p14="http://schemas.microsoft.com/office/powerpoint/2010/main" val="3948247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CA449-1C71-FC96-C95D-6ADB46F5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6D3FF6-BE92-41F2-2EBD-AE69FE37B6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1904" y="3068955"/>
            <a:ext cx="7056784" cy="686435"/>
          </a:xfrm>
        </p:spPr>
        <p:txBody>
          <a:bodyPr/>
          <a:lstStyle/>
          <a:p>
            <a:r>
              <a:rPr lang="en-US" altLang="zh-CN" sz="6600" b="1" dirty="0">
                <a:latin typeface="+mj-lt"/>
                <a:ea typeface="等线" panose="02010600030101010101" pitchFamily="2" charset="-122"/>
              </a:rPr>
              <a:t>Agentic Reasoning</a:t>
            </a:r>
            <a:endParaRPr lang="zh-CN" altLang="en-US" sz="6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5142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0580A-2D40-DC20-9C91-00E7A5F3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C25B616-1CDF-F793-DB17-86AA7B497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31CB67-9C5A-AA83-AE63-4C835864D88E}"/>
              </a:ext>
            </a:extLst>
          </p:cNvPr>
          <p:cNvSpPr txBox="1"/>
          <p:nvPr/>
        </p:nvSpPr>
        <p:spPr>
          <a:xfrm>
            <a:off x="695400" y="1381488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BF6EB47E-134E-3833-F171-5DC0B1C9336A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Agentic Reasoning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37A5F9-5BDD-4744-C2DE-4BE8D349DF4D}"/>
              </a:ext>
            </a:extLst>
          </p:cNvPr>
          <p:cNvSpPr txBox="1"/>
          <p:nvPr/>
        </p:nvSpPr>
        <p:spPr>
          <a:xfrm>
            <a:off x="362093" y="1115052"/>
            <a:ext cx="10297144" cy="70788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en-US" altLang="zh-CN" sz="2000" b="1" dirty="0"/>
              <a:t>Agent </a:t>
            </a:r>
            <a:r>
              <a:rPr lang="zh-CN" altLang="en-US" sz="2000" b="1" dirty="0"/>
              <a:t>问题不再只是某个单一任务，而是一个包括方法、工具、评测、现实问题和应用的整体生态。</a:t>
            </a:r>
            <a:endParaRPr lang="zh-CN" altLang="en-US" sz="2000" dirty="0">
              <a:latin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7A45A85-58DE-64A4-83B1-A5037E6FF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19" y="2002507"/>
            <a:ext cx="9553035" cy="453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639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C5AAE-FD14-F7C0-CB94-341D8C6E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364366-4FB4-5E16-DDFC-B3BB0248C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A26672-78FC-806F-B932-11F3350A1632}"/>
              </a:ext>
            </a:extLst>
          </p:cNvPr>
          <p:cNvSpPr txBox="1"/>
          <p:nvPr/>
        </p:nvSpPr>
        <p:spPr>
          <a:xfrm>
            <a:off x="695400" y="1381488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83642BA-FCD5-C77F-B77A-3CE1FAD9567B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en-US" altLang="zh-CN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Agentic Reasoning</a:t>
            </a:r>
            <a:endParaRPr lang="zh-CN" altLang="en-US" sz="2800" b="1" dirty="0">
              <a:latin typeface="+mj-lt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8BC797-9F55-FCA0-A9ED-E4A6F20AE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700808"/>
            <a:ext cx="7704856" cy="453640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5657240-B7C1-CB63-CA83-4E9CB6A536A7}"/>
              </a:ext>
            </a:extLst>
          </p:cNvPr>
          <p:cNvSpPr txBox="1"/>
          <p:nvPr/>
        </p:nvSpPr>
        <p:spPr>
          <a:xfrm>
            <a:off x="7642912" y="2953347"/>
            <a:ext cx="4369966" cy="2031325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b="1" dirty="0"/>
              <a:t>核心组件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Reasoning LLM</a:t>
            </a:r>
            <a:r>
              <a:rPr lang="zh-CN" altLang="en-US" b="1" dirty="0"/>
              <a:t>：</a:t>
            </a:r>
            <a:r>
              <a:rPr lang="zh-CN" altLang="en-US" dirty="0"/>
              <a:t>负责主推理，决定何时调用何种工具。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Tool Agents</a:t>
            </a:r>
            <a:r>
              <a:rPr lang="zh-CN" altLang="en-US" b="1" dirty="0"/>
              <a:t>：</a:t>
            </a:r>
            <a:r>
              <a:rPr lang="zh-CN" altLang="en-US" dirty="0"/>
              <a:t>扩展外部能力：搜索、代码、</a:t>
            </a:r>
            <a:r>
              <a:rPr lang="en-US" altLang="zh-CN" dirty="0"/>
              <a:t>API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Structured Memory</a:t>
            </a:r>
            <a:r>
              <a:rPr lang="zh-CN" altLang="en-US" b="1" dirty="0"/>
              <a:t>：</a:t>
            </a:r>
            <a:r>
              <a:rPr lang="en-US" altLang="zh-CN" dirty="0"/>
              <a:t>Mind-Map </a:t>
            </a:r>
            <a:r>
              <a:rPr lang="zh-CN" altLang="en-US" dirty="0"/>
              <a:t>维护长链推理上下文。</a:t>
            </a:r>
          </a:p>
        </p:txBody>
      </p:sp>
    </p:spTree>
    <p:extLst>
      <p:ext uri="{BB962C8B-B14F-4D97-AF65-F5344CB8AC3E}">
        <p14:creationId xmlns:p14="http://schemas.microsoft.com/office/powerpoint/2010/main" val="236410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BC81-12F0-1907-73A3-B89006C5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89EAB2-27C1-AE56-743E-1DEDFF60AB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9C1681-9799-6128-8E86-7E44AC1A68FD}"/>
              </a:ext>
            </a:extLst>
          </p:cNvPr>
          <p:cNvSpPr txBox="1"/>
          <p:nvPr/>
        </p:nvSpPr>
        <p:spPr>
          <a:xfrm>
            <a:off x="695400" y="1381488"/>
            <a:ext cx="10410874" cy="4536405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indent="0"/>
            <a:endParaRPr lang="en-US" altLang="zh-CN" sz="2000" dirty="0"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E53416C0-40A3-F6E5-682D-8B429D68D669}"/>
              </a:ext>
            </a:extLst>
          </p:cNvPr>
          <p:cNvSpPr txBox="1"/>
          <p:nvPr/>
        </p:nvSpPr>
        <p:spPr>
          <a:xfrm>
            <a:off x="1271270" y="188595"/>
            <a:ext cx="8137098" cy="833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zh-CN" altLang="en-US" sz="2800" b="1" dirty="0">
                <a:latin typeface="+mj-lt"/>
                <a:ea typeface="等线" panose="02010600030101010101" charset="-122"/>
                <a:cs typeface="Times New Roman" panose="02020603050405020304" pitchFamily="18" charset="0"/>
              </a:rPr>
              <a:t>思考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E86109-A1ED-6AB1-5707-CDE280E43A05}"/>
              </a:ext>
            </a:extLst>
          </p:cNvPr>
          <p:cNvSpPr txBox="1"/>
          <p:nvPr/>
        </p:nvSpPr>
        <p:spPr>
          <a:xfrm>
            <a:off x="1085726" y="1022350"/>
            <a:ext cx="10410874" cy="461665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2400" b="1" dirty="0"/>
              <a:t>两个想要考虑尝试的切入点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0821341-A636-A60D-996B-670B635D3AAA}"/>
              </a:ext>
            </a:extLst>
          </p:cNvPr>
          <p:cNvSpPr txBox="1"/>
          <p:nvPr/>
        </p:nvSpPr>
        <p:spPr>
          <a:xfrm>
            <a:off x="1584718" y="1884962"/>
            <a:ext cx="9794303" cy="3046988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Agentic Reasoning</a:t>
            </a:r>
            <a:r>
              <a:rPr lang="zh-CN" altLang="en-US" sz="2400" dirty="0"/>
              <a:t>中的成本问题：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长链推理导致消耗大量</a:t>
            </a:r>
            <a:r>
              <a:rPr lang="en-US" altLang="zh-CN" sz="2400" dirty="0"/>
              <a:t>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工具调用次数太频繁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多轮交互时延迟过高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/>
          </a:p>
          <a:p>
            <a:r>
              <a:rPr lang="en-US" altLang="zh-CN" sz="2400" dirty="0"/>
              <a:t>Agentic Reasoning</a:t>
            </a:r>
            <a:r>
              <a:rPr lang="zh-CN" altLang="en-US" sz="2400" dirty="0"/>
              <a:t>中的记忆问题：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长链推理容易失上下文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存储的记忆不一定对规划有帮助</a:t>
            </a:r>
            <a:r>
              <a:rPr lang="en-US" altLang="zh-CN" sz="2400" dirty="0"/>
              <a:t>	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87572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916910" y="-2063750"/>
            <a:ext cx="4064000" cy="39878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l"/>
            <a:endParaRPr lang="zh-CN" altLang="en-US" sz="2000" b="1" dirty="0">
              <a:solidFill>
                <a:schemeClr val="tx1"/>
              </a:solidFill>
              <a:latin typeface="Adobe 黑体 Std R"/>
              <a:ea typeface="Adobe 黑体 Std R"/>
              <a:cs typeface="Adobe 黑体 Std R"/>
              <a:sym typeface="Adobe 黑体 Std R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357851710" y="-359039160"/>
            <a:ext cx="4064000" cy="39878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l"/>
            <a:endParaRPr lang="zh-CN" altLang="en-US" sz="2000" b="1" dirty="0">
              <a:solidFill>
                <a:schemeClr val="tx1"/>
              </a:solidFill>
              <a:latin typeface="Adobe 黑体 Std R"/>
              <a:ea typeface="Adobe 黑体 Std R"/>
              <a:cs typeface="Adobe 黑体 Std R"/>
              <a:sym typeface="Adobe 黑体 Std R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719075270" y="-716047590"/>
            <a:ext cx="4064000" cy="39878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l"/>
            <a:endParaRPr lang="zh-CN" altLang="en-US" sz="2000" b="1" dirty="0">
              <a:solidFill>
                <a:schemeClr val="tx1"/>
              </a:solidFill>
              <a:latin typeface="Adobe 黑体 Std R"/>
              <a:ea typeface="Adobe 黑体 Std R"/>
              <a:cs typeface="Adobe 黑体 Std R"/>
              <a:sym typeface="Adobe 黑体 Std R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ZlYzRlNjdkZTEzZTk5OTgwNjY5OTIyODZkM2FhNTkifQ==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12700">
          <a:miter lim="400000"/>
        </a:ln>
      </a:spPr>
      <a:bodyPr wrap="square" lIns="45719" rIns="45719">
        <a:spAutoFit/>
      </a:bodyPr>
      <a:lstStyle>
        <a:defPPr algn="l">
          <a:defRPr sz="2000" b="1" dirty="0">
            <a:solidFill>
              <a:schemeClr val="tx1"/>
            </a:solidFill>
            <a:latin typeface="Adobe 黑体 Std R"/>
            <a:ea typeface="Adobe 黑体 Std R"/>
            <a:cs typeface="Adobe 黑体 Std R"/>
            <a:sym typeface="Adobe 黑体 Std R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</TotalTime>
  <Words>896</Words>
  <Application>Microsoft Office PowerPoint</Application>
  <PresentationFormat>宽屏</PresentationFormat>
  <Paragraphs>70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Adobe 黑体 Std R</vt:lpstr>
      <vt:lpstr>等线</vt:lpstr>
      <vt:lpstr>等线 Light</vt:lpstr>
      <vt:lpstr>黑体</vt:lpstr>
      <vt:lpstr>楷体</vt:lpstr>
      <vt:lpstr>宋体</vt:lpstr>
      <vt:lpstr>Arial</vt:lpstr>
      <vt:lpstr>Calibri</vt:lpstr>
      <vt:lpstr>Impact</vt:lpstr>
      <vt:lpstr>Times New Roman</vt:lpstr>
      <vt:lpstr>Wingdings</vt:lpstr>
      <vt:lpstr>1_Office 主题</vt:lpstr>
      <vt:lpstr>20260321进展汇报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熙润 魏</cp:lastModifiedBy>
  <cp:revision>778</cp:revision>
  <cp:lastPrinted>2022-07-23T06:32:00Z</cp:lastPrinted>
  <dcterms:created xsi:type="dcterms:W3CDTF">2024-10-10T02:06:00Z</dcterms:created>
  <dcterms:modified xsi:type="dcterms:W3CDTF">2026-09-03T15:38:22Z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C63D499CBFA8412BBFD94993171443F4_13</vt:lpwstr>
  </property>
  <property fmtid="{D5CDD505-2E9C-101B-9397-08002B2CF9AE}" pid="3" name="KSOProductBuildVer">
    <vt:lpwstr>2052-12.1.0.24657</vt:lpwstr>
  </property>
</Properties>
</file>