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12.13564" TargetMode="External"/><Relationship Id="rId3" Type="http://schemas.openxmlformats.org/officeDocument/2006/relationships/hyperlink" Target="https://aclanthology.org/2026.acl-long.1491/" TargetMode="External"/><Relationship Id="rId4" Type="http://schemas.openxmlformats.org/officeDocument/2006/relationships/hyperlink" Target="https://aclanthology.org/2026.acl-long.370/" TargetMode="External"/><Relationship Id="rId5" Type="http://schemas.openxmlformats.org/officeDocument/2006/relationships/hyperlink" Target="https://arxiv.org/abs/2602.16313" TargetMode="External"/><Relationship Id="rId6" Type="http://schemas.openxmlformats.org/officeDocument/2006/relationships/hyperlink" Target="https://arxiv.org/abs/2603.01966" TargetMode="External"/><Relationship Id="rId7" Type="http://schemas.openxmlformats.org/officeDocument/2006/relationships/hyperlink" Target="https://arxiv.org/abs/2607.12893" TargetMode="External"/><Relationship Id="rId8" Type="http://schemas.openxmlformats.org/officeDocument/2006/relationships/hyperlink" Target="https://arxiv.org/abs/2605.28732" TargetMode="External"/><Relationship Id="rId9" Type="http://schemas.openxmlformats.org/officeDocument/2006/relationships/hyperlink" Target="https://arxiv.org/abs/2608.13921" TargetMode="External"/><Relationship Id="rId10" Type="http://schemas.openxmlformats.org/officeDocument/2006/relationships/hyperlink" Target="https://arxiv.org/abs/2608.19652" TargetMode="External"/><Relationship Id="rId11" Type="http://schemas.openxmlformats.org/officeDocument/2006/relationships/hyperlink" Target="https://aclanthology.org/2026.acl-long.981/" TargetMode="External"/><Relationship Id="rId12" Type="http://schemas.openxmlformats.org/officeDocument/2006/relationships/hyperlink" Target="https://arxiv.org/abs/2607.13591" TargetMode="External"/><Relationship Id="rId13" Type="http://schemas.openxmlformats.org/officeDocument/2006/relationships/hyperlink" Target="https://arxiv.org/abs/2606.14571" TargetMode="External"/><Relationship Id="rId14" Type="http://schemas.openxmlformats.org/officeDocument/2006/relationships/hyperlink" Target="https://arxiv.org/abs/2511.14937" TargetMode="External"/><Relationship Id="rId15" Type="http://schemas.openxmlformats.org/officeDocument/2006/relationships/hyperlink" Target="https://arxiv.org/abs/2606.0815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85216"/>
            <a:ext cx="1572768" cy="310896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94360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Microsoft YaHei"/>
              </a:rPr>
              <a:t>RESEARCH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66294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72033"/>
                </a:solidFill>
                <a:latin typeface="Aptos"/>
              </a:rPr>
              <a:t>MetaMemBench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720840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Microsoft YaHei"/>
              </a:rPr>
              <a:t>面向 Agentic Memory 的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Microsoft YaHei"/>
              </a:rPr>
              <a:t>记忆监控与控制策略诊断基准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209544"/>
            <a:ext cx="672084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Aptos"/>
              </a:rPr>
              <a:t>Evaluating Monitoring and Control of Agent Memory under Uncertainty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913632"/>
            <a:ext cx="6812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151376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Microsoft YaHei"/>
              </a:rPr>
              <a:t>核心问题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498848"/>
            <a:ext cx="6272784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72033"/>
                </a:solidFill>
                <a:latin typeface="Microsoft YaHei"/>
              </a:rPr>
              <a:t>当前记忆是否足以支撑行动？若不足，Agent 应该继续搜索、向用户澄清，还是拒绝承诺？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0416" y="694944"/>
            <a:ext cx="3675887" cy="536752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005840"/>
            <a:ext cx="297180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从“检索到什么”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走向“何时可以行动”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39696"/>
            <a:ext cx="3017520" cy="603504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286000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231136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Sufficiency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231136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充分性判断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944368"/>
            <a:ext cx="3017520" cy="603504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E7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3090672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035808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3035808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搜 / 问 / 做 / 拒绝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749039"/>
            <a:ext cx="3017520" cy="603504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FFF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3895344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3840479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Aptos"/>
              </a:rPr>
              <a:t>Counterfactual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840479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反事实动作翻转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553712"/>
            <a:ext cx="3017520" cy="603504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FD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6" y="4700016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645152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Aptos"/>
              </a:rPr>
              <a:t>Diagnosis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645152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分解失败来源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6217920"/>
            <a:ext cx="4114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B667A"/>
                </a:solidFill>
                <a:latin typeface="Microsoft YaHei"/>
              </a:rPr>
              <a:t>方案汇报 · Agent Memory Benchmark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6217920"/>
            <a:ext cx="104241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B667A"/>
                </a:solidFill>
                <a:latin typeface="Aptos"/>
              </a:rPr>
              <a:t>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01 /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先给结论：不要只做“动态 StratMem”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64208"/>
            <a:ext cx="1828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Microsoft YaHei"/>
              </a:rPr>
              <a:t>推荐主线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02536"/>
            <a:ext cx="6748272" cy="20116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304288"/>
            <a:ext cx="270662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MetaMemBench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825496"/>
            <a:ext cx="594360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评测 Agent 是否知道当前记忆“够不够”，并在承诺行动前选择正确的控制动作。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224528"/>
            <a:ext cx="1133856" cy="310896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233672"/>
            <a:ext cx="11338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icrosoft YaHei"/>
              </a:rPr>
              <a:t>diagnostic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4831" y="4224528"/>
            <a:ext cx="1389888" cy="310896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E7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1" y="4233672"/>
            <a:ext cx="138988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counterfactual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84448" y="4224528"/>
            <a:ext cx="1627632" cy="310896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FFF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4233672"/>
            <a:ext cx="16276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Microsoft YaHei"/>
              </a:rPr>
              <a:t>sufficiency-aware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21808" y="4224528"/>
            <a:ext cx="1975104" cy="310896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FD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4233672"/>
            <a:ext cx="197510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B42318"/>
                </a:solidFill>
                <a:latin typeface="Microsoft YaHei"/>
              </a:rPr>
              <a:t>control-before-commitment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4" y="1664208"/>
            <a:ext cx="2011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B42318"/>
                </a:solidFill>
                <a:latin typeface="Microsoft YaHei"/>
              </a:rPr>
              <a:t>暂时放弃的表述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17536" y="2002536"/>
            <a:ext cx="3895344" cy="123444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17536" y="2002536"/>
            <a:ext cx="64008" cy="12344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0415" y="2130552"/>
            <a:ext cx="35844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B42318"/>
                </a:solidFill>
                <a:latin typeface="Microsoft YaHei"/>
              </a:rPr>
              <a:t>Dynamic Strategic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0415" y="2505456"/>
            <a:ext cx="3584448" cy="6309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多轮化本身容易被视为 StratMem-Bench 的自然扩展。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17536" y="3429000"/>
            <a:ext cx="3895344" cy="123444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17536" y="3429000"/>
            <a:ext cx="6400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0415" y="3557016"/>
            <a:ext cx="35844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Microsoft YaHei"/>
              </a:rPr>
              <a:t>“首个 memory control”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0415" y="3931920"/>
            <a:ext cx="3584448" cy="6309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AgeMem、MemCon、MemSearcher 已学习何时与如何调用 memory。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17536" y="4855464"/>
            <a:ext cx="3895344" cy="114300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17536" y="4855464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415" y="4983479"/>
            <a:ext cx="35844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Microsoft YaHei"/>
              </a:rPr>
              <a:t>真正可争取的贡献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0415" y="5358383"/>
            <a:ext cx="3584448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统一、可诊断、可执行的 memory-control 评测协议。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Positioning based on Memory in the Age of AI Agents; StratMem-Bench; MemCon; AgeMem.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02 /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它属于 Agentic Memory，但与 RAG / Context Engineering 交叉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743200" cy="1170432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170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56816"/>
            <a:ext cx="243230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F766E"/>
                </a:solidFill>
                <a:latin typeface="Microsoft YaHei"/>
              </a:rPr>
              <a:t>Agent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24323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持久、跨 session、随交互演化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75887"/>
            <a:ext cx="2743200" cy="1170432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75887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803903"/>
            <a:ext cx="243230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Agentic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178807"/>
            <a:ext cx="24323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主动检索、查询改写、停止策略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05672" y="1828800"/>
            <a:ext cx="2743200" cy="1170432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05672" y="1828800"/>
            <a:ext cx="64008" cy="1170432"/>
          </a:xfrm>
          <a:prstGeom prst="rect">
            <a:avLst/>
          </a:prstGeom>
          <a:solidFill>
            <a:srgbClr val="6D4BC3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1956816"/>
            <a:ext cx="243230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6D4BC3"/>
                </a:solidFill>
                <a:latin typeface="Microsoft YaHei"/>
              </a:rPr>
              <a:t>LLM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331720"/>
            <a:ext cx="24323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参数 / KV / 长上下文机制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3675887"/>
            <a:ext cx="2743200" cy="1170432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05672" y="3675887"/>
            <a:ext cx="64008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3803903"/>
            <a:ext cx="243230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D97706"/>
                </a:solidFill>
                <a:latin typeface="Microsoft YaHei"/>
              </a:rPr>
              <a:t>Context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4178807"/>
            <a:ext cx="24323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工具、预算与临时上下文组织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1847088"/>
            <a:ext cx="4553712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93792" y="2103120"/>
            <a:ext cx="1737360" cy="310896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2112263"/>
            <a:ext cx="17373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Microsoft YaHei"/>
              </a:rPr>
              <a:t>OUR POSITION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670048"/>
            <a:ext cx="290779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Persistent memory</a:t>
            </a:r>
          </a:p>
        </p:txBody>
      </p:sp>
      <p:sp>
        <p:nvSpPr>
          <p:cNvPr id="28" name="Chevron 27"/>
          <p:cNvSpPr/>
          <p:nvPr/>
        </p:nvSpPr>
        <p:spPr>
          <a:xfrm>
            <a:off x="5943600" y="3054096"/>
            <a:ext cx="256032" cy="274320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383280"/>
            <a:ext cx="290779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Monitor sufficiency</a:t>
            </a:r>
          </a:p>
        </p:txBody>
      </p:sp>
      <p:sp>
        <p:nvSpPr>
          <p:cNvPr id="30" name="Chevron 29"/>
          <p:cNvSpPr/>
          <p:nvPr/>
        </p:nvSpPr>
        <p:spPr>
          <a:xfrm>
            <a:off x="5943600" y="3776472"/>
            <a:ext cx="256032" cy="274320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4105656"/>
            <a:ext cx="290779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Control next action</a:t>
            </a:r>
          </a:p>
        </p:txBody>
      </p:sp>
      <p:sp>
        <p:nvSpPr>
          <p:cNvPr id="32" name="Chevron 31"/>
          <p:cNvSpPr/>
          <p:nvPr/>
        </p:nvSpPr>
        <p:spPr>
          <a:xfrm>
            <a:off x="5943600" y="4498848"/>
            <a:ext cx="256032" cy="274320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4837176"/>
            <a:ext cx="351129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Aptos"/>
              </a:rPr>
              <a:t>Verify downstream consequence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715000"/>
            <a:ext cx="109270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边界条件：必须同时保留 persistent、interaction-derived memory，Agent-controlled access，以及可验证的行动后果。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Hu et al., Memory in the Age of AI Agents, arXiv:2512.13564.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03 / PRIOR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已有工作如何一步步逼近“记忆控制”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172968"/>
            <a:ext cx="10332720" cy="45720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98448" y="2907792"/>
            <a:ext cx="530352" cy="5303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990088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1847088" cy="932688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901952"/>
            <a:ext cx="16642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Aptos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212848"/>
            <a:ext cx="16642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能否找回事实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94176"/>
            <a:ext cx="175564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Aptos"/>
              </a:rPr>
              <a:t>LoCoMo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Aptos"/>
              </a:rPr>
              <a:t>LongMemEval</a:t>
            </a:r>
          </a:p>
        </p:txBody>
      </p:sp>
      <p:sp>
        <p:nvSpPr>
          <p:cNvPr id="15" name="Oval 14"/>
          <p:cNvSpPr/>
          <p:nvPr/>
        </p:nvSpPr>
        <p:spPr>
          <a:xfrm>
            <a:off x="3401568" y="2907792"/>
            <a:ext cx="530352" cy="530352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2990088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1737360"/>
            <a:ext cx="1847088" cy="932688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1901952"/>
            <a:ext cx="16642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Aptos"/>
              </a:rPr>
              <a:t>Strategic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212848"/>
            <a:ext cx="16642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该用哪些记忆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694176"/>
            <a:ext cx="175564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Aptos"/>
              </a:rPr>
              <a:t>StratMem-Bench</a:t>
            </a:r>
          </a:p>
        </p:txBody>
      </p:sp>
      <p:sp>
        <p:nvSpPr>
          <p:cNvPr id="21" name="Oval 20"/>
          <p:cNvSpPr/>
          <p:nvPr/>
        </p:nvSpPr>
        <p:spPr>
          <a:xfrm>
            <a:off x="5504688" y="2907792"/>
            <a:ext cx="530352" cy="53035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4688" y="2990088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1737360"/>
            <a:ext cx="1847088" cy="932688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59" y="1901952"/>
            <a:ext cx="16642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D97706"/>
                </a:solidFill>
                <a:latin typeface="Aptos"/>
              </a:rPr>
              <a:t>Memory →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59" y="2212848"/>
            <a:ext cx="16642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能否驱动工具/任务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694176"/>
            <a:ext cx="175564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Aptos"/>
              </a:rPr>
              <a:t>Mem2ActBench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Aptos"/>
              </a:rPr>
              <a:t>MemoryArena</a:t>
            </a:r>
          </a:p>
        </p:txBody>
      </p:sp>
      <p:sp>
        <p:nvSpPr>
          <p:cNvPr id="27" name="Oval 26"/>
          <p:cNvSpPr/>
          <p:nvPr/>
        </p:nvSpPr>
        <p:spPr>
          <a:xfrm>
            <a:off x="7607808" y="2907792"/>
            <a:ext cx="530352" cy="530352"/>
          </a:xfrm>
          <a:prstGeom prst="ellipse">
            <a:avLst/>
          </a:prstGeom>
          <a:solidFill>
            <a:srgbClr val="6D4BC3"/>
          </a:solidFill>
          <a:ln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990088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1737360"/>
            <a:ext cx="1847088" cy="932688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79" y="1901952"/>
            <a:ext cx="16642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6D4BC3"/>
                </a:solidFill>
                <a:latin typeface="Aptos"/>
              </a:rPr>
              <a:t>Lifecycle /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2212848"/>
            <a:ext cx="16642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何时检索、更新、忘记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3694176"/>
            <a:ext cx="175564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Aptos"/>
              </a:rPr>
              <a:t>MemOps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Aptos"/>
              </a:rPr>
              <a:t>AgeMem · MemCon</a:t>
            </a:r>
          </a:p>
        </p:txBody>
      </p:sp>
      <p:sp>
        <p:nvSpPr>
          <p:cNvPr id="33" name="Oval 32"/>
          <p:cNvSpPr/>
          <p:nvPr/>
        </p:nvSpPr>
        <p:spPr>
          <a:xfrm>
            <a:off x="9710928" y="2907792"/>
            <a:ext cx="530352" cy="530352"/>
          </a:xfrm>
          <a:prstGeom prst="ellipse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928" y="2990088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1737360"/>
            <a:ext cx="1847088" cy="932688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1901952"/>
            <a:ext cx="16642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B42318"/>
                </a:solidFill>
                <a:latin typeface="Aptos"/>
              </a:rPr>
              <a:t>Control Diagnosis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212848"/>
            <a:ext cx="16642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记忆够不够，下一步做什么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3694176"/>
            <a:ext cx="175564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Aptos"/>
              </a:rPr>
              <a:t>MetaMemBench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956048"/>
            <a:ext cx="10835640" cy="969264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230368"/>
            <a:ext cx="10195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现状：方法已经在学习 memory action；评测却仍主要停留在候选池选择或最终任务成功。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Representative works: StratMem-Bench; Mem2ActBench; MemoryArena; MemOps; AgeMem; MemCon.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03 / PRIOR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StratMem-Bench：重要起点，但它问的是“用哪些”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82496"/>
            <a:ext cx="1600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01368"/>
            <a:ext cx="1344168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0F766E"/>
                </a:solidFill>
                <a:latin typeface="Microsoft YaHei"/>
              </a:rPr>
              <a:t>657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221992"/>
            <a:ext cx="1344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INSTANCES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682496"/>
            <a:ext cx="1600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9736" y="1801368"/>
            <a:ext cx="1344168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Microsoft YaHei"/>
              </a:rPr>
              <a:t>8.79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9736" y="2221992"/>
            <a:ext cx="1344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AVG. POOL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682496"/>
            <a:ext cx="1600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7096" y="1801368"/>
            <a:ext cx="1344168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B42318"/>
                </a:solidFill>
                <a:latin typeface="Microsoft YaHei"/>
              </a:rPr>
              <a:t>&lt;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7096" y="2221992"/>
            <a:ext cx="1344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MUST+NICE SMC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108960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5B667A"/>
                </a:solidFill>
                <a:latin typeface="Microsoft YaHei"/>
              </a:rPr>
              <a:t>输入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5568" y="2999232"/>
            <a:ext cx="1298448" cy="53035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136392"/>
            <a:ext cx="11521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固定候选池</a:t>
            </a:r>
          </a:p>
        </p:txBody>
      </p:sp>
      <p:sp>
        <p:nvSpPr>
          <p:cNvPr id="20" name="Chevron 19"/>
          <p:cNvSpPr/>
          <p:nvPr/>
        </p:nvSpPr>
        <p:spPr>
          <a:xfrm>
            <a:off x="2542032" y="3090672"/>
            <a:ext cx="274320" cy="320040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44368" y="2999232"/>
            <a:ext cx="768096" cy="530352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80944" y="3136392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B42318"/>
                </a:solidFill>
                <a:latin typeface="Aptos"/>
              </a:rPr>
              <a:t>must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2999232"/>
            <a:ext cx="768096" cy="530352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77056" y="3136392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Aptos"/>
              </a:rPr>
              <a:t>nice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2999232"/>
            <a:ext cx="768096" cy="53035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5B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3136392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B667A"/>
                </a:solidFill>
                <a:latin typeface="Aptos"/>
              </a:rPr>
              <a:t>irrelevant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3950208"/>
            <a:ext cx="5276088" cy="1609344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" y="3950208"/>
            <a:ext cx="64008" cy="16093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078224"/>
            <a:ext cx="496519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Microsoft YaHei"/>
              </a:rPr>
              <a:t>它已经解决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4453128"/>
            <a:ext cx="496519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72033"/>
                </a:solidFill>
                <a:latin typeface="Microsoft YaHei"/>
              </a:rPr>
              <a:t>query-conditioned 记忆角色不是固定属性；模型需要使用必要记忆、选择性利用支持记忆，并抑制无关记忆。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08192" y="1682496"/>
            <a:ext cx="5504688" cy="3877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08192" y="1682496"/>
            <a:ext cx="64008" cy="3877056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1810512"/>
            <a:ext cx="519379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B42318"/>
                </a:solidFill>
                <a:latin typeface="Microsoft YaHei"/>
              </a:rPr>
              <a:t>它没有要求 Agent 做什么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2185416"/>
            <a:ext cx="5193792" cy="3273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• 判断当前 packet 是否足以安全行动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• 主动搜索缺失记忆或改写 query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• 区分“store 里有”与“只能问用户”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• 在 EXECUTE / ASK / ABSTAIN 间控制承诺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• 让动作进入环境并验证后果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" y="5724144"/>
            <a:ext cx="11009376" cy="47548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833872"/>
            <a:ext cx="105156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StratMem asks which memories should appear; MetaMemBench asks whether memory can justify acting at all.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Wu et al., StratMem-Bench, ACL 2026 Main Conference, Long Paper.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03 / PRIOR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最邻近工作：各自解决了一块，但没有统一诊断控制决策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64208"/>
            <a:ext cx="1993392" cy="557784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719072"/>
            <a:ext cx="1883664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工作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87752" y="1664208"/>
            <a:ext cx="3035808" cy="557784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1719072"/>
            <a:ext cx="2926079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已经解决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664208"/>
            <a:ext cx="5961888" cy="557784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8424" y="1719072"/>
            <a:ext cx="5852159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仍留下的可验证问题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221992"/>
            <a:ext cx="1993392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267712"/>
            <a:ext cx="188366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Mem2ActBench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87752" y="2221992"/>
            <a:ext cx="3035808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42616" y="2267712"/>
            <a:ext cx="292607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长记忆 → 工具参数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221992"/>
            <a:ext cx="5961888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78424" y="2267712"/>
            <a:ext cx="585215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离线 tool-call；搜索/澄清不是正式动作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779776"/>
            <a:ext cx="1993392" cy="557784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825496"/>
            <a:ext cx="188366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MemoryArena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87752" y="2779776"/>
            <a:ext cx="3035808" cy="557784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42616" y="2825496"/>
            <a:ext cx="292607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跨 session 环境闭环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2779776"/>
            <a:ext cx="5961888" cy="557784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78424" y="2825496"/>
            <a:ext cx="585215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只有 task success/progress，缺 decision-point gold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337560"/>
            <a:ext cx="1993392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383280"/>
            <a:ext cx="188366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AMemGym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87752" y="3337560"/>
            <a:ext cx="3035808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42616" y="3383280"/>
            <a:ext cx="292607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on-policy 长程对话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3337560"/>
            <a:ext cx="5961888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78424" y="3383280"/>
            <a:ext cx="585215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动态环境已有；memory-control 不是独立评测单元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895344"/>
            <a:ext cx="1993392" cy="557784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3941063"/>
            <a:ext cx="188366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MemOps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87752" y="3895344"/>
            <a:ext cx="3035808" cy="557784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42616" y="3941063"/>
            <a:ext cx="292607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remember/update/forget/reflect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3895344"/>
            <a:ext cx="5961888" cy="557784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78424" y="3941063"/>
            <a:ext cx="585215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评 lifecycle，不评 query-time evidence sufficiency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453128"/>
            <a:ext cx="1993392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" y="4498848"/>
            <a:ext cx="188366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TANGLE / StateMem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87752" y="4453128"/>
            <a:ext cx="3035808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42616" y="4498848"/>
            <a:ext cx="292607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冲突与状态更新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4453128"/>
            <a:ext cx="5961888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78424" y="4498848"/>
            <a:ext cx="585215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覆盖特定失效类型，不覆盖完整控制状态空间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5010912"/>
            <a:ext cx="1993392" cy="557784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" y="5056632"/>
            <a:ext cx="188366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AgeMem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87752" y="5010912"/>
            <a:ext cx="3035808" cy="557784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42616" y="5056632"/>
            <a:ext cx="292607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工具化 memory operation + RL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60" y="5010912"/>
            <a:ext cx="5961888" cy="557784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78424" y="5056632"/>
            <a:ext cx="585215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证明可学控制；缺独立统一的动作诊断协议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5568696"/>
            <a:ext cx="1993392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" y="5614416"/>
            <a:ext cx="1883664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MemCon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87752" y="5568696"/>
            <a:ext cx="3035808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42616" y="5614416"/>
            <a:ext cx="292607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Memory MDP + 在线策略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23560" y="5568696"/>
            <a:ext cx="5961888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78424" y="5614416"/>
            <a:ext cx="5852159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依赖终局反馈，难解释 monitor/action 为何对错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6163056"/>
            <a:ext cx="10991088" cy="274320"/>
          </a:xfrm>
          <a:prstGeom prst="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6190488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Microsoft YaHei"/>
              </a:rPr>
              <a:t>MetaMemBench 不替代这些任务，而是提供跨系统的 monitor / control / outcome / cost 诊断层。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Sources: ACL 2026; ICLR 2026; arXiv 2026 papers listed in the proposal.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04 /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现有评测从两侧逼近，却漏掉了“行动前控制”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55648"/>
            <a:ext cx="3401568" cy="201168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55648"/>
            <a:ext cx="64008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83664"/>
            <a:ext cx="309067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</a:rPr>
              <a:t>固定候选池评测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58568"/>
            <a:ext cx="3090672" cy="1408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看得见全部候选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能评“选哪些”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不能评搜索、澄清、停止与拒绝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755648"/>
            <a:ext cx="3401568" cy="201168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755648"/>
            <a:ext cx="64008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883664"/>
            <a:ext cx="309067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Microsoft YaHei"/>
              </a:rPr>
              <a:t>端到端任务评测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258568"/>
            <a:ext cx="3090672" cy="1408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有真实行动后果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但最终成功混合了检索、控制、执行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甚至可能靠猜测“碰巧成功”</a:t>
            </a:r>
          </a:p>
        </p:txBody>
      </p:sp>
      <p:sp>
        <p:nvSpPr>
          <p:cNvPr id="16" name="Chevron 15"/>
          <p:cNvSpPr/>
          <p:nvPr/>
        </p:nvSpPr>
        <p:spPr>
          <a:xfrm>
            <a:off x="4233672" y="2569464"/>
            <a:ext cx="475488" cy="475488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7479792" y="2569464"/>
            <a:ext cx="475488" cy="475488"/>
          </a:xfrm>
          <a:prstGeom prst="chevron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81728" y="1719072"/>
            <a:ext cx="2834640" cy="21031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2011680"/>
            <a:ext cx="22311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DDF3EF"/>
                </a:solidFill>
                <a:latin typeface="Microsoft YaHei"/>
              </a:rPr>
              <a:t>缺失的评测层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6" y="2487168"/>
            <a:ext cx="2157984" cy="10332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Memory-state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monitoring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+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next-action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279392"/>
            <a:ext cx="2011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RESEARCH GAP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08576"/>
            <a:ext cx="10917936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892040"/>
            <a:ext cx="1033272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172033"/>
                </a:solidFill>
                <a:latin typeface="Microsoft YaHei"/>
              </a:rPr>
              <a:t>缺少一种受控、可诊断的评测协议，用来测试 Agent 是否能判断当前记忆状态的充分性，并在承诺回答或执行动作之前，选择合适的下一步控制动作。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Gap synthesized from StratMem-Bench, Mem2ActBench, MemoryArena, MemTrace, AgeMem and MemCon.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05 /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正式问题：从记忆状态 zₜ 映射到可接受控制动作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45920"/>
            <a:ext cx="19202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Microsoft YaHei"/>
              </a:rPr>
              <a:t>六类隐藏状态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93392"/>
            <a:ext cx="2633472" cy="822960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103120"/>
            <a:ext cx="23957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6803A"/>
                </a:solidFill>
                <a:latin typeface="Aptos"/>
              </a:rPr>
              <a:t>NO MEMORY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414016"/>
            <a:ext cx="239572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无需历史即可安全执行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1993392"/>
            <a:ext cx="2633472" cy="82296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2103120"/>
            <a:ext cx="23957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SUFFICIENT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414016"/>
            <a:ext cx="239572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已有最小充分证据闭包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054096"/>
            <a:ext cx="2633472" cy="82296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163824"/>
            <a:ext cx="23957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RETRIEVABLE MISSING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3474720"/>
            <a:ext cx="239572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缺失证据仍在 store 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9584" y="3054096"/>
            <a:ext cx="2633472" cy="82296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48456" y="3163824"/>
            <a:ext cx="23957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USER-ONLY MISSING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456" y="3474720"/>
            <a:ext cx="239572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只能由用户补充约束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114800"/>
            <a:ext cx="2633472" cy="82296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4224528"/>
            <a:ext cx="23957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STALE / CONFLICT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4535424"/>
            <a:ext cx="239572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旧值或冲突仍可解析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9584" y="4114800"/>
            <a:ext cx="2633472" cy="82296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48456" y="4224528"/>
            <a:ext cx="23957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IRREDUCIBLE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8456" y="4535424"/>
            <a:ext cx="239572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现有来源无法唯一支持行动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1645920"/>
            <a:ext cx="19202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D97706"/>
                </a:solidFill>
                <a:latin typeface="Microsoft YaHei"/>
              </a:rPr>
              <a:t>四种外部动作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01968" y="1993392"/>
            <a:ext cx="4956048" cy="713232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1968" y="1993392"/>
            <a:ext cx="64008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2121408"/>
            <a:ext cx="46451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</a:rPr>
              <a:t>SEARCH_MEMORY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496312"/>
            <a:ext cx="4645152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继续检索 / 改写 query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01968" y="2825496"/>
            <a:ext cx="4956048" cy="713232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01968" y="2825496"/>
            <a:ext cx="6400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2953512"/>
            <a:ext cx="46451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97706"/>
                </a:solidFill>
                <a:latin typeface="Microsoft YaHei"/>
              </a:rPr>
              <a:t>ASK_USER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328416"/>
            <a:ext cx="4645152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询问缺失 slot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01968" y="3657600"/>
            <a:ext cx="4956048" cy="713232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01968" y="3657600"/>
            <a:ext cx="64008" cy="713232"/>
          </a:xfrm>
          <a:prstGeom prst="rect">
            <a:avLst/>
          </a:prstGeom>
          <a:solidFill>
            <a:srgbClr val="16803A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3785615"/>
            <a:ext cx="46451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6803A"/>
                </a:solidFill>
                <a:latin typeface="Microsoft YaHei"/>
              </a:rPr>
              <a:t>EXECUTE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160520"/>
            <a:ext cx="4645152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回答或调用工具，并提交 evidence IDs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01968" y="4489704"/>
            <a:ext cx="4956048" cy="713232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01968" y="4489704"/>
            <a:ext cx="64008" cy="7132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4617720"/>
            <a:ext cx="46451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ABSTAIN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4992624"/>
            <a:ext cx="4645152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拒绝不受支持的承诺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" y="5376672"/>
            <a:ext cx="10936224" cy="768096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5559552"/>
            <a:ext cx="135331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DF3EF"/>
                </a:solidFill>
                <a:latin typeface="Microsoft YaHei"/>
              </a:rPr>
              <a:t>关键方法学约束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04288" y="5541264"/>
            <a:ext cx="894283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gold 只能依据 Agent 当时可见的信息；不确定时用 admissible action set + cost/regret，而不是强迫唯一动作。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Formal state/action taxonomy proposed in MetaMemBench.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06 /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真正难点不是把对话变长，而是把“可行动性”标对、测准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737360"/>
            <a:ext cx="5358384" cy="1197864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38528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01952"/>
            <a:ext cx="4352544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F766E"/>
                </a:solidFill>
                <a:latin typeface="Microsoft YaHei"/>
              </a:rPr>
              <a:t>充分性 ≠ 相关性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67712"/>
            <a:ext cx="431596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单条都相关，不代表组合已经覆盖全部约束；旧偏好也可能高度相似却有害。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737360"/>
            <a:ext cx="5358384" cy="1197864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38528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901952"/>
            <a:ext cx="4352544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部分可观测下的动作 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67712"/>
            <a:ext cx="431596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从当前 packet 未必能知道 store 是否仍有答案；SEARCH 与 ASK 可能都合理。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154680"/>
            <a:ext cx="5358384" cy="1197864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355848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9272"/>
            <a:ext cx="4352544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D97706"/>
                </a:solidFill>
                <a:latin typeface="Microsoft YaHei"/>
              </a:rPr>
              <a:t>控制失败的因果归因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85032"/>
            <a:ext cx="431596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最终错误可能来自 monitor、retriever、controller 或 executor，单一成功率无法区分。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154680"/>
            <a:ext cx="5358384" cy="1197864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355848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B4231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19272"/>
            <a:ext cx="4352544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B42318"/>
                </a:solidFill>
                <a:latin typeface="Microsoft YaHei"/>
              </a:rPr>
              <a:t>风险与成本同时校准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685032"/>
            <a:ext cx="431596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过早执行有风险；反复搜索、频繁追问也会伤害效率与用户体验。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773168"/>
            <a:ext cx="10936224" cy="103327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010912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6D4BC3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37760"/>
            <a:ext cx="261518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6D4BC3"/>
                </a:solidFill>
                <a:latin typeface="Microsoft YaHei"/>
              </a:rPr>
              <a:t>数据有效性与捷径控制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6512" y="4919472"/>
            <a:ext cx="7114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需要 symbolic world、反事实配对、base-task 分割、表述改写与 human challenge split，防止模型只记模板。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Design risks informed by Mem2ActBench, TANGLE, StateMemBench and MemTrace.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07 /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三个递进 Track：先隔离能力，再开放控制，最后验证行动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737360"/>
            <a:ext cx="3182112" cy="2907792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965960"/>
            <a:ext cx="566928" cy="566928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075688"/>
            <a:ext cx="566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1947672"/>
            <a:ext cx="2029968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F766E"/>
                </a:solidFill>
                <a:latin typeface="Aptos"/>
              </a:rPr>
              <a:t>Oracle Packet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74320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给定完整可访问证据 + distractors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不开放搜索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隔离 monitor / reader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1737360"/>
            <a:ext cx="3182112" cy="2907792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79392" y="196596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2075688"/>
            <a:ext cx="566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47672"/>
            <a:ext cx="2029968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Aptos"/>
              </a:rPr>
              <a:t>Active Memory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788920"/>
            <a:ext cx="274320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仅给任务 + memory API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多轮 search / rewrite / stop / ask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评 timing、intent 与预算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737360"/>
            <a:ext cx="3182112" cy="2907792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0" y="1965960"/>
            <a:ext cx="566928" cy="566928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075688"/>
            <a:ext cx="566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1947672"/>
            <a:ext cx="2029968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D97706"/>
                </a:solidFill>
                <a:latin typeface="Aptos"/>
              </a:rPr>
              <a:t>Closed-Loop Memory-to-Action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6" y="2788920"/>
            <a:ext cx="274320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动作进入确定性工具环境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精确验证状态变化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排除语言 judge 偏差</a:t>
            </a:r>
          </a:p>
        </p:txBody>
      </p:sp>
      <p:sp>
        <p:nvSpPr>
          <p:cNvPr id="23" name="Chevron 22"/>
          <p:cNvSpPr/>
          <p:nvPr/>
        </p:nvSpPr>
        <p:spPr>
          <a:xfrm>
            <a:off x="3794760" y="2926080"/>
            <a:ext cx="256032" cy="365760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287768" y="2926080"/>
            <a:ext cx="256032" cy="365760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992624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5B667A"/>
                </a:solidFill>
                <a:latin typeface="Microsoft YaHei"/>
              </a:rPr>
              <a:t>两个核心任务域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5340096"/>
            <a:ext cx="5285232" cy="822960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5340096"/>
            <a:ext cx="64008" cy="822960"/>
          </a:xfrm>
          <a:prstGeom prst="rect">
            <a:avLst/>
          </a:prstGeom>
          <a:solidFill>
            <a:srgbClr val="16803A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468112"/>
            <a:ext cx="49743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6803A"/>
                </a:solidFill>
                <a:latin typeface="Microsoft YaHei"/>
              </a:rPr>
              <a:t>Personalized Tool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5843016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日历 / 出行 / 购物 / 提醒 / 文件操作；gold 为结构化 tool call 与环境终态。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08192" y="5340096"/>
            <a:ext cx="5449824" cy="82296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08192" y="5340096"/>
            <a:ext cx="64008" cy="822960"/>
          </a:xfrm>
          <a:prstGeom prst="rect">
            <a:avLst/>
          </a:prstGeom>
          <a:solidFill>
            <a:srgbClr val="6D4BC3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5468112"/>
            <a:ext cx="51389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6D4BC3"/>
                </a:solidFill>
                <a:latin typeface="Microsoft YaHei"/>
              </a:rPr>
              <a:t>Progressive Search and Planning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5843016"/>
            <a:ext cx="5138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172033"/>
                </a:solidFill>
                <a:latin typeface="Microsoft YaHei"/>
              </a:rPr>
              <a:t>跨 session 约束与反馈；gold 为 evidence closure、规划约束与最终状态。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Track design bridges controlled diagnosis and executable agent evaluation.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08 /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数据构造：先建可执行世界，再生成自然语言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737360"/>
            <a:ext cx="1572768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29260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83664"/>
            <a:ext cx="1042415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Symbolic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world</a:t>
            </a:r>
          </a:p>
        </p:txBody>
      </p:sp>
      <p:sp>
        <p:nvSpPr>
          <p:cNvPr id="11" name="Chevron 10"/>
          <p:cNvSpPr/>
          <p:nvPr/>
        </p:nvSpPr>
        <p:spPr>
          <a:xfrm>
            <a:off x="2231136" y="2066543"/>
            <a:ext cx="201168" cy="292608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96312" y="1737360"/>
            <a:ext cx="1572768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883664"/>
            <a:ext cx="29260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883664"/>
            <a:ext cx="1042415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Cross-session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history</a:t>
            </a:r>
          </a:p>
        </p:txBody>
      </p:sp>
      <p:sp>
        <p:nvSpPr>
          <p:cNvPr id="15" name="Chevron 14"/>
          <p:cNvSpPr/>
          <p:nvPr/>
        </p:nvSpPr>
        <p:spPr>
          <a:xfrm>
            <a:off x="4123944" y="2066543"/>
            <a:ext cx="201168" cy="292608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737360"/>
            <a:ext cx="1572768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883664"/>
            <a:ext cx="29260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1883664"/>
            <a:ext cx="1042415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Requirement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graph</a:t>
            </a:r>
          </a:p>
        </p:txBody>
      </p:sp>
      <p:sp>
        <p:nvSpPr>
          <p:cNvPr id="19" name="Chevron 18"/>
          <p:cNvSpPr/>
          <p:nvPr/>
        </p:nvSpPr>
        <p:spPr>
          <a:xfrm>
            <a:off x="6016752" y="2066543"/>
            <a:ext cx="201168" cy="292608"/>
          </a:xfrm>
          <a:prstGeom prst="chevron">
            <a:avLst/>
          </a:prstGeom>
          <a:solidFill>
            <a:srgbClr val="6D4BC3"/>
          </a:solidFill>
          <a:ln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1927" y="1737360"/>
            <a:ext cx="1572768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5" y="1883664"/>
            <a:ext cx="29260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5" y="1883664"/>
            <a:ext cx="1042415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Counterfactual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variants</a:t>
            </a:r>
          </a:p>
        </p:txBody>
      </p:sp>
      <p:sp>
        <p:nvSpPr>
          <p:cNvPr id="23" name="Chevron 22"/>
          <p:cNvSpPr/>
          <p:nvPr/>
        </p:nvSpPr>
        <p:spPr>
          <a:xfrm>
            <a:off x="7909559" y="2066543"/>
            <a:ext cx="201168" cy="292608"/>
          </a:xfrm>
          <a:prstGeom prst="chevron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74736" y="1737360"/>
            <a:ext cx="1572768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3" y="1883664"/>
            <a:ext cx="29260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1883664"/>
            <a:ext cx="1042415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Language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rendering</a:t>
            </a:r>
          </a:p>
        </p:txBody>
      </p:sp>
      <p:sp>
        <p:nvSpPr>
          <p:cNvPr id="27" name="Chevron 26"/>
          <p:cNvSpPr/>
          <p:nvPr/>
        </p:nvSpPr>
        <p:spPr>
          <a:xfrm>
            <a:off x="9802367" y="2066543"/>
            <a:ext cx="201168" cy="292608"/>
          </a:xfrm>
          <a:prstGeom prst="chevron">
            <a:avLst/>
          </a:prstGeom>
          <a:solidFill>
            <a:srgbClr val="16803A"/>
          </a:solidFill>
          <a:ln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67544" y="1737360"/>
            <a:ext cx="1572768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77272" y="1883664"/>
            <a:ext cx="29260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1592" y="1883664"/>
            <a:ext cx="1042415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Deterministic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3200400"/>
            <a:ext cx="32004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同一 base task 的六种受控变体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3602736"/>
            <a:ext cx="3383280" cy="768096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721608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6803A"/>
                </a:solidFill>
                <a:latin typeface="Aptos"/>
              </a:rPr>
              <a:t>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3721608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证据闭包完整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79" y="3602736"/>
            <a:ext cx="3383280" cy="768096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25695" y="3721608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HIDDEN-IN-STORE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16167" y="3721608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关键证据可检索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3567" y="3602736"/>
            <a:ext cx="3383280" cy="768096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1583" y="3721608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USER-ONLY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92055" y="3721608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只能询问用户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4590288"/>
            <a:ext cx="3383280" cy="768096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709159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STALE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4709159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旧值需被覆盖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79" y="4590288"/>
            <a:ext cx="3383280" cy="768096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25695" y="4709159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IRREDUCIBLE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6167" y="4709159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冲突无法消解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73567" y="4590288"/>
            <a:ext cx="3383280" cy="768096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01583" y="4709159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NO-MEMORY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92055" y="4709159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加入干扰但无需记忆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687568"/>
            <a:ext cx="10735056" cy="42976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" y="5779008"/>
            <a:ext cx="102412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核心观察不是平均 accuracy，而是 decisive memory 插入/移除后，控制动作是否发生正确翻转。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Pilot: 60 base tasks × 6 variants; MVP: 300–500 base tasks, 1,800–3,000 episodes.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09 /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拒绝用一个总分掩盖系统差异：四层指标分别报告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737360"/>
            <a:ext cx="2560320" cy="3639312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26771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MONITOR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50592"/>
            <a:ext cx="2121408" cy="182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2121408" cy="21579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状态 Macro-F1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Sufficiency AUROC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Brier / ECE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Missing Requirement F1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Evidence Closure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37360"/>
            <a:ext cx="2560320" cy="3639312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993392"/>
            <a:ext cx="226771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Aptos"/>
              </a:rPr>
              <a:t>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21024" y="2450592"/>
            <a:ext cx="2121408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706624"/>
            <a:ext cx="2121408" cy="21579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Admissible Action Acc.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Policy Regret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Premature Execution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Unnecessary Search / Ask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Search-to-Closure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737360"/>
            <a:ext cx="2560320" cy="3639312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993392"/>
            <a:ext cx="226771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97706"/>
                </a:solidFill>
                <a:latin typeface="Aptos"/>
              </a:rPr>
              <a:t>OUTCOME +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9088" y="2450592"/>
            <a:ext cx="2121408" cy="182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706624"/>
            <a:ext cx="2121408" cy="21579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Task Success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Exact Tool State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Unsupported Success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Tokens / Calls / Retrieval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Success–Cost Pareto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737360"/>
            <a:ext cx="2560320" cy="3639312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993392"/>
            <a:ext cx="226771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Aptos"/>
              </a:rPr>
              <a:t>COUNTERFACTUAL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17152" y="2450592"/>
            <a:ext cx="2121408" cy="1828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2706624"/>
            <a:ext cx="2121408" cy="21579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Action Flip Consistency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Irrelevant Invariance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Stale→Current Sensitivity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Surface Robustness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Risk–Coverage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26464" y="5650992"/>
            <a:ext cx="9345168" cy="47548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82496" y="5760720"/>
            <a:ext cx="883310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同样的最终成功率，可能对应完全不同的记忆控制质量与用户成本。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Primary reporting groups: Monitor / Control / Outcome / Cost. Composite utility is secondary.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10 /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Baseline 不是越多越好，而是要能定位瓶颈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266944"/>
            <a:ext cx="10844784" cy="64008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5376672"/>
            <a:ext cx="187451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ORACLE 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358383"/>
            <a:ext cx="85770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OraclePacket / OracleMonitor / OracleRetriever / OracleController / OracleAll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425696"/>
            <a:ext cx="9875520" cy="64008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535424"/>
            <a:ext cx="187451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AGENTIC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4517136"/>
            <a:ext cx="76078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Self-RAG-style router · MemSearcher · Memory-R1 · AgeMem · MemCon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3584448"/>
            <a:ext cx="8906256" cy="64008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10512" y="3694176"/>
            <a:ext cx="187451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MEMORY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3675887"/>
            <a:ext cx="66385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Mem0 / LangMem · A-MEM · StratMem-style reader · StateMem wrapper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12264" y="2743200"/>
            <a:ext cx="7936992" cy="64008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95144" y="2852928"/>
            <a:ext cx="187451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7096" y="2834640"/>
            <a:ext cx="56692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BM25 · dense · hybrid · Retrieve-Once@k · FullHistory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6896" y="1901952"/>
            <a:ext cx="6967728" cy="64008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011680"/>
            <a:ext cx="187451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SANITY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7" y="1993392"/>
            <a:ext cx="47000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NoMemory · AlwaysSearch · AlwaysAsk · AlwaysExecute · confidence 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163056"/>
            <a:ext cx="131673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公平比较约束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6144768"/>
            <a:ext cx="8961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固定 backbone、tool schema、token、搜索轮数与可见 memory source。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MemCon is the central recent control baseline; oracles isolate retrieval, monitoring, control and execution.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11 /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实验设计：先证明 benchmark 有效，再比较方法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737360"/>
            <a:ext cx="2523744" cy="896112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74519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E0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56231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Validity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21991"/>
            <a:ext cx="22128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能力梯度 / 人工一致率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37360"/>
            <a:ext cx="2523744" cy="896112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874519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6" y="1856231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Aptos"/>
              </a:rPr>
              <a:t>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221991"/>
            <a:ext cx="22128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模型与系统主表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737360"/>
            <a:ext cx="2523744" cy="896112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874519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6D4BC3"/>
                </a:solidFill>
                <a:latin typeface="Aptos"/>
              </a:rPr>
              <a:t>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1856231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6D4BC3"/>
                </a:solidFill>
                <a:latin typeface="Aptos"/>
              </a:rPr>
              <a:t>Decomposition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221991"/>
            <a:ext cx="22128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四种 oracle 干预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737360"/>
            <a:ext cx="2523744" cy="896112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874519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Aptos"/>
              </a:rPr>
              <a:t>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1856231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97706"/>
                </a:solidFill>
                <a:latin typeface="Aptos"/>
              </a:rPr>
              <a:t>Counterfactual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2221991"/>
            <a:ext cx="22128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六变体动作翻转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2871215"/>
            <a:ext cx="2523744" cy="896112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008375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Aptos"/>
              </a:rPr>
              <a:t>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990087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Aptos"/>
              </a:rPr>
              <a:t>Calibration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355848"/>
            <a:ext cx="22128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risk–coverage / ECE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1568" y="2871215"/>
            <a:ext cx="2523744" cy="896112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2" y="3008375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6803A"/>
                </a:solidFill>
                <a:latin typeface="Aptos"/>
              </a:rPr>
              <a:t>E5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9936" y="2990087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6803A"/>
                </a:solidFill>
                <a:latin typeface="Aptos"/>
              </a:rPr>
              <a:t>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2" y="3355848"/>
            <a:ext cx="22128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memory / top-k / rounds / size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2871215"/>
            <a:ext cx="2523744" cy="896112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3008375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E6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990087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Generalization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355848"/>
            <a:ext cx="22128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跨任务域迁移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224528"/>
            <a:ext cx="140817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可证伪假设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572000"/>
            <a:ext cx="10771632" cy="1417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H1  最终正确率会高估 memory control，因为存在猜测与不合法证据。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H2  强模型在 USER_ONLY / IRREDUCIBLE 上仍会过早承诺。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H3  固定 retrieve-once 帮助 hidden-in-store，却伤害 no-memory 与干扰场景。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H4  MemCon 可能改善 success–cost，但不一定校准 sufficiency。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If simple confidence threshold approaches oracle and H1–H4 fail, stop or move to harder tasks.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12 /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Benchmark 暴露失败后，再做 MetaMem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75104"/>
            <a:ext cx="1417320" cy="1042415"/>
          </a:xfrm>
          <a:prstGeom prst="roundRect">
            <a:avLst/>
          </a:prstGeom>
          <a:solidFill>
            <a:srgbClr val="EDF1F5"/>
          </a:solidFill>
          <a:ln w="25400">
            <a:solidFill>
              <a:srgbClr val="5B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12848"/>
            <a:ext cx="123444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5B667A"/>
                </a:solidFill>
                <a:latin typeface="Aptos"/>
              </a:rPr>
              <a:t>Persistent</a:t>
            </a:r>
          </a:p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5B667A"/>
                </a:solidFill>
                <a:latin typeface="Aptos"/>
              </a:rPr>
              <a:t>Store</a:t>
            </a:r>
          </a:p>
        </p:txBody>
      </p:sp>
      <p:sp>
        <p:nvSpPr>
          <p:cNvPr id="10" name="Chevron 9"/>
          <p:cNvSpPr/>
          <p:nvPr/>
        </p:nvSpPr>
        <p:spPr>
          <a:xfrm>
            <a:off x="2093976" y="2322576"/>
            <a:ext cx="192024" cy="310896"/>
          </a:xfrm>
          <a:prstGeom prst="chevron">
            <a:avLst/>
          </a:prstGeom>
          <a:solidFill>
            <a:srgbClr val="5B667A"/>
          </a:solidFill>
          <a:ln>
            <a:solidFill>
              <a:srgbClr val="5B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1975104"/>
            <a:ext cx="1417320" cy="1042415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212848"/>
            <a:ext cx="123444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Aptos"/>
              </a:rPr>
              <a:t>Evidence</a:t>
            </a:r>
          </a:p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Aptos"/>
              </a:rPr>
              <a:t>Ranker</a:t>
            </a:r>
          </a:p>
        </p:txBody>
      </p:sp>
      <p:sp>
        <p:nvSpPr>
          <p:cNvPr id="13" name="Chevron 12"/>
          <p:cNvSpPr/>
          <p:nvPr/>
        </p:nvSpPr>
        <p:spPr>
          <a:xfrm>
            <a:off x="3803904" y="2322576"/>
            <a:ext cx="192024" cy="310896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41648" y="1975104"/>
            <a:ext cx="1417320" cy="1042415"/>
          </a:xfrm>
          <a:prstGeom prst="roundRect">
            <a:avLst/>
          </a:prstGeom>
          <a:solidFill>
            <a:srgbClr val="EFE9FF"/>
          </a:solidFill>
          <a:ln w="254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3087" y="2212848"/>
            <a:ext cx="123444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6D4BC3"/>
                </a:solidFill>
                <a:latin typeface="Aptos"/>
              </a:rPr>
              <a:t>Setwise</a:t>
            </a:r>
          </a:p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6D4BC3"/>
                </a:solidFill>
                <a:latin typeface="Aptos"/>
              </a:rPr>
              <a:t>Verifier</a:t>
            </a:r>
          </a:p>
        </p:txBody>
      </p:sp>
      <p:sp>
        <p:nvSpPr>
          <p:cNvPr id="16" name="Chevron 15"/>
          <p:cNvSpPr/>
          <p:nvPr/>
        </p:nvSpPr>
        <p:spPr>
          <a:xfrm>
            <a:off x="5513832" y="2322576"/>
            <a:ext cx="192024" cy="310896"/>
          </a:xfrm>
          <a:prstGeom prst="chevron">
            <a:avLst/>
          </a:prstGeom>
          <a:solidFill>
            <a:srgbClr val="6D4BC3"/>
          </a:solidFill>
          <a:ln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51576" y="1975104"/>
            <a:ext cx="1417320" cy="1042415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43016" y="2212848"/>
            <a:ext cx="123444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Aptos"/>
              </a:rPr>
              <a:t>State</a:t>
            </a:r>
          </a:p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Aptos"/>
              </a:rPr>
              <a:t>Monitor</a:t>
            </a:r>
          </a:p>
        </p:txBody>
      </p:sp>
      <p:sp>
        <p:nvSpPr>
          <p:cNvPr id="19" name="Chevron 18"/>
          <p:cNvSpPr/>
          <p:nvPr/>
        </p:nvSpPr>
        <p:spPr>
          <a:xfrm>
            <a:off x="7223760" y="2322576"/>
            <a:ext cx="192024" cy="310896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61504" y="1975104"/>
            <a:ext cx="1417320" cy="1042415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212848"/>
            <a:ext cx="123444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D97706"/>
                </a:solidFill>
                <a:latin typeface="Aptos"/>
              </a:rPr>
              <a:t>Control</a:t>
            </a:r>
          </a:p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D97706"/>
                </a:solidFill>
                <a:latin typeface="Aptos"/>
              </a:rPr>
              <a:t>Policy</a:t>
            </a:r>
          </a:p>
        </p:txBody>
      </p:sp>
      <p:sp>
        <p:nvSpPr>
          <p:cNvPr id="22" name="Chevron 21"/>
          <p:cNvSpPr/>
          <p:nvPr/>
        </p:nvSpPr>
        <p:spPr>
          <a:xfrm>
            <a:off x="8933688" y="2322576"/>
            <a:ext cx="192024" cy="310896"/>
          </a:xfrm>
          <a:prstGeom prst="chevron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71432" y="1975104"/>
            <a:ext cx="1417320" cy="1042415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2212848"/>
            <a:ext cx="123444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B42318"/>
                </a:solidFill>
                <a:latin typeface="Aptos"/>
              </a:rPr>
              <a:t>Execution</a:t>
            </a:r>
          </a:p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400" b="1">
                <a:solidFill>
                  <a:srgbClr val="B42318"/>
                </a:solidFill>
                <a:latin typeface="Aptos"/>
              </a:rPr>
              <a:t>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3584448"/>
            <a:ext cx="1389888" cy="530352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7792" y="3730752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8848" y="3584448"/>
            <a:ext cx="1389888" cy="530352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730752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ASK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3584448"/>
            <a:ext cx="1389888" cy="530352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3730752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EXECUTE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27264" y="3584448"/>
            <a:ext cx="1389888" cy="530352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0416" y="3730752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ABSTAIN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730752"/>
            <a:ext cx="126187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5B667A"/>
                </a:solidFill>
                <a:latin typeface="Microsoft YaHei"/>
              </a:rPr>
              <a:t>控制动作</a:t>
            </a:r>
          </a:p>
        </p:txBody>
      </p:sp>
      <p:sp>
        <p:nvSpPr>
          <p:cNvPr id="34" name="Chevron 33"/>
          <p:cNvSpPr/>
          <p:nvPr/>
        </p:nvSpPr>
        <p:spPr>
          <a:xfrm>
            <a:off x="2578608" y="3685032"/>
            <a:ext cx="201168" cy="292608"/>
          </a:xfrm>
          <a:prstGeom prst="chevron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1792" y="4663440"/>
            <a:ext cx="10753344" cy="1133856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901184"/>
            <a:ext cx="1051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DF3EF"/>
                </a:solidFill>
                <a:latin typeface="Microsoft YaHei"/>
              </a:rPr>
              <a:t>设计原则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8256" y="4846320"/>
            <a:ext cx="8961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只有 verifier 通过，或 policy 明确接受风险时，Execution Gate 才允许最终行动。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48256" y="5294376"/>
            <a:ext cx="8961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目标：把“看见相关记忆”升级为“形成最小充分证据闭包后再行动”。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Method is intentionally second-stage: benchmark first, intervention second.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12 /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排序学习放在哪里：逐条判断、相对选择、集合闭包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737360"/>
            <a:ext cx="3364992" cy="1572768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737360"/>
            <a:ext cx="64008" cy="15727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65376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Microsoft YaHei"/>
              </a:rPr>
              <a:t>Pointwise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3054096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72033"/>
                </a:solidFill>
                <a:latin typeface="Microsoft YaHei"/>
              </a:rPr>
              <a:t>预测单条 memory 的相关性、时效性、authority 与 slot coverage。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37360"/>
            <a:ext cx="3364992" cy="1572768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37360"/>
            <a:ext cx="64008" cy="1572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865376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</a:rPr>
              <a:t>Pairwise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40280"/>
            <a:ext cx="3054096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72033"/>
                </a:solidFill>
                <a:latin typeface="Microsoft YaHei"/>
              </a:rPr>
              <a:t>在 decisive evidence 与 hard negative 之间学习相对效用，适合下一条证据 / 动作选择。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37360"/>
            <a:ext cx="3364992" cy="1572768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737360"/>
            <a:ext cx="64008" cy="1572768"/>
          </a:xfrm>
          <a:prstGeom prst="rect">
            <a:avLst/>
          </a:prstGeom>
          <a:solidFill>
            <a:srgbClr val="6D4BC3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1865376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6D4BC3"/>
                </a:solidFill>
                <a:latin typeface="Microsoft YaHei"/>
              </a:rPr>
              <a:t>Listwise / Setwise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240280"/>
            <a:ext cx="3054096" cy="969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72033"/>
                </a:solidFill>
                <a:latin typeface="Microsoft YaHei"/>
              </a:rPr>
              <a:t>选择能闭合全部需求的最小证据集合，处理“每条都相关但组合仍不充分”。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94176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训练路线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114800"/>
            <a:ext cx="420624" cy="420624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4105656"/>
            <a:ext cx="13716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Rule /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4389120"/>
            <a:ext cx="14813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先验证 benchmark</a:t>
            </a:r>
          </a:p>
        </p:txBody>
      </p:sp>
      <p:sp>
        <p:nvSpPr>
          <p:cNvPr id="25" name="Oval 24"/>
          <p:cNvSpPr/>
          <p:nvPr/>
        </p:nvSpPr>
        <p:spPr>
          <a:xfrm>
            <a:off x="2852928" y="4114800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2928" y="4206240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4105656"/>
            <a:ext cx="13716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SFT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992" y="4389120"/>
            <a:ext cx="14813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gold state / action / evidence</a:t>
            </a:r>
          </a:p>
        </p:txBody>
      </p:sp>
      <p:sp>
        <p:nvSpPr>
          <p:cNvPr id="29" name="Oval 28"/>
          <p:cNvSpPr/>
          <p:nvPr/>
        </p:nvSpPr>
        <p:spPr>
          <a:xfrm>
            <a:off x="5065776" y="4114800"/>
            <a:ext cx="420624" cy="420624"/>
          </a:xfrm>
          <a:prstGeom prst="ellipse">
            <a:avLst/>
          </a:prstGeom>
          <a:solidFill>
            <a:srgbClr val="6D4BC3"/>
          </a:solidFill>
          <a:ln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5776" y="4206240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105656"/>
            <a:ext cx="13716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Ranking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4389120"/>
            <a:ext cx="14813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pairwise + setwise closure</a:t>
            </a:r>
          </a:p>
        </p:txBody>
      </p:sp>
      <p:sp>
        <p:nvSpPr>
          <p:cNvPr id="33" name="Oval 32"/>
          <p:cNvSpPr/>
          <p:nvPr/>
        </p:nvSpPr>
        <p:spPr>
          <a:xfrm>
            <a:off x="7278624" y="4114800"/>
            <a:ext cx="420624" cy="420624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8624" y="4206240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0688" y="4105656"/>
            <a:ext cx="13716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688" y="4389120"/>
            <a:ext cx="14813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0.6B smoke → 7B / 8B</a:t>
            </a:r>
          </a:p>
        </p:txBody>
      </p:sp>
      <p:sp>
        <p:nvSpPr>
          <p:cNvPr id="37" name="Oval 36"/>
          <p:cNvSpPr/>
          <p:nvPr/>
        </p:nvSpPr>
        <p:spPr>
          <a:xfrm>
            <a:off x="9491472" y="4114800"/>
            <a:ext cx="420624" cy="420624"/>
          </a:xfrm>
          <a:prstGeom prst="ellipse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91472" y="4206240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3536" y="4105656"/>
            <a:ext cx="13716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Optional 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3536" y="4389120"/>
            <a:ext cx="14813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仅处理停止与预算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212080"/>
            <a:ext cx="10917936" cy="768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5468112"/>
            <a:ext cx="11155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最终 reward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93392" y="5422392"/>
            <a:ext cx="91257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Exact task success + admissible action + evidence closure − search/clarify cost − premature/unsupported 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6117336"/>
            <a:ext cx="103327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5B667A"/>
                </a:solidFill>
                <a:latin typeface="Microsoft YaHei"/>
              </a:rPr>
              <a:t>第一版不训练独立 GRM：结构化 gold 与环境执行已提供 RLVR 风格信号。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Ranking score shapes evidence selection; it does not replace verifiable outcome reward.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13 /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最小闭环：1–2 周判断这个问题是否真的成立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02996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56231"/>
            <a:ext cx="1773936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0F766E"/>
                </a:solidFill>
                <a:latin typeface="Microsoft YaHei"/>
              </a:rPr>
              <a:t>20 ×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76856"/>
            <a:ext cx="177393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BASE TASKS × 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69464"/>
            <a:ext cx="1773936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120 episodes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737360"/>
            <a:ext cx="202996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1856231"/>
            <a:ext cx="1773936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276856"/>
            <a:ext cx="177393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DETERMINISTIC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569464"/>
            <a:ext cx="1773936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calendar / travel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1737360"/>
            <a:ext cx="202996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856231"/>
            <a:ext cx="1773936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D97706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276856"/>
            <a:ext cx="177393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SANITY BASELINES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569464"/>
            <a:ext cx="1773936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Execute / Retrieve / Full / Oracle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43216" y="1737360"/>
            <a:ext cx="202996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2" y="1856231"/>
            <a:ext cx="1773936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6D4BC3"/>
                </a:solidFill>
                <a:latin typeface="Microsoft YaHei"/>
              </a:rPr>
              <a:t>1–2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2" y="2276856"/>
            <a:ext cx="177393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2569464"/>
            <a:ext cx="1773936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without training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1737360"/>
            <a:ext cx="184708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38944" y="1856231"/>
            <a:ext cx="1591056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B42318"/>
                </a:solidFill>
                <a:latin typeface="Microsoft YaHei"/>
              </a:rPr>
              <a:t>4×4090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38944" y="2276856"/>
            <a:ext cx="15910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38944" y="2569464"/>
            <a:ext cx="1591056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7B/8B LoRA-ready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tos"/>
              </a:rPr>
              <a:t>Go / No-Go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877056"/>
            <a:ext cx="10735056" cy="15179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OracleAll 接近可解上界，NoMemory 与 OraclePacket 有显著差距。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至少两个 baseline 在 premature execution / unnecessary search 上呈现不同 trade-off。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强模型的 counterfactual action flip 不能接近满分；FullHistory 不能轻易饱和。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人工 state / admissible action 一致率足够高，且 ≥80% 主指标可规则化计算。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716768" cy="4572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788152"/>
            <a:ext cx="10241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GPU 不是核心壁垒：主要资产是 generator、simulator、evaluator 与 baseline harness。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Compute plan: CPU deterministic environments; 0.6B smoke; 7B/8B inference and light LoRA/SFT.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14 /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10 周执行路线：每一阶段都有可停止的检查点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523036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786384" cy="67665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828800"/>
            <a:ext cx="11338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1828800"/>
            <a:ext cx="2962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taxonomy + 20 samples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87752"/>
            <a:ext cx="523036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587752"/>
            <a:ext cx="786384" cy="6766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798064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697480"/>
            <a:ext cx="11338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2697480"/>
            <a:ext cx="2962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120-episode pilot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56432"/>
            <a:ext cx="523036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456432"/>
            <a:ext cx="786384" cy="676656"/>
          </a:xfrm>
          <a:prstGeom prst="roundRect">
            <a:avLst/>
          </a:prstGeom>
          <a:solidFill>
            <a:srgbClr val="6D4BC3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666744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566160"/>
            <a:ext cx="11338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6D4BC3"/>
                </a:solidFill>
                <a:latin typeface="Aptos"/>
              </a:rPr>
              <a:t>Track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8336" y="3566160"/>
            <a:ext cx="2962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sanity baselines + gate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325112"/>
            <a:ext cx="523036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4325112"/>
            <a:ext cx="786384" cy="676656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535424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W4–5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434840"/>
            <a:ext cx="11338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Aptos"/>
              </a:rPr>
              <a:t>Tracks B/C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88336" y="4434840"/>
            <a:ext cx="2962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API + 2 tool domains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193792"/>
            <a:ext cx="523036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5193792"/>
            <a:ext cx="786384" cy="676656"/>
          </a:xfrm>
          <a:prstGeom prst="roundRect">
            <a:avLst/>
          </a:prstGeom>
          <a:solidFill>
            <a:srgbClr val="16803A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404104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303520"/>
            <a:ext cx="11338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6803A"/>
                </a:solidFill>
                <a:latin typeface="Aptos"/>
              </a:rPr>
              <a:t>Baselines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88336" y="5303520"/>
            <a:ext cx="2962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retrieval + memory systems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719072"/>
            <a:ext cx="523036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7920" y="1719072"/>
            <a:ext cx="786384" cy="676656"/>
          </a:xfrm>
          <a:prstGeom prst="round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1929384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9752" y="1828800"/>
            <a:ext cx="11338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Aptos"/>
              </a:rPr>
              <a:t>Controllers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1828800"/>
            <a:ext cx="2962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MemCon + oracle diagnosis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2587752"/>
            <a:ext cx="523036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17920" y="2587752"/>
            <a:ext cx="786384" cy="67665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798064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9752" y="2697480"/>
            <a:ext cx="11338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2697480"/>
            <a:ext cx="2962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1,800+ episodes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456432"/>
            <a:ext cx="523036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17920" y="3456432"/>
            <a:ext cx="786384" cy="67665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3666744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9752" y="3566160"/>
            <a:ext cx="11338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3566160"/>
            <a:ext cx="2962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calibration / CF / budget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325112"/>
            <a:ext cx="523036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17920" y="4325112"/>
            <a:ext cx="786384" cy="676656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4535424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59752" y="4434840"/>
            <a:ext cx="11338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Release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8" y="4434840"/>
            <a:ext cx="2962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paper + code + data card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6163056"/>
            <a:ext cx="10972800" cy="228600"/>
          </a:xfrm>
          <a:prstGeom prst="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" y="6172200"/>
            <a:ext cx="105887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Microsoft YaHei"/>
              </a:rPr>
              <a:t>关键决策点：W3 pilot gate → W7 method need → W9 是否支撑“通用 agentic memory control”论点。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Roadmap prioritizes benchmark validity before dataset scale and method complexity.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15 /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预期贡献与论文主线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00784"/>
            <a:ext cx="6931152" cy="73152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11096"/>
            <a:ext cx="42062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74520"/>
            <a:ext cx="10607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56232"/>
            <a:ext cx="482803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定义 memory monitoring and control before commitment。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60904"/>
            <a:ext cx="6931152" cy="73152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871216"/>
            <a:ext cx="42062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34640"/>
            <a:ext cx="10607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Aptos"/>
              </a:rPr>
              <a:t>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16352"/>
            <a:ext cx="482803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gold state、evidence closure、admissible action 与 executable outcome。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21024"/>
            <a:ext cx="6931152" cy="73152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831336"/>
            <a:ext cx="42062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94760"/>
            <a:ext cx="10607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97706"/>
                </a:solidFill>
                <a:latin typeface="Aptos"/>
              </a:rPr>
              <a:t>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776472"/>
            <a:ext cx="482803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Monitor / Control / Outcome / Cost + oracle decomposition。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81144"/>
            <a:ext cx="6931152" cy="73152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791456"/>
            <a:ext cx="42062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54880"/>
            <a:ext cx="10607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736592"/>
            <a:ext cx="482803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系统比较 long-context、RAG、memory backend 与 agentic controllers。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7" y="1700784"/>
            <a:ext cx="3675887" cy="445312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2048256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DDF3EF"/>
                </a:solidFill>
                <a:latin typeface="Aptos"/>
              </a:rPr>
              <a:t>Take-home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633472"/>
            <a:ext cx="2889504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Agentic memory 的关键不只是“能存、能取”，而是：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3511296"/>
            <a:ext cx="2889504" cy="16642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知道何时已经足够，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何时还应继续找，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何时必须向人询问，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何时应该停止承诺。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4192" y="5486400"/>
            <a:ext cx="2651760" cy="310896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5495544"/>
            <a:ext cx="26517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icrosoft YaHei"/>
              </a:rPr>
              <a:t>BENCHMARK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6528816"/>
            <a:ext cx="10698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Recommended title: MetaMemBench: Evaluating Monitoring and Control of Agent Memory under Uncertainty.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6528816"/>
            <a:ext cx="168249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MetaMemBench · 2026-09-03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核心参考文献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60704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B667A"/>
                </a:solidFill>
                <a:latin typeface="Microsoft YaHei"/>
              </a:rPr>
              <a:t>完整调研与问题推导见配套 proposal 文档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1700784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Memory in the Age of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1920240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2"/>
              </a:rPr>
              <a:t>Survey · arXiv 2512.13564  ·  https://arxiv.org/abs/2512.13564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331720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StratMem-Bench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551176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3"/>
              </a:rPr>
              <a:t>ACL 2026 Main · Long Paper  ·  https://aclanthology.org/2026.acl-long.1491/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62656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2962656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Mem2ActBench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182112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4"/>
              </a:rPr>
              <a:t>ACL 2026 Main · Long Paper  ·  https://aclanthology.org/2026.acl-long.370/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593591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3593591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MemoryArena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813048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5"/>
              </a:rPr>
              <a:t>arXiv 2602.16313  ·  https://arxiv.org/abs/2602.16313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224528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5" y="4224528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AMemGym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443984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6"/>
              </a:rPr>
              <a:t>ICLR 2026  ·  https://arxiv.org/abs/2603.01966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855464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5" y="4855464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MemOps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5074920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7"/>
              </a:rPr>
              <a:t>arXiv 2607.12893  ·  https://arxiv.org/abs/2607.12893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486400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" y="5486400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MemTrace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5705856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8"/>
              </a:rPr>
              <a:t>arXiv 2605.28732  ·  https://arxiv.org/abs/2605.28732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1700784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700784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TANGLE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920240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9"/>
              </a:rPr>
              <a:t>arXiv 2608.13921  ·  https://arxiv.org/abs/2608.13921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2331720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331720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StateMemBench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551176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0"/>
              </a:rPr>
              <a:t>arXiv 2608.19652  ·  https://arxiv.org/abs/2608.19652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2962656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962656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AgeMem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182112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1"/>
              </a:rPr>
              <a:t>ACL 2026 Main · Long Paper  ·  https://aclanthology.org/2026.acl-long.981/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3593591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593591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Memory as a Controlled Process (MemCon)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813048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2"/>
              </a:rPr>
              <a:t>arXiv 2607.13591  ·  https://arxiv.org/abs/2607.13591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4224528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224528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StreamMemBench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443984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3"/>
              </a:rPr>
              <a:t>arXiv 2606.14571  ·  https://arxiv.org/abs/2606.14571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4855464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855464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CIMemories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074920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4"/>
              </a:rPr>
              <a:t>ICLR 2026  ·  https://arxiv.org/abs/2511.14937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2" y="5486400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486400"/>
            <a:ext cx="4974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Decision-Aware Memory Cards / CICL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705856"/>
            <a:ext cx="49743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5"/>
              </a:rPr>
              <a:t>arXiv 2606.08151  ·  https://arxiv.org/abs/2606.08151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6236208"/>
            <a:ext cx="10899648" cy="182880"/>
          </a:xfrm>
          <a:prstGeom prst="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" y="6236208"/>
            <a:ext cx="1057046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F766E"/>
                </a:solidFill>
                <a:latin typeface="Aptos"/>
              </a:rPr>
              <a:t>Proposal source: docs/ideas/2026-09-03-metamembench-agentic-memory-control-proposal.md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