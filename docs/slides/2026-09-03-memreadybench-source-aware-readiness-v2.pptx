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608.04289" TargetMode="External"/><Relationship Id="rId3" Type="http://schemas.openxmlformats.org/officeDocument/2006/relationships/hyperlink" Target="https://arxiv.org/abs/2608.19564" TargetMode="External"/><Relationship Id="rId4" Type="http://schemas.openxmlformats.org/officeDocument/2006/relationships/hyperlink" Target="https://arxiv.org/abs/2607.10059" TargetMode="External"/><Relationship Id="rId5" Type="http://schemas.openxmlformats.org/officeDocument/2006/relationships/hyperlink" Target="https://arxiv.org/abs/2608.01285" TargetMode="External"/><Relationship Id="rId6" Type="http://schemas.openxmlformats.org/officeDocument/2006/relationships/hyperlink" Target="https://arxiv.org/abs/2602.02704" TargetMode="External"/><Relationship Id="rId7" Type="http://schemas.openxmlformats.org/officeDocument/2006/relationships/hyperlink" Target="https://arxiv.org/abs/2607.01071" TargetMode="External"/><Relationship Id="rId8" Type="http://schemas.openxmlformats.org/officeDocument/2006/relationships/hyperlink" Target="https://arxiv.org/abs/2605.03534" TargetMode="External"/><Relationship Id="rId9" Type="http://schemas.openxmlformats.org/officeDocument/2006/relationships/hyperlink" Target="https://arxiv.org/abs/2607.13591" TargetMode="External"/><Relationship Id="rId10" Type="http://schemas.openxmlformats.org/officeDocument/2006/relationships/hyperlink" Target="https://arxiv.org/abs/2604.00131" TargetMode="External"/><Relationship Id="rId11" Type="http://schemas.openxmlformats.org/officeDocument/2006/relationships/hyperlink" Target="https://arxiv.org/abs/2604.08455" TargetMode="External"/><Relationship Id="rId12" Type="http://schemas.openxmlformats.org/officeDocument/2006/relationships/hyperlink" Target="https://arxiv.org/abs/2605.09252" TargetMode="External"/><Relationship Id="rId13" Type="http://schemas.openxmlformats.org/officeDocument/2006/relationships/hyperlink" Target="https://arxiv.org/abs/2602.16699" TargetMode="External"/><Relationship Id="rId14" Type="http://schemas.openxmlformats.org/officeDocument/2006/relationships/hyperlink" Target="https://arxiv.org/abs/2602.11182" TargetMode="External"/><Relationship Id="rId15" Type="http://schemas.openxmlformats.org/officeDocument/2006/relationships/hyperlink" Target="https://arxiv.org/abs/2606.08151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94944" y="566928"/>
            <a:ext cx="3703320" cy="310896"/>
          </a:xfrm>
          <a:prstGeom prst="roundRect">
            <a:avLst/>
          </a:prstGeom>
          <a:solidFill>
            <a:srgbClr val="FDE8E7"/>
          </a:solidFill>
          <a:ln w="12700">
            <a:solidFill>
              <a:srgbClr val="FDE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576072"/>
            <a:ext cx="370332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B42318"/>
                </a:solidFill>
                <a:latin typeface="Microsoft YaHei"/>
              </a:rPr>
              <a:t>REVISED AFTER 2026 ARXIV COLLISION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170432"/>
            <a:ext cx="7040880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500" b="1">
                <a:solidFill>
                  <a:srgbClr val="172033"/>
                </a:solidFill>
                <a:latin typeface="Aptos"/>
              </a:rPr>
              <a:t>MemReadyBench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874519"/>
            <a:ext cx="7726679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持久记忆 Agent 的来源感知行动准备度评测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96312"/>
            <a:ext cx="81381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F766E"/>
                </a:solidFill>
                <a:latin typeface="Aptos"/>
              </a:rPr>
              <a:t>Evaluating Source-Aware Action Readiness in Persistent-Memory Agents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27832"/>
            <a:ext cx="7114032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474720"/>
            <a:ext cx="120700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B42318"/>
                </a:solidFill>
                <a:latin typeface="Microsoft YaHei"/>
              </a:rPr>
              <a:t>核心转向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57984" y="3392424"/>
            <a:ext cx="5285232" cy="8595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172033"/>
                </a:solidFill>
                <a:latin typeface="Microsoft YaHei"/>
              </a:rPr>
              <a:t>不再争夺“记忆是否足够”的首创，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172033"/>
                </a:solidFill>
                <a:latin typeface="Microsoft YaHei"/>
              </a:rPr>
              <a:t>而是诊断缺失证据位于哪里、应向哪个权威来源路由、何时才可以执行。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5148072"/>
            <a:ext cx="1335024" cy="310896"/>
          </a:xfrm>
          <a:prstGeom prst="roundRect">
            <a:avLst/>
          </a:prstGeom>
          <a:solidFill>
            <a:srgbClr val="E7EEFF"/>
          </a:solidFill>
          <a:ln w="12700">
            <a:solidFill>
              <a:srgbClr val="E7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5157216"/>
            <a:ext cx="1335024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MEMORY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49424" y="5148072"/>
            <a:ext cx="1335024" cy="310896"/>
          </a:xfrm>
          <a:prstGeom prst="roundRect">
            <a:avLst/>
          </a:prstGeom>
          <a:solidFill>
            <a:srgbClr val="EFE9FF"/>
          </a:solidFill>
          <a:ln w="12700">
            <a:solidFill>
              <a:srgbClr val="EF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9424" y="5157216"/>
            <a:ext cx="1335024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6D4BC3"/>
                </a:solidFill>
                <a:latin typeface="Microsoft YaHei"/>
              </a:rPr>
              <a:t>WORLD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85615" y="5148072"/>
            <a:ext cx="1335024" cy="310896"/>
          </a:xfrm>
          <a:prstGeom prst="roundRect">
            <a:avLst/>
          </a:prstGeom>
          <a:solidFill>
            <a:srgbClr val="FFF0D5"/>
          </a:solidFill>
          <a:ln w="12700">
            <a:solidFill>
              <a:srgbClr val="FFF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85615" y="5157216"/>
            <a:ext cx="1335024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D97706"/>
                </a:solidFill>
                <a:latin typeface="Microsoft YaHei"/>
              </a:rPr>
              <a:t>USER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21808" y="5148072"/>
            <a:ext cx="1335024" cy="310896"/>
          </a:xfrm>
          <a:prstGeom prst="roundRect">
            <a:avLst/>
          </a:prstGeom>
          <a:solidFill>
            <a:srgbClr val="E4F4E8"/>
          </a:solidFill>
          <a:ln w="12700">
            <a:solidFill>
              <a:srgbClr val="E4F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21808" y="5157216"/>
            <a:ext cx="1335024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6803A"/>
                </a:solidFill>
                <a:latin typeface="Microsoft YaHei"/>
              </a:rPr>
              <a:t>EXECUTION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502920"/>
            <a:ext cx="2880360" cy="571500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923544"/>
            <a:ext cx="217627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DDF3EF"/>
                </a:solidFill>
                <a:latin typeface="Microsoft YaHei"/>
              </a:rPr>
              <a:t>一句话问题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61704" y="1481328"/>
            <a:ext cx="2121408" cy="19568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Agent 能否识别尚未闭合的行动条件，找到它的可信来源，并在产生外部副作用前完成证据闭合？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61704" y="3767328"/>
            <a:ext cx="2057400" cy="1828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61704" y="4105656"/>
            <a:ext cx="2103120" cy="8961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DDF3EF"/>
                </a:solidFill>
                <a:latin typeface="Aptos"/>
              </a:rPr>
              <a:t>Benchmark first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DDF3EF"/>
                </a:solidFill>
                <a:latin typeface="Aptos"/>
              </a:rPr>
              <a:t>Method second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1704" y="5678424"/>
            <a:ext cx="21031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ptos"/>
              </a:rPr>
              <a:t>2026-09-03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840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01 / VERDICT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09728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审稿式重判：方向继续，首创表述必须更换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1865376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837943"/>
            <a:ext cx="1609344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0F766E"/>
                </a:solidFill>
                <a:latin typeface="Microsoft YaHei"/>
              </a:rPr>
              <a:t>8.5/10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258568"/>
            <a:ext cx="160934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5B667A"/>
                </a:solidFill>
                <a:latin typeface="Microsoft YaHei"/>
              </a:rPr>
              <a:t>问题重要性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61488" y="1719072"/>
            <a:ext cx="1865376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9504" y="1837943"/>
            <a:ext cx="1609344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B42318"/>
                </a:solidFill>
                <a:latin typeface="Microsoft YaHei"/>
              </a:rPr>
              <a:t>5/10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9504" y="2258568"/>
            <a:ext cx="160934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5B667A"/>
                </a:solidFill>
                <a:latin typeface="Microsoft YaHei"/>
              </a:rPr>
              <a:t>原问题新颖性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82896" y="1719072"/>
            <a:ext cx="1865376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10912" y="1837943"/>
            <a:ext cx="1609344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2563EB"/>
                </a:solidFill>
                <a:latin typeface="Microsoft YaHei"/>
              </a:rPr>
              <a:t>8/10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0912" y="2258568"/>
            <a:ext cx="160934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5B667A"/>
                </a:solidFill>
                <a:latin typeface="Microsoft YaHei"/>
              </a:rPr>
              <a:t>修订 Benchmark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04304" y="1719072"/>
            <a:ext cx="1865376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1837943"/>
            <a:ext cx="1609344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D97706"/>
                </a:solidFill>
                <a:latin typeface="Microsoft YaHei"/>
              </a:rPr>
              <a:t>5/10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258568"/>
            <a:ext cx="160934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5B667A"/>
                </a:solidFill>
                <a:latin typeface="Microsoft YaHei"/>
              </a:rPr>
              <a:t>当前 Controller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25712" y="1719072"/>
            <a:ext cx="1865376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53728" y="1837943"/>
            <a:ext cx="1609344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16803A"/>
                </a:solidFill>
                <a:latin typeface="Microsoft YaHei"/>
              </a:rPr>
              <a:t>8.5/10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2258568"/>
            <a:ext cx="160934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5B667A"/>
                </a:solidFill>
                <a:latin typeface="Microsoft YaHei"/>
              </a:rPr>
              <a:t>资源可行性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328416"/>
            <a:ext cx="3328416" cy="2057400"/>
          </a:xfrm>
          <a:prstGeom prst="roundRect">
            <a:avLst/>
          </a:prstGeom>
          <a:solidFill>
            <a:srgbClr val="FDE8E7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3328416"/>
            <a:ext cx="64008" cy="205740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3456432"/>
            <a:ext cx="30175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B42318"/>
                </a:solidFill>
                <a:latin typeface="Microsoft YaHei"/>
              </a:rPr>
              <a:t>不能再主张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3831336"/>
            <a:ext cx="3017520" cy="145389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172033"/>
                </a:solidFill>
                <a:latin typeface="Microsoft YaHei"/>
              </a:rPr>
              <a:t>首次提出 memory sufficiency、safe commitment、ask/verify/abstain、paired executable evaluation 或 memory operation as action。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25696" y="3328416"/>
            <a:ext cx="3328416" cy="2057400"/>
          </a:xfrm>
          <a:prstGeom prst="roundRect">
            <a:avLst/>
          </a:prstGeom>
          <a:solidFill>
            <a:srgbClr val="DDF3E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25696" y="3328416"/>
            <a:ext cx="64008" cy="2057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8576" y="3456432"/>
            <a:ext cx="30175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Microsoft YaHei"/>
              </a:rPr>
              <a:t>仍可主张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08576" y="3831336"/>
            <a:ext cx="3017520" cy="145389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172033"/>
                </a:solidFill>
                <a:latin typeface="Microsoft YaHei"/>
              </a:rPr>
              <a:t>来源感知 readiness、决定性证据来源迁移、动作翻转与闭合收敛、真实 memory stack 的逐层 oracle 诊断。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11312" y="3328416"/>
            <a:ext cx="3328416" cy="2057400"/>
          </a:xfrm>
          <a:prstGeom prst="roundRect">
            <a:avLst/>
          </a:prstGeom>
          <a:solidFill>
            <a:srgbClr val="FFF0D5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11312" y="3328416"/>
            <a:ext cx="64008" cy="2057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94192" y="3456432"/>
            <a:ext cx="30175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D97706"/>
                </a:solidFill>
                <a:latin typeface="Microsoft YaHei"/>
              </a:rPr>
              <a:t>最大风险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3831336"/>
            <a:ext cx="3017520" cy="145389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172033"/>
                </a:solidFill>
                <a:latin typeface="Microsoft YaHei"/>
              </a:rPr>
              <a:t>被审稿人理解为 SafeCommit + MCB + AgentAbstain 的组件拼接；必须用因果 family 和新发现消除这一印象。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16736" y="5760720"/>
            <a:ext cx="9555480" cy="466344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72768" y="5870448"/>
            <a:ext cx="90525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Decision: CONDITIONAL GO · 先做 20-task source-relocation pilot，再决定是否扩展。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" y="6528816"/>
            <a:ext cx="92811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Independent judgment after checking 2025–2026 conference and arXiv work.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02368" y="6528816"/>
            <a:ext cx="184708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MemReadyBench v2 · 2026-09-03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840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02 /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09728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为什么只看顶会会得出错误的新颖性判断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3236976" cy="1444752"/>
          </a:xfrm>
          <a:prstGeom prst="roundRect">
            <a:avLst/>
          </a:prstGeom>
          <a:solidFill>
            <a:srgbClr val="FDE8E7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64008" cy="1444752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65376"/>
            <a:ext cx="29260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B42318"/>
                </a:solidFill>
                <a:latin typeface="Microsoft YaHei"/>
              </a:rPr>
              <a:t>公开优先权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240280"/>
            <a:ext cx="2926080" cy="8412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172033"/>
                </a:solidFill>
                <a:latin typeface="Microsoft YaHei"/>
              </a:rPr>
              <a:t>预印本一旦公开，问题、术语和实验设计就会进入审稿人的 prior art；target venue 不是 accepted，但不能忽略。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71416" y="1737360"/>
            <a:ext cx="3236976" cy="1444752"/>
          </a:xfrm>
          <a:prstGeom prst="roundRect">
            <a:avLst/>
          </a:prstGeom>
          <a:solidFill>
            <a:srgbClr val="FFF0D5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71416" y="1737360"/>
            <a:ext cx="64008" cy="14447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54296" y="1865376"/>
            <a:ext cx="29260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D97706"/>
                </a:solidFill>
                <a:latin typeface="Microsoft YaHei"/>
              </a:rPr>
              <a:t>同期速度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2240280"/>
            <a:ext cx="2926080" cy="8412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172033"/>
                </a:solidFill>
                <a:latin typeface="Microsoft YaHei"/>
              </a:rPr>
              <a:t>SafeCommit、Router-Mem、MCB 都在 2026 年 8 月出现；只扫描已接收列表会错过最直接竞争者。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84464" y="1737360"/>
            <a:ext cx="3236976" cy="1444752"/>
          </a:xfrm>
          <a:prstGeom prst="roundRect">
            <a:avLst/>
          </a:prstGeom>
          <a:solidFill>
            <a:srgbClr val="E7EE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84464" y="1737360"/>
            <a:ext cx="64008" cy="14447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7344" y="1865376"/>
            <a:ext cx="29260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2563EB"/>
                </a:solidFill>
                <a:latin typeface="Microsoft YaHei"/>
              </a:rPr>
              <a:t>审查单位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4" y="2240280"/>
            <a:ext cx="2926080" cy="8412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172033"/>
                </a:solidFill>
                <a:latin typeface="Microsoft YaHei"/>
              </a:rPr>
              <a:t>不能只比标题；必须逐项核对 problem、action space、gold、counterfactual、execution 与 limitation。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3584448"/>
            <a:ext cx="2157984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Microsoft YaHei"/>
              </a:rPr>
              <a:t>本次检索的三层路径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" y="4023360"/>
            <a:ext cx="10826496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" y="4169664"/>
            <a:ext cx="420624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4142232"/>
            <a:ext cx="157276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Microsoft YaHei"/>
              </a:rPr>
              <a:t>直接问题词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4133088"/>
            <a:ext cx="809244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72033"/>
                </a:solidFill>
                <a:latin typeface="Aptos"/>
              </a:rPr>
              <a:t>memory sufficiency · safe commitment · verify/ask · abstention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6656" y="4681728"/>
            <a:ext cx="10826496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" y="4828032"/>
            <a:ext cx="420624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9888" y="4800600"/>
            <a:ext cx="157276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邻近机制词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4791456"/>
            <a:ext cx="809244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72033"/>
                </a:solidFill>
                <a:latin typeface="Aptos"/>
              </a:rPr>
              <a:t>tool necessity · clarification · provenance · memory skepticism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6" y="5340096"/>
            <a:ext cx="10826496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" y="5486400"/>
            <a:ext cx="420624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6D4BC3"/>
                </a:solidFill>
                <a:latin typeface="Aptos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9888" y="5458968"/>
            <a:ext cx="157276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6D4BC3"/>
                </a:solidFill>
                <a:latin typeface="Microsoft YaHei"/>
              </a:rPr>
              <a:t>反向核验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3240" y="5449824"/>
            <a:ext cx="809244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72033"/>
                </a:solidFill>
                <a:latin typeface="Aptos"/>
              </a:rPr>
              <a:t>从最接近论文的 limitation 倒推仍未覆盖的交叉点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" y="6528816"/>
            <a:ext cx="92811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Audit cutoff: 2026-09-03. Acceptance claims are separated from submitted/target status.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02368" y="6528816"/>
            <a:ext cx="184708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MemReadyBench v2 · 2026-09-03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840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02 /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09728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2026 同期时间线：原问题空间在半年内迅速拥挤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3657600"/>
            <a:ext cx="10424160" cy="54864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3474720"/>
            <a:ext cx="384048" cy="384048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2944368"/>
            <a:ext cx="18288" cy="548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4632" y="1856231"/>
            <a:ext cx="13441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984248"/>
            <a:ext cx="112471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JAN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276856"/>
            <a:ext cx="1124712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Aptos"/>
              </a:rPr>
              <a:t>MetaMem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Aptos"/>
              </a:rPr>
              <a:t>Agentic UQ</a:t>
            </a:r>
          </a:p>
        </p:txBody>
      </p:sp>
      <p:sp>
        <p:nvSpPr>
          <p:cNvPr id="14" name="Oval 13"/>
          <p:cNvSpPr/>
          <p:nvPr/>
        </p:nvSpPr>
        <p:spPr>
          <a:xfrm>
            <a:off x="2468880" y="3474720"/>
            <a:ext cx="384048" cy="38404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51760" y="3849624"/>
            <a:ext cx="18288" cy="5577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993392" y="4407408"/>
            <a:ext cx="13441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0" y="4535424"/>
            <a:ext cx="112471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FEB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828032"/>
            <a:ext cx="1124712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Aptos"/>
              </a:rPr>
              <a:t>InfMem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Aptos"/>
              </a:rPr>
              <a:t>Calibrate-Then-Act</a:t>
            </a:r>
          </a:p>
        </p:txBody>
      </p:sp>
      <p:sp>
        <p:nvSpPr>
          <p:cNvPr id="19" name="Oval 18"/>
          <p:cNvSpPr/>
          <p:nvPr/>
        </p:nvSpPr>
        <p:spPr>
          <a:xfrm>
            <a:off x="4133087" y="3474720"/>
            <a:ext cx="384048" cy="384048"/>
          </a:xfrm>
          <a:prstGeom prst="ellipse">
            <a:avLst/>
          </a:prstGeom>
          <a:solidFill>
            <a:srgbClr val="6D4BC3"/>
          </a:solidFill>
          <a:ln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15968" y="2944368"/>
            <a:ext cx="18288" cy="548640"/>
          </a:xfrm>
          <a:prstGeom prst="rect">
            <a:avLst/>
          </a:prstGeom>
          <a:solidFill>
            <a:srgbClr val="6D4BC3"/>
          </a:solidFill>
          <a:ln w="12700"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57599" y="1856231"/>
            <a:ext cx="13441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67327" y="1984248"/>
            <a:ext cx="112471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6D4BC3"/>
                </a:solidFill>
                <a:latin typeface="Aptos"/>
              </a:rPr>
              <a:t>MAR–APR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67327" y="2276856"/>
            <a:ext cx="1124712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Aptos"/>
              </a:rPr>
              <a:t>Oblivion · KnowU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Aptos"/>
              </a:rPr>
              <a:t>RSCB-MC</a:t>
            </a:r>
          </a:p>
        </p:txBody>
      </p:sp>
      <p:sp>
        <p:nvSpPr>
          <p:cNvPr id="24" name="Oval 23"/>
          <p:cNvSpPr/>
          <p:nvPr/>
        </p:nvSpPr>
        <p:spPr>
          <a:xfrm>
            <a:off x="5925312" y="3474720"/>
            <a:ext cx="384048" cy="384048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08192" y="3849624"/>
            <a:ext cx="18288" cy="5577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49824" y="4407408"/>
            <a:ext cx="13441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59552" y="4535424"/>
            <a:ext cx="112471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D97706"/>
                </a:solidFill>
                <a:latin typeface="Aptos"/>
              </a:rPr>
              <a:t>MAY–JUN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59552" y="4828032"/>
            <a:ext cx="1124712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Aptos"/>
              </a:rPr>
              <a:t>SURE-RAG · When2Tool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Aptos"/>
              </a:rPr>
              <a:t>CICL · ProvenanceGuard</a:t>
            </a:r>
          </a:p>
        </p:txBody>
      </p:sp>
      <p:sp>
        <p:nvSpPr>
          <p:cNvPr id="29" name="Oval 28"/>
          <p:cNvSpPr/>
          <p:nvPr/>
        </p:nvSpPr>
        <p:spPr>
          <a:xfrm>
            <a:off x="7955279" y="3474720"/>
            <a:ext cx="384048" cy="384048"/>
          </a:xfrm>
          <a:prstGeom prst="ellipse">
            <a:avLst/>
          </a:prstGeom>
          <a:solidFill>
            <a:srgbClr val="B42318"/>
          </a:solidFill>
          <a:ln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59" y="2944368"/>
            <a:ext cx="18288" cy="54864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79792" y="1856231"/>
            <a:ext cx="13441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19" y="1984248"/>
            <a:ext cx="112471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B42318"/>
                </a:solidFill>
                <a:latin typeface="Aptos"/>
              </a:rPr>
              <a:t>JUL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19" y="2276856"/>
            <a:ext cx="1124712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Aptos"/>
              </a:rPr>
              <a:t>MemSyco · AgentAbstain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Aptos"/>
              </a:rPr>
              <a:t>MemCon</a:t>
            </a:r>
          </a:p>
        </p:txBody>
      </p:sp>
      <p:sp>
        <p:nvSpPr>
          <p:cNvPr id="34" name="Oval 33"/>
          <p:cNvSpPr/>
          <p:nvPr/>
        </p:nvSpPr>
        <p:spPr>
          <a:xfrm>
            <a:off x="9893808" y="3474720"/>
            <a:ext cx="384048" cy="384048"/>
          </a:xfrm>
          <a:prstGeom prst="ellipse">
            <a:avLst/>
          </a:prstGeom>
          <a:solidFill>
            <a:srgbClr val="16803A"/>
          </a:solidFill>
          <a:ln>
            <a:solidFill>
              <a:srgbClr val="168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76688" y="3849624"/>
            <a:ext cx="18288" cy="557784"/>
          </a:xfrm>
          <a:prstGeom prst="rect">
            <a:avLst/>
          </a:prstGeom>
          <a:solidFill>
            <a:srgbClr val="16803A"/>
          </a:solidFill>
          <a:ln w="12700">
            <a:solidFill>
              <a:srgbClr val="168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18320" y="4407408"/>
            <a:ext cx="13441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28048" y="4535424"/>
            <a:ext cx="112471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6803A"/>
                </a:solidFill>
                <a:latin typeface="Aptos"/>
              </a:rPr>
              <a:t>AUG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28048" y="4828032"/>
            <a:ext cx="1124712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Aptos"/>
              </a:rPr>
              <a:t>Router-Mem · SafeCommit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Aptos"/>
              </a:rPr>
              <a:t>MCB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371600" y="5897880"/>
            <a:ext cx="9345168" cy="384048"/>
          </a:xfrm>
          <a:prstGeom prst="roundRect">
            <a:avLst/>
          </a:prstGeom>
          <a:solidFill>
            <a:srgbClr val="FDE8E7"/>
          </a:solidFill>
          <a:ln w="12700">
            <a:solidFill>
              <a:srgbClr val="FDE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09344" y="5980176"/>
            <a:ext cx="886968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B42318"/>
                </a:solidFill>
                <a:latin typeface="Microsoft YaHei"/>
              </a:rPr>
              <a:t>结论：会议接收列表是滞后视图；选题检查必须把最新 arXiv 当成正式竞争集合。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4" y="6528816"/>
            <a:ext cx="92811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Dates are first arXiv submission dates; venue labels are used only when explicitly confirmed.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02368" y="6528816"/>
            <a:ext cx="184708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MemReadyBench v2 · 2026-09-03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840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03 / CLOSEST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09728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SafeCommit：最直接竞争者，也是必须正面承认的边界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3429000" cy="2011680"/>
          </a:xfrm>
          <a:prstGeom prst="roundRect">
            <a:avLst/>
          </a:prstGeom>
          <a:solidFill>
            <a:srgbClr val="FDE8E7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64008" cy="201168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847088"/>
            <a:ext cx="3118104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B42318"/>
                </a:solidFill>
                <a:latin typeface="Microsoft YaHei"/>
              </a:rPr>
              <a:t>它已经做了什么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221991"/>
            <a:ext cx="3118104" cy="1408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172033"/>
                </a:solidFill>
                <a:latin typeface="Microsoft YaHei"/>
              </a:rPr>
              <a:t>在 stale、conflicting、incomplete、corrupted memory 下构造 plausible worlds；只有 proposed action 在保留世界中均安全才 commit，否则 probe 或 fallback。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1719072"/>
            <a:ext cx="3429000" cy="2011680"/>
          </a:xfrm>
          <a:prstGeom prst="roundRect">
            <a:avLst/>
          </a:prstGeom>
          <a:solidFill>
            <a:srgbClr val="FFF0D5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9976" y="1719072"/>
            <a:ext cx="64008" cy="2011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6" y="1847088"/>
            <a:ext cx="3118104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D97706"/>
                </a:solidFill>
                <a:latin typeface="Microsoft YaHei"/>
              </a:rPr>
              <a:t>与原方案重叠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2221991"/>
            <a:ext cx="3118104" cy="1408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172033"/>
                </a:solidFill>
                <a:latin typeface="Microsoft YaHei"/>
              </a:rPr>
              <a:t>行动前充分性、premature commitment、风险-成本权衡、主动探测、确定性 simulator 与失败分解几乎全部重叠。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719072"/>
            <a:ext cx="3429000" cy="2011680"/>
          </a:xfrm>
          <a:prstGeom prst="roundRect">
            <a:avLst/>
          </a:prstGeom>
          <a:solidFill>
            <a:srgbClr val="DDF3E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9872" y="1719072"/>
            <a:ext cx="64008" cy="2011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847088"/>
            <a:ext cx="3118104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0F766E"/>
                </a:solidFill>
                <a:latin typeface="Microsoft YaHei"/>
              </a:rPr>
              <a:t>它明确留下什么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221991"/>
            <a:ext cx="3118104" cy="1408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172033"/>
                </a:solidFill>
                <a:latin typeface="Microsoft YaHei"/>
              </a:rPr>
              <a:t>作者把评测定位为 proof-of-concept：显式小 world set、固定动作与 safety map、确定性二值 probe，未系统测试真实 memory stack。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105656"/>
            <a:ext cx="235915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Microsoft YaHei"/>
              </a:rPr>
              <a:t>写作上必须改变的句子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498848"/>
            <a:ext cx="5084064" cy="1143000"/>
          </a:xfrm>
          <a:prstGeom prst="roundRect">
            <a:avLst/>
          </a:prstGeom>
          <a:solidFill>
            <a:srgbClr val="FDE8E7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727448"/>
            <a:ext cx="8229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B42318"/>
                </a:solidFill>
                <a:latin typeface="Microsoft YaHei"/>
              </a:rPr>
              <a:t>不要写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55648" y="4681728"/>
            <a:ext cx="3685032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tos"/>
              </a:rPr>
              <a:t>We are the first to ask whether memory is sufficient to act.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89320" y="4498848"/>
            <a:ext cx="5559552" cy="1143000"/>
          </a:xfrm>
          <a:prstGeom prst="roundRect">
            <a:avLst/>
          </a:prstGeom>
          <a:solidFill>
            <a:srgbClr val="DDF3E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6208" y="4727448"/>
            <a:ext cx="694944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Microsoft YaHei"/>
              </a:rPr>
              <a:t>改成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4599432"/>
            <a:ext cx="4279392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Aptos"/>
              </a:rPr>
              <a:t>We diagnose where unresolved action requirements can be authoritatively resolved and whether agents route acquisition correctly.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" y="6528816"/>
            <a:ext cx="92811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SafeCommit, arXiv:2608.04289, submitted 2026-08-04.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02368" y="6528816"/>
            <a:ext cx="184708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MemReadyBench v2 · 2026-09-03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840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03 / CLOSEST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09728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竞争矩阵：每个旧卖点都已经有明确邻居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1965960" cy="585216"/>
          </a:xfrm>
          <a:prstGeom prst="rect">
            <a:avLst/>
          </a:prstGeom>
          <a:solidFill>
            <a:srgbClr val="17203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746504"/>
            <a:ext cx="1856231" cy="4937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工作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39" y="1691640"/>
            <a:ext cx="3703320" cy="585216"/>
          </a:xfrm>
          <a:prstGeom prst="rect">
            <a:avLst/>
          </a:prstGeom>
          <a:solidFill>
            <a:srgbClr val="17203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60903" y="1746504"/>
            <a:ext cx="3593591" cy="4937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已有核心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1691640"/>
            <a:ext cx="5230368" cy="585216"/>
          </a:xfrm>
          <a:prstGeom prst="rect">
            <a:avLst/>
          </a:prstGeom>
          <a:solidFill>
            <a:srgbClr val="17203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3" y="1746504"/>
            <a:ext cx="5120640" cy="4937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与本方向的关键边界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276856"/>
            <a:ext cx="19659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322576"/>
            <a:ext cx="1856231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SafeCommit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06039" y="2276856"/>
            <a:ext cx="37033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60903" y="2322576"/>
            <a:ext cx="3593591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commit / probe / fallback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59" y="2276856"/>
            <a:ext cx="523036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3" y="2322576"/>
            <a:ext cx="512064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小型显式 worlds；非真实 memory stack 诊断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862072"/>
            <a:ext cx="1965960" cy="585216"/>
          </a:xfrm>
          <a:prstGeom prst="rect">
            <a:avLst/>
          </a:prstGeom>
          <a:solidFill>
            <a:srgbClr val="EDF1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07791"/>
            <a:ext cx="1856231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MCB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06039" y="2862072"/>
            <a:ext cx="3703320" cy="585216"/>
          </a:xfrm>
          <a:prstGeom prst="rect">
            <a:avLst/>
          </a:prstGeom>
          <a:solidFill>
            <a:srgbClr val="EDF1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60903" y="2907791"/>
            <a:ext cx="3593591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persist / local / verify / ask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59" y="2862072"/>
            <a:ext cx="5230368" cy="585216"/>
          </a:xfrm>
          <a:prstGeom prst="rect">
            <a:avLst/>
          </a:prstGeom>
          <a:solidFill>
            <a:srgbClr val="EDF1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3" y="2907791"/>
            <a:ext cx="512064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写入边界；不执行 acquisition 与下游 action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447288"/>
            <a:ext cx="19659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493008"/>
            <a:ext cx="1856231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AgentAbstain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06039" y="3447288"/>
            <a:ext cx="37033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60903" y="3493008"/>
            <a:ext cx="3593591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paired act/abstain + sandbox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59" y="3447288"/>
            <a:ext cx="523036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64223" y="3493008"/>
            <a:ext cx="512064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干预 instruction/tool/env，而非持久记忆来源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032504"/>
            <a:ext cx="1965960" cy="585216"/>
          </a:xfrm>
          <a:prstGeom prst="rect">
            <a:avLst/>
          </a:prstGeom>
          <a:solidFill>
            <a:srgbClr val="EDF1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078224"/>
            <a:ext cx="1856231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Router-Mem / InfMem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06039" y="4032504"/>
            <a:ext cx="3703320" cy="585216"/>
          </a:xfrm>
          <a:prstGeom prst="rect">
            <a:avLst/>
          </a:prstGeom>
          <a:solidFill>
            <a:srgbClr val="EDF1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60903" y="4078224"/>
            <a:ext cx="3593591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sufficiency router + memory control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59" y="4032504"/>
            <a:ext cx="5230368" cy="585216"/>
          </a:xfrm>
          <a:prstGeom prst="rect">
            <a:avLst/>
          </a:prstGeom>
          <a:solidFill>
            <a:srgbClr val="EDF1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4223" y="4078224"/>
            <a:ext cx="512064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QA/效率；无 memory/world/user 来源路由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4617720"/>
            <a:ext cx="19659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944" y="4663440"/>
            <a:ext cx="1856231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SURE-RAG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06039" y="4617720"/>
            <a:ext cx="37033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60903" y="4663440"/>
            <a:ext cx="3593591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set-level evidence sufficiency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59" y="4617720"/>
            <a:ext cx="523036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64223" y="4663440"/>
            <a:ext cx="512064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RAG answer verification，不是外部副作用行动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5202936"/>
            <a:ext cx="1965960" cy="585216"/>
          </a:xfrm>
          <a:prstGeom prst="rect">
            <a:avLst/>
          </a:prstGeom>
          <a:solidFill>
            <a:srgbClr val="EDF1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" y="5248655"/>
            <a:ext cx="1856231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MemSyco-Bench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06039" y="5202936"/>
            <a:ext cx="3703320" cy="585216"/>
          </a:xfrm>
          <a:prstGeom prst="rect">
            <a:avLst/>
          </a:prstGeom>
          <a:solidFill>
            <a:srgbClr val="EDF1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60903" y="5248655"/>
            <a:ext cx="3593591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memory skepticism / conflict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59" y="5202936"/>
            <a:ext cx="5230368" cy="585216"/>
          </a:xfrm>
          <a:prstGeom prst="rect">
            <a:avLst/>
          </a:prstGeom>
          <a:solidFill>
            <a:srgbClr val="EDF1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64223" y="5248655"/>
            <a:ext cx="512064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聚焦迎合，不统一测缺失证据获取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" y="5788152"/>
            <a:ext cx="19659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" y="5833872"/>
            <a:ext cx="1856231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MemCon / Oblivion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06039" y="5788152"/>
            <a:ext cx="37033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660903" y="5833872"/>
            <a:ext cx="3593591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memory operation policy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9359" y="5788152"/>
            <a:ext cx="523036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64223" y="5833872"/>
            <a:ext cx="512064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是待测方法，不提供统一 decision-point gold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" y="6382512"/>
            <a:ext cx="10899648" cy="27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2064" y="6528816"/>
            <a:ext cx="92811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Full matrix and status notes: docs/reports/2026-09-03-memreadybench-concurrent-arxiv-audit.md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02368" y="6528816"/>
            <a:ext cx="184708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MemReadyBench v2 · 2026-09-03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840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04 /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09728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创新不能落在组件，要落在尚未被共同覆盖的交叉点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4663440" cy="4315968"/>
          </a:xfrm>
          <a:prstGeom prst="roundRect">
            <a:avLst/>
          </a:prstGeom>
          <a:solidFill>
            <a:srgbClr val="FDE8E7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126187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B42318"/>
                </a:solidFill>
                <a:latin typeface="Microsoft YaHei"/>
              </a:rPr>
              <a:t>已被覆盖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87168"/>
            <a:ext cx="4078224" cy="309067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B42318"/>
                </a:solidFill>
                <a:latin typeface="Microsoft YaHei"/>
              </a:rPr>
              <a:t>• </a:t>
            </a:r>
            <a:r>
              <a:rPr sz="1300">
                <a:solidFill>
                  <a:srgbClr val="172033"/>
                </a:solidFill>
                <a:latin typeface="Microsoft YaHei"/>
              </a:rPr>
              <a:t>evidence sufficiency / retrieve-or-stop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B42318"/>
                </a:solidFill>
                <a:latin typeface="Microsoft YaHei"/>
              </a:rPr>
              <a:t>• </a:t>
            </a:r>
            <a:r>
              <a:rPr sz="1300">
                <a:solidFill>
                  <a:srgbClr val="172033"/>
                </a:solidFill>
                <a:latin typeface="Microsoft YaHei"/>
              </a:rPr>
              <a:t>safe commitment / probe / fallback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B42318"/>
                </a:solidFill>
                <a:latin typeface="Microsoft YaHei"/>
              </a:rPr>
              <a:t>• </a:t>
            </a:r>
            <a:r>
              <a:rPr sz="1300">
                <a:solidFill>
                  <a:srgbClr val="172033"/>
                </a:solidFill>
                <a:latin typeface="Microsoft YaHei"/>
              </a:rPr>
              <a:t>verify world / ask user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B42318"/>
                </a:solidFill>
                <a:latin typeface="Microsoft YaHei"/>
              </a:rPr>
              <a:t>• </a:t>
            </a:r>
            <a:r>
              <a:rPr sz="1300">
                <a:solidFill>
                  <a:srgbClr val="172033"/>
                </a:solidFill>
                <a:latin typeface="Microsoft YaHei"/>
              </a:rPr>
              <a:t>act-abstain paired tasks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B42318"/>
                </a:solidFill>
                <a:latin typeface="Microsoft YaHei"/>
              </a:rPr>
              <a:t>• </a:t>
            </a:r>
            <a:r>
              <a:rPr sz="1300">
                <a:solidFill>
                  <a:srgbClr val="172033"/>
                </a:solidFill>
                <a:latin typeface="Microsoft YaHei"/>
              </a:rPr>
              <a:t>memory operation as action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B42318"/>
                </a:solidFill>
                <a:latin typeface="Microsoft YaHei"/>
              </a:rPr>
              <a:t>• </a:t>
            </a:r>
            <a:r>
              <a:rPr sz="1300">
                <a:solidFill>
                  <a:srgbClr val="172033"/>
                </a:solidFill>
                <a:latin typeface="Microsoft YaHei"/>
              </a:rPr>
              <a:t>stale / conflict / poison / authority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B42318"/>
                </a:solidFill>
                <a:latin typeface="Microsoft YaHei"/>
              </a:rPr>
              <a:t>• </a:t>
            </a:r>
            <a:r>
              <a:rPr sz="1300">
                <a:solidFill>
                  <a:srgbClr val="172033"/>
                </a:solidFill>
                <a:latin typeface="Microsoft YaHei"/>
              </a:rPr>
              <a:t>setwise verifier 与风险校准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1737360"/>
            <a:ext cx="5870448" cy="4315968"/>
          </a:xfrm>
          <a:prstGeom prst="roundRect">
            <a:avLst/>
          </a:prstGeom>
          <a:solidFill>
            <a:srgbClr val="DDF3E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61888" y="2011680"/>
            <a:ext cx="232257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0F766E"/>
                </a:solidFill>
                <a:latin typeface="Microsoft YaHei"/>
              </a:rPr>
              <a:t>仍可形成统一贡献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61888" y="2532888"/>
            <a:ext cx="2395728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71616" y="2624328"/>
            <a:ext cx="217627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Aptos"/>
              </a:rPr>
              <a:t>Persistent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71616" y="2889504"/>
            <a:ext cx="21762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交互生成、跨 session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31936" y="2532888"/>
            <a:ext cx="2395728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41663" y="2624328"/>
            <a:ext cx="217627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6D4BC3"/>
                </a:solidFill>
                <a:latin typeface="Aptos"/>
              </a:rPr>
              <a:t>Source-aware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41663" y="2889504"/>
            <a:ext cx="21762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memory / world / user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61888" y="3465576"/>
            <a:ext cx="2395728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71616" y="3557016"/>
            <a:ext cx="217627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ptos"/>
              </a:rPr>
              <a:t>Counterfactual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1616" y="3822191"/>
            <a:ext cx="21762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移动决定性证据来源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31936" y="3465576"/>
            <a:ext cx="2395728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41663" y="3557016"/>
            <a:ext cx="217627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Decision gold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41663" y="3822191"/>
            <a:ext cx="21762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readiness / requirement / action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61888" y="4398264"/>
            <a:ext cx="2395728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71616" y="4489704"/>
            <a:ext cx="217627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6803A"/>
                </a:solidFill>
                <a:latin typeface="Aptos"/>
              </a:rPr>
              <a:t>Executable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71616" y="4754880"/>
            <a:ext cx="21762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获取后闭合并验证终态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31936" y="4398264"/>
            <a:ext cx="2395728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41663" y="4489704"/>
            <a:ext cx="217627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B42318"/>
                </a:solidFill>
                <a:latin typeface="Aptos"/>
              </a:rPr>
              <a:t>Diagnostic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41663" y="4754880"/>
            <a:ext cx="21762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oracle 分离系统瓶颈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6528816"/>
            <a:ext cx="92811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The contribution is the controlled intersection, not any single component.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02368" y="6528816"/>
            <a:ext cx="184708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MemReadyBench v2 · 2026-09-03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840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04 /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09728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修订后的研究问题：Source-Aware Action Readiness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746504"/>
            <a:ext cx="10789920" cy="1078992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75104"/>
            <a:ext cx="10204704" cy="5852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给定历史交互形成的持久记忆、当前工作 packet 和 world/user 接口，Agent 能否识别尚未闭合的行动条件，定位其权威来源，并在外部副作用发生前选择正确的信息获取或承诺动作？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429000"/>
            <a:ext cx="2340864" cy="1417320"/>
          </a:xfrm>
          <a:prstGeom prst="roundRect">
            <a:avLst/>
          </a:prstGeom>
          <a:solidFill>
            <a:srgbClr val="E7EE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529584"/>
            <a:ext cx="21214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Aptos"/>
              </a:rPr>
              <a:t>WHAT IS MISSING?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13048"/>
            <a:ext cx="2121408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哪个 requirement 尚未闭合？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38144" y="3429000"/>
            <a:ext cx="2340864" cy="1417320"/>
          </a:xfrm>
          <a:prstGeom prst="roundRect">
            <a:avLst/>
          </a:prstGeom>
          <a:solidFill>
            <a:srgbClr val="EFE9FF"/>
          </a:solidFill>
          <a:ln w="12700"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3529584"/>
            <a:ext cx="21214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6D4BC3"/>
                </a:solidFill>
                <a:latin typeface="Aptos"/>
              </a:rPr>
              <a:t>WHERE IS IT?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813048"/>
            <a:ext cx="2121408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packet、memory、world、user 还是不可得？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3429000"/>
            <a:ext cx="2340864" cy="1417320"/>
          </a:xfrm>
          <a:prstGeom prst="roundRect">
            <a:avLst/>
          </a:prstGeom>
          <a:solidFill>
            <a:srgbClr val="FFF0D5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2784" y="3529584"/>
            <a:ext cx="21214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ptos"/>
              </a:rPr>
              <a:t>WHAT NEXT?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4" y="3813048"/>
            <a:ext cx="2121408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search、verify、ask、execute 还是 abstain？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87968" y="3429000"/>
            <a:ext cx="2340864" cy="1417320"/>
          </a:xfrm>
          <a:prstGeom prst="roundRect">
            <a:avLst/>
          </a:prstGeom>
          <a:solidFill>
            <a:srgbClr val="E4F4E8"/>
          </a:solidFill>
          <a:ln w="12700">
            <a:solidFill>
              <a:srgbClr val="168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7696" y="3529584"/>
            <a:ext cx="21214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6803A"/>
                </a:solidFill>
                <a:latin typeface="Aptos"/>
              </a:rPr>
              <a:t>DID IT CLOSE?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7696" y="3813048"/>
            <a:ext cx="2121408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获取后是否收敛到可验证行动？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07008" y="5394960"/>
            <a:ext cx="978408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81328" y="5577840"/>
            <a:ext cx="92354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0F766E"/>
                </a:solidFill>
                <a:latin typeface="Microsoft YaHei"/>
              </a:rPr>
              <a:t>SafeCommit 判断 proposed action 是否可认证；MemReadyBench 评测真实 Agent 能否发现缺口、找到来源并达到可执行闭合。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6528816"/>
            <a:ext cx="92811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Recommended positioning sentence against SafeCommit.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02368" y="6528816"/>
            <a:ext cx="184708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MemReadyBench v2 · 2026-09-03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840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05 / FORMALIZATION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09728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两层状态、五个动作、四类 Gold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46504"/>
            <a:ext cx="1508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Microsoft YaHei"/>
              </a:rPr>
              <a:t>行动准备度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157984"/>
            <a:ext cx="1828800" cy="530352"/>
          </a:xfrm>
          <a:prstGeom prst="roundRect">
            <a:avLst/>
          </a:prstGeom>
          <a:solidFill>
            <a:srgbClr val="E4F4E8"/>
          </a:solidFill>
          <a:ln w="25400">
            <a:solidFill>
              <a:srgbClr val="168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2304288"/>
            <a:ext cx="168249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6803A"/>
                </a:solidFill>
                <a:latin typeface="Aptos"/>
              </a:rPr>
              <a:t>READY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2157984"/>
            <a:ext cx="1828800" cy="530352"/>
          </a:xfrm>
          <a:prstGeom prst="roundRect">
            <a:avLst/>
          </a:prstGeom>
          <a:solidFill>
            <a:srgbClr val="FFF0D5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70632" y="2304288"/>
            <a:ext cx="168249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ptos"/>
              </a:rPr>
              <a:t>NOT_READY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36592" y="2157984"/>
            <a:ext cx="1828800" cy="530352"/>
          </a:xfrm>
          <a:prstGeom prst="roundRect">
            <a:avLst/>
          </a:prstGeom>
          <a:solidFill>
            <a:srgbClr val="FDE8E7"/>
          </a:solidFill>
          <a:ln w="254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9744" y="2304288"/>
            <a:ext cx="168249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B42318"/>
                </a:solidFill>
                <a:latin typeface="Aptos"/>
              </a:rPr>
              <a:t>CONFLICTED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944368"/>
            <a:ext cx="16916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Microsoft YaHei"/>
              </a:rPr>
              <a:t>缺失证据来源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355848"/>
            <a:ext cx="1975104" cy="530352"/>
          </a:xfrm>
          <a:prstGeom prst="roundRect">
            <a:avLst/>
          </a:prstGeom>
          <a:solidFill>
            <a:srgbClr val="DDF3E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19" y="3502152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CURRENT_PACKET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07208" y="3355848"/>
            <a:ext cx="1975104" cy="530352"/>
          </a:xfrm>
          <a:prstGeom prst="roundRect">
            <a:avLst/>
          </a:prstGeom>
          <a:solidFill>
            <a:srgbClr val="E7EE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360" y="3502152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Aptos"/>
              </a:rPr>
              <a:t>PERSISTENT_MEMORY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56048" y="3355848"/>
            <a:ext cx="1975104" cy="530352"/>
          </a:xfrm>
          <a:prstGeom prst="roundRect">
            <a:avLst/>
          </a:prstGeom>
          <a:solidFill>
            <a:srgbClr val="EFE9FF"/>
          </a:solidFill>
          <a:ln w="25400"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3502152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6D4BC3"/>
                </a:solidFill>
                <a:latin typeface="Aptos"/>
              </a:rPr>
              <a:t>WORLD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04888" y="3355848"/>
            <a:ext cx="1975104" cy="530352"/>
          </a:xfrm>
          <a:prstGeom prst="roundRect">
            <a:avLst/>
          </a:prstGeom>
          <a:solidFill>
            <a:srgbClr val="FFF0D5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78040" y="3502152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ptos"/>
              </a:rPr>
              <a:t>USER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53728" y="3355848"/>
            <a:ext cx="1975104" cy="530352"/>
          </a:xfrm>
          <a:prstGeom prst="roundRect">
            <a:avLst/>
          </a:prstGeom>
          <a:solidFill>
            <a:srgbClr val="FDE8E7"/>
          </a:solidFill>
          <a:ln w="254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3502152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B42318"/>
                </a:solidFill>
                <a:latin typeface="Aptos"/>
              </a:rPr>
              <a:t>UNAVAILABLE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133087"/>
            <a:ext cx="12344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Microsoft YaHei"/>
              </a:rPr>
              <a:t>控制动作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544568"/>
            <a:ext cx="1975104" cy="530352"/>
          </a:xfrm>
          <a:prstGeom prst="roundRect">
            <a:avLst/>
          </a:prstGeom>
          <a:solidFill>
            <a:srgbClr val="E7EE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19" y="4690872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Aptos"/>
              </a:rPr>
              <a:t>SEARCH_MEMORY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07208" y="4544568"/>
            <a:ext cx="1975104" cy="530352"/>
          </a:xfrm>
          <a:prstGeom prst="roundRect">
            <a:avLst/>
          </a:prstGeom>
          <a:solidFill>
            <a:srgbClr val="EFE9FF"/>
          </a:solidFill>
          <a:ln w="25400"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80360" y="4690872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6D4BC3"/>
                </a:solidFill>
                <a:latin typeface="Aptos"/>
              </a:rPr>
              <a:t>VERIFY_WORLD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56048" y="4544568"/>
            <a:ext cx="1975104" cy="530352"/>
          </a:xfrm>
          <a:prstGeom prst="roundRect">
            <a:avLst/>
          </a:prstGeom>
          <a:solidFill>
            <a:srgbClr val="FFF0D5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0" y="4690872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ptos"/>
              </a:rPr>
              <a:t>ASK_USER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04888" y="4544568"/>
            <a:ext cx="1975104" cy="530352"/>
          </a:xfrm>
          <a:prstGeom prst="roundRect">
            <a:avLst/>
          </a:prstGeom>
          <a:solidFill>
            <a:srgbClr val="E4F4E8"/>
          </a:solidFill>
          <a:ln w="25400">
            <a:solidFill>
              <a:srgbClr val="168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78040" y="4690872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6803A"/>
                </a:solidFill>
                <a:latin typeface="Aptos"/>
              </a:rPr>
              <a:t>EXECUTE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53728" y="4544568"/>
            <a:ext cx="1975104" cy="530352"/>
          </a:xfrm>
          <a:prstGeom prst="roundRect">
            <a:avLst/>
          </a:prstGeom>
          <a:solidFill>
            <a:srgbClr val="FDE8E7"/>
          </a:solidFill>
          <a:ln w="254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0" y="4690872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B42318"/>
                </a:solidFill>
                <a:latin typeface="Aptos"/>
              </a:rPr>
              <a:t>ABSTAIN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413248"/>
            <a:ext cx="10899648" cy="722376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641848"/>
            <a:ext cx="2331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LATENT WORLD</a:t>
            </a:r>
          </a:p>
        </p:txBody>
      </p:sp>
      <p:sp>
        <p:nvSpPr>
          <p:cNvPr id="39" name="Chevron 38"/>
          <p:cNvSpPr/>
          <p:nvPr/>
        </p:nvSpPr>
        <p:spPr>
          <a:xfrm>
            <a:off x="3246120" y="5605272"/>
            <a:ext cx="201168" cy="283464"/>
          </a:xfrm>
          <a:prstGeom prst="chevron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20439" y="5641848"/>
            <a:ext cx="2331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OBSERVABLE STATE</a:t>
            </a:r>
          </a:p>
        </p:txBody>
      </p:sp>
      <p:sp>
        <p:nvSpPr>
          <p:cNvPr id="41" name="Chevron 40"/>
          <p:cNvSpPr/>
          <p:nvPr/>
        </p:nvSpPr>
        <p:spPr>
          <a:xfrm>
            <a:off x="5897879" y="5605272"/>
            <a:ext cx="201168" cy="283464"/>
          </a:xfrm>
          <a:prstGeom prst="chevron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5641848"/>
            <a:ext cx="2331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ADMISSIBLE SET</a:t>
            </a:r>
          </a:p>
        </p:txBody>
      </p:sp>
      <p:sp>
        <p:nvSpPr>
          <p:cNvPr id="43" name="Chevron 42"/>
          <p:cNvSpPr/>
          <p:nvPr/>
        </p:nvSpPr>
        <p:spPr>
          <a:xfrm>
            <a:off x="8549640" y="5605272"/>
            <a:ext cx="201168" cy="283464"/>
          </a:xfrm>
          <a:prstGeom prst="chevron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23959" y="5641848"/>
            <a:ext cx="2331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DDF3EF"/>
                </a:solidFill>
                <a:latin typeface="Aptos"/>
              </a:rPr>
              <a:t>ORACLE ACTION + REGRET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064" y="6528816"/>
            <a:ext cx="92811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Separating latent truth from observable admissibility avoids impossible supervision.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02368" y="6528816"/>
            <a:ext cx="184708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MemReadyBench v2 · 2026-09-03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840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06 / DATA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09728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核心数据资产：Source × Integrity 因子化反事实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20574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SOURCE LOCATION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084831"/>
            <a:ext cx="1627632" cy="960120"/>
          </a:xfrm>
          <a:prstGeom prst="roundRect">
            <a:avLst/>
          </a:prstGeom>
          <a:solidFill>
            <a:srgbClr val="DDF3E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185415"/>
            <a:ext cx="140817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Packet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468879"/>
            <a:ext cx="1408176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EXECUTE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87168" y="2084831"/>
            <a:ext cx="1627632" cy="960120"/>
          </a:xfrm>
          <a:prstGeom prst="roundRect">
            <a:avLst/>
          </a:prstGeom>
          <a:solidFill>
            <a:srgbClr val="E7EE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96896" y="2185415"/>
            <a:ext cx="140817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Aptos"/>
              </a:rPr>
              <a:t>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6896" y="2468879"/>
            <a:ext cx="1408176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SEARCH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2084831"/>
            <a:ext cx="1627632" cy="960120"/>
          </a:xfrm>
          <a:prstGeom prst="roundRect">
            <a:avLst/>
          </a:prstGeom>
          <a:solidFill>
            <a:srgbClr val="EFE9FF"/>
          </a:solidFill>
          <a:ln w="12700"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5696" y="2185415"/>
            <a:ext cx="140817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6D4BC3"/>
                </a:solidFill>
                <a:latin typeface="Aptos"/>
              </a:rPr>
              <a:t>World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696" y="2468879"/>
            <a:ext cx="1408176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VERIFY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2084831"/>
            <a:ext cx="1627632" cy="960120"/>
          </a:xfrm>
          <a:prstGeom prst="roundRect">
            <a:avLst/>
          </a:prstGeom>
          <a:solidFill>
            <a:srgbClr val="FFF0D5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4496" y="2185415"/>
            <a:ext cx="140817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ptos"/>
              </a:rPr>
              <a:t>User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2468879"/>
            <a:ext cx="1408176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ASK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73568" y="2084831"/>
            <a:ext cx="1627632" cy="960120"/>
          </a:xfrm>
          <a:prstGeom prst="roundRect">
            <a:avLst/>
          </a:prstGeom>
          <a:solidFill>
            <a:srgbClr val="FDE8E7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2185415"/>
            <a:ext cx="140817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B42318"/>
                </a:solidFill>
                <a:latin typeface="Aptos"/>
              </a:rPr>
              <a:t>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2468879"/>
            <a:ext cx="1408176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ABSTAIN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02368" y="2084831"/>
            <a:ext cx="1627632" cy="960120"/>
          </a:xfrm>
          <a:prstGeom prst="roundRect">
            <a:avLst/>
          </a:prstGeom>
          <a:solidFill>
            <a:srgbClr val="E4F4E8"/>
          </a:solidFill>
          <a:ln w="12700">
            <a:solidFill>
              <a:srgbClr val="168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12096" y="2185415"/>
            <a:ext cx="140817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6803A"/>
                </a:solidFill>
                <a:latin typeface="Aptos"/>
              </a:rPr>
              <a:t>No need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12096" y="2468879"/>
            <a:ext cx="1408176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EXECUTE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447288"/>
            <a:ext cx="12801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B42318"/>
                </a:solidFill>
                <a:latin typeface="Aptos"/>
              </a:rPr>
              <a:t>INTEGRITY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822191"/>
            <a:ext cx="1965960" cy="960120"/>
          </a:xfrm>
          <a:prstGeom prst="roundRect">
            <a:avLst/>
          </a:prstGeom>
          <a:solidFill>
            <a:srgbClr val="E4F4E8"/>
          </a:solidFill>
          <a:ln w="12700">
            <a:solidFill>
              <a:srgbClr val="168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3922776"/>
            <a:ext cx="174650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6803A"/>
                </a:solidFill>
                <a:latin typeface="Aptos"/>
              </a:rPr>
              <a:t>Fresh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" y="4206240"/>
            <a:ext cx="1746504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当前有效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52928" y="3822191"/>
            <a:ext cx="1965960" cy="960120"/>
          </a:xfrm>
          <a:prstGeom prst="roundRect">
            <a:avLst/>
          </a:prstGeom>
          <a:solidFill>
            <a:srgbClr val="FFF0D5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62656" y="3922776"/>
            <a:ext cx="174650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ptos"/>
              </a:rPr>
              <a:t>Stale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62656" y="4206240"/>
            <a:ext cx="1746504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旧值失效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47488" y="3822191"/>
            <a:ext cx="1965960" cy="960120"/>
          </a:xfrm>
          <a:prstGeom prst="roundRect">
            <a:avLst/>
          </a:prstGeom>
          <a:solidFill>
            <a:srgbClr val="FDE8E7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57216" y="3922776"/>
            <a:ext cx="174650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B42318"/>
                </a:solidFill>
                <a:latin typeface="Aptos"/>
              </a:rPr>
              <a:t>Conflicting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57216" y="4206240"/>
            <a:ext cx="1746504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多源冲突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42047" y="3822191"/>
            <a:ext cx="1965960" cy="960120"/>
          </a:xfrm>
          <a:prstGeom prst="roundRect">
            <a:avLst/>
          </a:prstGeom>
          <a:solidFill>
            <a:srgbClr val="EFE9FF"/>
          </a:solidFill>
          <a:ln w="12700"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51775" y="3922776"/>
            <a:ext cx="174650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6D4BC3"/>
                </a:solidFill>
                <a:latin typeface="Aptos"/>
              </a:rPr>
              <a:t>Poisoned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51775" y="4206240"/>
            <a:ext cx="1746504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诱导错误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36608" y="3822191"/>
            <a:ext cx="1965960" cy="960120"/>
          </a:xfrm>
          <a:prstGeom prst="roundRect">
            <a:avLst/>
          </a:prstGeom>
          <a:solidFill>
            <a:srgbClr val="E7EE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46336" y="3922776"/>
            <a:ext cx="174650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Aptos"/>
              </a:rPr>
              <a:t>Auth drift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46336" y="4206240"/>
            <a:ext cx="1746504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权限变化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276088"/>
            <a:ext cx="10899648" cy="768096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" y="5477256"/>
            <a:ext cx="103327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不是机械做全笛卡尔积：generator 只生成语义成立的组合。关键是同一 requirement 在来源或完整性变化后，正确动作发生可预测翻转。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064" y="6528816"/>
            <a:ext cx="92811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This factorial design replaces the original one-dimensional six-state taxonomy.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02368" y="6528816"/>
            <a:ext cx="184708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MemReadyBench v2 · 2026-09-03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840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06 / DATA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09728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Matched Family 示例：只移动“最终授权”的可信来源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00784"/>
            <a:ext cx="10917936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20240"/>
            <a:ext cx="95097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Microsoft YaHei"/>
              </a:rPr>
              <a:t>共同目标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83664" y="1874519"/>
            <a:ext cx="927201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172033"/>
                </a:solidFill>
                <a:latin typeface="Microsoft YaHei"/>
              </a:rPr>
              <a:t>为用户预订满足历史偏好的航班；航班、日期、预算和最终购买授权必须全部闭合。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06624"/>
            <a:ext cx="10881360" cy="475488"/>
          </a:xfrm>
          <a:prstGeom prst="roundRect">
            <a:avLst/>
          </a:prstGeom>
          <a:solidFill>
            <a:srgbClr val="E4F4E8"/>
          </a:solidFill>
          <a:ln w="12700">
            <a:solidFill>
              <a:srgbClr val="168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834640"/>
            <a:ext cx="126187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6803A"/>
                </a:solidFill>
                <a:latin typeface="Aptos"/>
              </a:rPr>
              <a:t>PACKET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848" y="2816352"/>
            <a:ext cx="51663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72033"/>
                </a:solidFill>
                <a:latin typeface="Microsoft YaHei"/>
              </a:rPr>
              <a:t>本轮明确授权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825496"/>
            <a:ext cx="2468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6803A"/>
                </a:solidFill>
                <a:latin typeface="Aptos"/>
              </a:rPr>
              <a:t>EXECUTE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319272"/>
            <a:ext cx="10881360" cy="475488"/>
          </a:xfrm>
          <a:prstGeom prst="roundRect">
            <a:avLst/>
          </a:prstGeom>
          <a:solidFill>
            <a:srgbClr val="E7EE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447288"/>
            <a:ext cx="126187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12848" y="3429000"/>
            <a:ext cx="51663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72033"/>
                </a:solidFill>
                <a:latin typeface="Microsoft YaHei"/>
              </a:rPr>
              <a:t>历史会话含有效授权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3438144"/>
            <a:ext cx="2468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SEARCH_MEMORY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31920"/>
            <a:ext cx="10881360" cy="475488"/>
          </a:xfrm>
          <a:prstGeom prst="roundRect">
            <a:avLst/>
          </a:prstGeom>
          <a:solidFill>
            <a:srgbClr val="EFE9FF"/>
          </a:solidFill>
          <a:ln w="12700"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4059935"/>
            <a:ext cx="126187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6D4BC3"/>
                </a:solidFill>
                <a:latin typeface="Aptos"/>
              </a:rPr>
              <a:t>WORLD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12848" y="4041648"/>
            <a:ext cx="51663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72033"/>
                </a:solidFill>
                <a:latin typeface="Microsoft YaHei"/>
              </a:rPr>
              <a:t>企业审批系统记录当前授权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4050791"/>
            <a:ext cx="2468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6D4BC3"/>
                </a:solidFill>
                <a:latin typeface="Aptos"/>
              </a:rPr>
              <a:t>VERIFY_WORLD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44568"/>
            <a:ext cx="10881360" cy="475488"/>
          </a:xfrm>
          <a:prstGeom prst="roundRect">
            <a:avLst/>
          </a:prstGeom>
          <a:solidFill>
            <a:srgbClr val="FFF0D5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4672584"/>
            <a:ext cx="126187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D97706"/>
                </a:solidFill>
                <a:latin typeface="Aptos"/>
              </a:rPr>
              <a:t>USER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12848" y="4654296"/>
            <a:ext cx="51663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72033"/>
                </a:solidFill>
                <a:latin typeface="Microsoft YaHei"/>
              </a:rPr>
              <a:t>只有用户能给一次性授权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5632" y="4663440"/>
            <a:ext cx="2468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D97706"/>
                </a:solidFill>
                <a:latin typeface="Aptos"/>
              </a:rPr>
              <a:t>ASK_USER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157216"/>
            <a:ext cx="10881360" cy="475488"/>
          </a:xfrm>
          <a:prstGeom prst="roundRect">
            <a:avLst/>
          </a:prstGeom>
          <a:solidFill>
            <a:srgbClr val="FDE8E7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285232"/>
            <a:ext cx="126187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B42318"/>
                </a:solidFill>
                <a:latin typeface="Aptos"/>
              </a:rPr>
              <a:t>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12848" y="5266944"/>
            <a:ext cx="51663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72033"/>
                </a:solidFill>
                <a:latin typeface="Microsoft YaHei"/>
              </a:rPr>
              <a:t>无人/无系统可确认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85632" y="5276088"/>
            <a:ext cx="2468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B42318"/>
                </a:solidFill>
                <a:latin typeface="Aptos"/>
              </a:rPr>
              <a:t>ABSTAIN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943600"/>
            <a:ext cx="10881360" cy="27432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5980176"/>
            <a:ext cx="1025956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ACTION FLIP：第一动作不同  →  CLOSURE CONVERGENCE：可解决版本最终预订结果相同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" y="6528816"/>
            <a:ext cx="92811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The final outcome should converge only after the appropriate acquisition action succeeds.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02368" y="6528816"/>
            <a:ext cx="184708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MemReadyBench v2 · 2026-09-03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840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07 /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09728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三个 Track：从诊断到顺序获取，再到真实执行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83080"/>
            <a:ext cx="3054096" cy="3364992"/>
          </a:xfrm>
          <a:prstGeom prst="roundRect">
            <a:avLst/>
          </a:prstGeom>
          <a:solidFill>
            <a:srgbClr val="DDF3E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50976" y="2048256"/>
            <a:ext cx="100584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57400"/>
            <a:ext cx="10058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Microsoft YaHei"/>
              </a:rPr>
              <a:t>TRACK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615184"/>
            <a:ext cx="2505456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Aptos"/>
              </a:rPr>
              <a:t>Readiness Diagnosis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69848" y="3163824"/>
            <a:ext cx="2231136" cy="1828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465576"/>
            <a:ext cx="2322576" cy="10789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Microsoft YaHei"/>
              </a:rPr>
              <a:t>固定 packet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Microsoft YaHei"/>
              </a:rPr>
              <a:t>预测 readiness、missing requirements、source location 和 calibration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1783080"/>
            <a:ext cx="3054096" cy="3364992"/>
          </a:xfrm>
          <a:prstGeom prst="roundRect">
            <a:avLst/>
          </a:prstGeom>
          <a:solidFill>
            <a:srgbClr val="E7EE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07408" y="2048256"/>
            <a:ext cx="100584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7408" y="2057400"/>
            <a:ext cx="10058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TRACK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615184"/>
            <a:ext cx="2505456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2563EB"/>
                </a:solidFill>
                <a:latin typeface="Aptos"/>
              </a:rPr>
              <a:t>Evidence Acquisition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3163824"/>
            <a:ext cx="2231136" cy="182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3465576"/>
            <a:ext cx="2322576" cy="10789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Microsoft YaHei"/>
              </a:rPr>
              <a:t>调用 memory search、world verify、user ask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Microsoft YaHei"/>
              </a:rPr>
              <a:t>评估来源路由、预算、停止与闭合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71231" y="1783080"/>
            <a:ext cx="3054096" cy="3364992"/>
          </a:xfrm>
          <a:prstGeom prst="roundRect">
            <a:avLst/>
          </a:prstGeom>
          <a:solidFill>
            <a:srgbClr val="FDE8E7"/>
          </a:solidFill>
          <a:ln w="254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863840" y="2048256"/>
            <a:ext cx="100584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2057400"/>
            <a:ext cx="10058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B42318"/>
                </a:solidFill>
                <a:latin typeface="Microsoft YaHei"/>
              </a:rPr>
              <a:t>TRACK 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5552" y="2615184"/>
            <a:ext cx="2505456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B42318"/>
                </a:solidFill>
                <a:latin typeface="Aptos"/>
              </a:rPr>
              <a:t>Executable Commitment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82711" y="3163824"/>
            <a:ext cx="2231136" cy="18288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36992" y="3465576"/>
            <a:ext cx="2322576" cy="10789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Microsoft YaHei"/>
              </a:rPr>
              <a:t>通过 gate 后执行外部动作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Microsoft YaHei"/>
              </a:rPr>
              <a:t>检查 exact state、premature 与 unsupported success</a:t>
            </a:r>
          </a:p>
        </p:txBody>
      </p:sp>
      <p:sp>
        <p:nvSpPr>
          <p:cNvPr id="26" name="Chevron 25"/>
          <p:cNvSpPr/>
          <p:nvPr/>
        </p:nvSpPr>
        <p:spPr>
          <a:xfrm>
            <a:off x="3749039" y="3136392"/>
            <a:ext cx="237744" cy="347472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evron 26"/>
          <p:cNvSpPr/>
          <p:nvPr/>
        </p:nvSpPr>
        <p:spPr>
          <a:xfrm>
            <a:off x="7205472" y="3136392"/>
            <a:ext cx="237744" cy="347472"/>
          </a:xfrm>
          <a:prstGeom prst="chevron">
            <a:avLst/>
          </a:prstGeom>
          <a:solidFill>
            <a:srgbClr val="B42318"/>
          </a:solidFill>
          <a:ln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60120" y="5577840"/>
            <a:ext cx="10259568" cy="521207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16152" y="5705856"/>
            <a:ext cx="9747504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Track A 是低成本诊断；Track B/C 才能证明这不是静态分类任务。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" y="6528816"/>
            <a:ext cx="92811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All tool calls change the subsequent observation; Track C uses deterministic postconditions.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02368" y="6528816"/>
            <a:ext cx="184708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MemReadyBench v2 · 2026-09-03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840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08 /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09728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四组指标：重点新增 Routing 与 Closure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737360"/>
            <a:ext cx="2560320" cy="3803904"/>
          </a:xfrm>
          <a:prstGeom prst="roundRect">
            <a:avLst/>
          </a:prstGeom>
          <a:solidFill>
            <a:srgbClr val="DDF3E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93392"/>
            <a:ext cx="230428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Aptos"/>
              </a:rPr>
              <a:t>MONITOR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2432304"/>
            <a:ext cx="2084831" cy="1828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688336"/>
            <a:ext cx="2157984" cy="22494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tos"/>
              </a:rPr>
              <a:t>Readiness Macro-F1</a:t>
            </a:r>
          </a:p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tos"/>
              </a:rPr>
              <a:t>Missing Requirement F1</a:t>
            </a:r>
          </a:p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tos"/>
              </a:rPr>
              <a:t>Source Location F1</a:t>
            </a:r>
          </a:p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tos"/>
              </a:rPr>
              <a:t>Closure F1</a:t>
            </a:r>
          </a:p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tos"/>
              </a:rPr>
              <a:t>Brier / ECE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737360"/>
            <a:ext cx="2560320" cy="3803904"/>
          </a:xfrm>
          <a:prstGeom prst="roundRect">
            <a:avLst/>
          </a:prstGeom>
          <a:solidFill>
            <a:srgbClr val="E7EE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9584" y="1993392"/>
            <a:ext cx="230428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2563EB"/>
                </a:solidFill>
                <a:latin typeface="Aptos"/>
              </a:rPr>
              <a:t>ROUTING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39312" y="2432304"/>
            <a:ext cx="2084831" cy="182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688336"/>
            <a:ext cx="2157984" cy="22494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tos"/>
              </a:rPr>
              <a:t>Source-Routing Acc.</a:t>
            </a:r>
          </a:p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tos"/>
              </a:rPr>
              <a:t>Wrong-Source Rate</a:t>
            </a:r>
          </a:p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tos"/>
              </a:rPr>
              <a:t>Location Regret</a:t>
            </a:r>
          </a:p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tos"/>
              </a:rPr>
              <a:t>Calls-to-Closure</a:t>
            </a:r>
          </a:p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tos"/>
              </a:rPr>
              <a:t>Admissible Action Acc.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1737360"/>
            <a:ext cx="2560320" cy="3803904"/>
          </a:xfrm>
          <a:prstGeom prst="roundRect">
            <a:avLst/>
          </a:prstGeom>
          <a:solidFill>
            <a:srgbClr val="EFE9FF"/>
          </a:solidFill>
          <a:ln w="25400"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1993392"/>
            <a:ext cx="230428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6D4BC3"/>
                </a:solidFill>
                <a:latin typeface="Aptos"/>
              </a:rPr>
              <a:t>COUNTERFACTUAL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37376" y="2432304"/>
            <a:ext cx="2084831" cy="18288"/>
          </a:xfrm>
          <a:prstGeom prst="rect">
            <a:avLst/>
          </a:prstGeom>
          <a:solidFill>
            <a:srgbClr val="6D4BC3"/>
          </a:solidFill>
          <a:ln w="12700"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688336"/>
            <a:ext cx="2157984" cy="22494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tos"/>
              </a:rPr>
              <a:t>Action-Flip Consistency</a:t>
            </a:r>
          </a:p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tos"/>
              </a:rPr>
              <a:t>Closure-Convergence</a:t>
            </a:r>
          </a:p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tos"/>
              </a:rPr>
              <a:t>Integrity Sensitivity</a:t>
            </a:r>
          </a:p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tos"/>
              </a:rPr>
              <a:t>Distractor Invariance</a:t>
            </a:r>
          </a:p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tos"/>
              </a:rPr>
              <a:t>Surface Robustness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7696" y="1737360"/>
            <a:ext cx="2560320" cy="3803904"/>
          </a:xfrm>
          <a:prstGeom prst="roundRect">
            <a:avLst/>
          </a:prstGeom>
          <a:solidFill>
            <a:srgbClr val="FDE8E7"/>
          </a:solidFill>
          <a:ln w="254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25712" y="1993392"/>
            <a:ext cx="230428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B42318"/>
                </a:solidFill>
                <a:latin typeface="Aptos"/>
              </a:rPr>
              <a:t>OUTCOME + COST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2432304"/>
            <a:ext cx="2084831" cy="18288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98864" y="2688336"/>
            <a:ext cx="2157984" cy="22494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tos"/>
              </a:rPr>
              <a:t>Exact Tool State</a:t>
            </a:r>
          </a:p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tos"/>
              </a:rPr>
              <a:t>Premature Commit</a:t>
            </a:r>
          </a:p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tos"/>
              </a:rPr>
              <a:t>Unsupported Success</a:t>
            </a:r>
          </a:p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tos"/>
              </a:rPr>
              <a:t>Unnecessary Acquisition</a:t>
            </a:r>
          </a:p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tos"/>
              </a:rPr>
              <a:t>Success-Cost Pareto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98448" y="5779008"/>
            <a:ext cx="9582912" cy="429768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5870448"/>
            <a:ext cx="907084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不发布单一总分：同样的 task success 可能来自正确闭合，也可能来自猜测或越权执行。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" y="6528816"/>
            <a:ext cx="92811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Primary novelty metrics: Source-Routing Accuracy, Action-Flip Consistency, Closure-Convergence.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02368" y="6528816"/>
            <a:ext cx="184708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MemReadyBench v2 · 2026-09-03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840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09 / BASELINES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09728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Baseline 梯子：要能回答错误到底发生在哪一层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5303520"/>
            <a:ext cx="10863072" cy="640080"/>
          </a:xfrm>
          <a:prstGeom prst="roundRect">
            <a:avLst/>
          </a:prstGeom>
          <a:solidFill>
            <a:srgbClr val="FDE8E7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5422392"/>
            <a:ext cx="19202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B42318"/>
                </a:solidFill>
                <a:latin typeface="Aptos"/>
              </a:rPr>
              <a:t>ORACLE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98063" y="5404104"/>
            <a:ext cx="8503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72033"/>
                </a:solidFill>
                <a:latin typeface="Aptos"/>
              </a:rPr>
              <a:t>Packet · Retriever · Readiness · SourceRouter · Executor · 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24712" y="4462272"/>
            <a:ext cx="9930384" cy="640080"/>
          </a:xfrm>
          <a:prstGeom prst="roundRect">
            <a:avLst/>
          </a:prstGeom>
          <a:solidFill>
            <a:srgbClr val="FFF0D5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9304" y="4581144"/>
            <a:ext cx="19202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D97706"/>
                </a:solidFill>
                <a:latin typeface="Aptos"/>
              </a:rPr>
              <a:t>DIRECT COMPETITORS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4408" y="4562856"/>
            <a:ext cx="7571231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72033"/>
                </a:solidFill>
                <a:latin typeface="Aptos"/>
              </a:rPr>
              <a:t>SafeCommit wrapper · MCB prompt · AgentAbstain prompt · SURE verifier · Router-Mem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91056" y="3621024"/>
            <a:ext cx="8997696" cy="640080"/>
          </a:xfrm>
          <a:prstGeom prst="roundRect">
            <a:avLst/>
          </a:prstGeom>
          <a:solidFill>
            <a:srgbClr val="EFE9FF"/>
          </a:solidFill>
          <a:ln w="12700"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55648" y="3739896"/>
            <a:ext cx="19202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6D4BC3"/>
                </a:solidFill>
                <a:latin typeface="Aptos"/>
              </a:rPr>
              <a:t>MEMORY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3721608"/>
            <a:ext cx="663854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72033"/>
                </a:solidFill>
                <a:latin typeface="Aptos"/>
              </a:rPr>
              <a:t>MemCon · Oblivion · RSCB-MC · StateMem wrapper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57400" y="2779776"/>
            <a:ext cx="8065008" cy="640080"/>
          </a:xfrm>
          <a:prstGeom prst="roundRect">
            <a:avLst/>
          </a:prstGeom>
          <a:solidFill>
            <a:srgbClr val="E7EE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21992" y="2898648"/>
            <a:ext cx="19202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MEMORY / RAG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97096" y="2880360"/>
            <a:ext cx="57058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72033"/>
                </a:solidFill>
                <a:latin typeface="Aptos"/>
              </a:rPr>
              <a:t>FullHistory · BM25 · dense · hybrid · Mem0/LangMem · A-MEM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23744" y="1938528"/>
            <a:ext cx="7132320" cy="640080"/>
          </a:xfrm>
          <a:prstGeom prst="roundRect">
            <a:avLst/>
          </a:prstGeom>
          <a:solidFill>
            <a:srgbClr val="DDF3E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88336" y="2057400"/>
            <a:ext cx="19202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SANITY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039112"/>
            <a:ext cx="47731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72033"/>
                </a:solidFill>
                <a:latin typeface="Aptos"/>
              </a:rPr>
              <a:t>Always Execute/Search/Verify/Ask/Abstain · RandomRoute · NoMemory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6181344"/>
            <a:ext cx="10277856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Microsoft YaHei"/>
              </a:rPr>
              <a:t>公平约束：固定 backbone、tool schema、可见 source、token、调用次数和 wall-clock budget。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6528816"/>
            <a:ext cx="92811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Direct competitors are adapted as evaluation baselines, not presented as identical tasks.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02368" y="6528816"/>
            <a:ext cx="184708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MemReadyBench v2 · 2026-09-03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840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10 / EXPERIMENTS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09728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实验不是只跑主表，而是逐层证明 benchmark 的诊断价值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2523744" cy="768096"/>
          </a:xfrm>
          <a:prstGeom prst="roundRect">
            <a:avLst/>
          </a:prstGeom>
          <a:solidFill>
            <a:srgbClr val="DDF3E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37943"/>
            <a:ext cx="42062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E0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1828800"/>
            <a:ext cx="1664208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Validity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39"/>
            <a:ext cx="2249424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Microsoft YaHei"/>
              </a:rPr>
              <a:t>一致率 / 可解率 / 捷径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9856" y="1719072"/>
            <a:ext cx="2523744" cy="768096"/>
          </a:xfrm>
          <a:prstGeom prst="roundRect">
            <a:avLst/>
          </a:prstGeom>
          <a:solidFill>
            <a:srgbClr val="E7EE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57016" y="1837943"/>
            <a:ext cx="42062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Aptos"/>
              </a:rPr>
              <a:t>E1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2504" y="1828800"/>
            <a:ext cx="1664208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Aptos"/>
              </a:rPr>
              <a:t>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6" y="2148839"/>
            <a:ext cx="2249424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Microsoft YaHei"/>
              </a:rPr>
              <a:t>模型 × memory systems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1719072"/>
            <a:ext cx="2523744" cy="768096"/>
          </a:xfrm>
          <a:prstGeom prst="roundRect">
            <a:avLst/>
          </a:prstGeom>
          <a:solidFill>
            <a:srgbClr val="EFE9FF"/>
          </a:solidFill>
          <a:ln w="12700"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792" y="1837943"/>
            <a:ext cx="42062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6D4BC3"/>
                </a:solidFill>
                <a:latin typeface="Aptos"/>
              </a:rPr>
              <a:t>E2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1828800"/>
            <a:ext cx="1664208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6D4BC3"/>
                </a:solidFill>
                <a:latin typeface="Aptos"/>
              </a:rPr>
              <a:t>Source Relocation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2148839"/>
            <a:ext cx="2249424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Microsoft YaHei"/>
              </a:rPr>
              <a:t>动作翻转 / 错源率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9408" y="1719072"/>
            <a:ext cx="2523744" cy="768096"/>
          </a:xfrm>
          <a:prstGeom prst="roundRect">
            <a:avLst/>
          </a:prstGeom>
          <a:solidFill>
            <a:srgbClr val="FFF0D5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16568" y="1837943"/>
            <a:ext cx="42062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ptos"/>
              </a:rPr>
              <a:t>E3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92056" y="1828800"/>
            <a:ext cx="1664208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D97706"/>
                </a:solidFill>
                <a:latin typeface="Aptos"/>
              </a:rPr>
              <a:t>Integrity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568" y="2148839"/>
            <a:ext cx="2249424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Microsoft YaHei"/>
              </a:rPr>
              <a:t>stale / conflict / poison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2724912"/>
            <a:ext cx="2523744" cy="768096"/>
          </a:xfrm>
          <a:prstGeom prst="roundRect">
            <a:avLst/>
          </a:prstGeom>
          <a:solidFill>
            <a:srgbClr val="FDE8E7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2843784"/>
            <a:ext cx="42062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B42318"/>
                </a:solidFill>
                <a:latin typeface="Aptos"/>
              </a:rPr>
              <a:t>E4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2728" y="2834640"/>
            <a:ext cx="1664208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B42318"/>
                </a:solidFill>
                <a:latin typeface="Aptos"/>
              </a:rPr>
              <a:t>Oracle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154680"/>
            <a:ext cx="2249424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Microsoft YaHei"/>
              </a:rPr>
              <a:t>瓶颈分层替换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19856" y="2724912"/>
            <a:ext cx="2523744" cy="768096"/>
          </a:xfrm>
          <a:prstGeom prst="roundRect">
            <a:avLst/>
          </a:prstGeom>
          <a:solidFill>
            <a:srgbClr val="E4F4E8"/>
          </a:solidFill>
          <a:ln w="12700">
            <a:solidFill>
              <a:srgbClr val="168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57016" y="2843784"/>
            <a:ext cx="42062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6803A"/>
                </a:solidFill>
                <a:latin typeface="Aptos"/>
              </a:rPr>
              <a:t>E5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32504" y="2834640"/>
            <a:ext cx="1664208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6803A"/>
                </a:solidFill>
                <a:latin typeface="Aptos"/>
              </a:rPr>
              <a:t>Budget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57016" y="3154680"/>
            <a:ext cx="2249424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Microsoft YaHei"/>
              </a:rPr>
              <a:t>risk / cost / calibration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9632" y="2724912"/>
            <a:ext cx="2523744" cy="768096"/>
          </a:xfrm>
          <a:prstGeom prst="roundRect">
            <a:avLst/>
          </a:prstGeom>
          <a:solidFill>
            <a:srgbClr val="DDF3E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36792" y="2843784"/>
            <a:ext cx="42062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E6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2834640"/>
            <a:ext cx="1664208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Generalization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6792" y="3154680"/>
            <a:ext cx="2249424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Microsoft YaHei"/>
              </a:rPr>
              <a:t>跨 domain / 新 family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3950208"/>
            <a:ext cx="1371600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Microsoft YaHei"/>
              </a:rPr>
              <a:t>可证伪假设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4352544"/>
            <a:ext cx="10771632" cy="149961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B42318"/>
                </a:solidFill>
                <a:latin typeface="Microsoft YaHei"/>
              </a:rPr>
              <a:t>• </a:t>
            </a:r>
            <a:r>
              <a:rPr sz="1200">
                <a:solidFill>
                  <a:srgbClr val="172033"/>
                </a:solidFill>
                <a:latin typeface="Microsoft YaHei"/>
              </a:rPr>
              <a:t>H1  最终成功率会高估 readiness/routing，因为存在猜测与 unsupported success。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B42318"/>
                </a:solidFill>
                <a:latin typeface="Microsoft YaHei"/>
              </a:rPr>
              <a:t>• </a:t>
            </a:r>
            <a:r>
              <a:rPr sz="1200">
                <a:solidFill>
                  <a:srgbClr val="172033"/>
                </a:solidFill>
                <a:latin typeface="Microsoft YaHei"/>
              </a:rPr>
              <a:t>H2  强模型在 Memory / World / User 来源迁移下仍表现出惯性动作。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B42318"/>
                </a:solidFill>
                <a:latin typeface="Microsoft YaHei"/>
              </a:rPr>
              <a:t>• </a:t>
            </a:r>
            <a:r>
              <a:rPr sz="1200">
                <a:solidFill>
                  <a:srgbClr val="172033"/>
                </a:solidFill>
                <a:latin typeface="Microsoft YaHei"/>
              </a:rPr>
              <a:t>H3  FullHistory 能减少 SEARCH 错误，但不能解决 WORLD/USER routing，并放大 stale/poison 风险。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B42318"/>
                </a:solidFill>
                <a:latin typeface="Microsoft YaHei"/>
              </a:rPr>
              <a:t>• </a:t>
            </a:r>
            <a:r>
              <a:rPr sz="1200">
                <a:solidFill>
                  <a:srgbClr val="172033"/>
                </a:solidFill>
                <a:latin typeface="Microsoft YaHei"/>
              </a:rPr>
              <a:t>H4  memory controller 的 success 提升不保证 wrong-source 与 premature commit 降低。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" y="6528816"/>
            <a:ext cx="92811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If H1–H4 largely fail, the benchmark is too easy or the source interventions are artificial.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02368" y="6528816"/>
            <a:ext cx="184708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MemReadyBench v2 · 2026-09-03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840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11 /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09728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两周最小闭环：先过生死线，再扩数据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1975104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837943"/>
            <a:ext cx="1719072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0F766E"/>
                </a:solidFill>
                <a:latin typeface="Microsoft YaHei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258568"/>
            <a:ext cx="171907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5B667A"/>
                </a:solidFill>
                <a:latin typeface="Microsoft YaHei"/>
              </a:rPr>
              <a:t>BASE TASKS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551176"/>
            <a:ext cx="1719072" cy="36575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B667A"/>
                </a:solidFill>
                <a:latin typeface="Microsoft YaHei"/>
              </a:rPr>
              <a:t>calendar + travel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62072" y="1719072"/>
            <a:ext cx="1975104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0088" y="1837943"/>
            <a:ext cx="1719072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2563EB"/>
                </a:solidFill>
                <a:latin typeface="Microsoft YaHei"/>
              </a:rPr>
              <a:t>120+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0088" y="2258568"/>
            <a:ext cx="171907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5B667A"/>
                </a:solidFill>
                <a:latin typeface="Microsoft YaHei"/>
              </a:rPr>
              <a:t>EPISODES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2551176"/>
            <a:ext cx="1719072" cy="36575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B667A"/>
                </a:solidFill>
                <a:latin typeface="Microsoft YaHei"/>
              </a:rPr>
              <a:t>source families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84064" y="1719072"/>
            <a:ext cx="1975104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79" y="1837943"/>
            <a:ext cx="1719072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6D4BC3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79" y="2258568"/>
            <a:ext cx="171907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5B667A"/>
                </a:solidFill>
                <a:latin typeface="Microsoft YaHei"/>
              </a:rPr>
              <a:t>ACQUISITION APIs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9" y="2551176"/>
            <a:ext cx="1719072" cy="36575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B667A"/>
                </a:solidFill>
                <a:latin typeface="Microsoft YaHei"/>
              </a:rPr>
              <a:t>memory / world / user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06056" y="1719072"/>
            <a:ext cx="1975104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34072" y="1837943"/>
            <a:ext cx="1719072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D97706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34072" y="2258568"/>
            <a:ext cx="171907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5B667A"/>
                </a:solidFill>
                <a:latin typeface="Microsoft YaHei"/>
              </a:rPr>
              <a:t>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34072" y="2551176"/>
            <a:ext cx="1719072" cy="36575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B667A"/>
                </a:solidFill>
                <a:latin typeface="Microsoft YaHei"/>
              </a:rPr>
              <a:t>pilot first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28048" y="1719072"/>
            <a:ext cx="1975104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56064" y="1837943"/>
            <a:ext cx="1719072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B42318"/>
                </a:solidFill>
                <a:latin typeface="Microsoft YaHe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6064" y="2258568"/>
            <a:ext cx="171907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5B667A"/>
                </a:solidFill>
                <a:latin typeface="Microsoft YaHei"/>
              </a:rPr>
              <a:t>WEEKS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56064" y="2551176"/>
            <a:ext cx="1719072" cy="36575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B667A"/>
                </a:solidFill>
                <a:latin typeface="Microsoft YaHei"/>
              </a:rPr>
              <a:t>Go / No-Go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401568"/>
            <a:ext cx="19202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Microsoft YaHei"/>
              </a:rPr>
              <a:t>必须通过的 Gate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794760"/>
            <a:ext cx="10771632" cy="171907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F766E"/>
                </a:solidFill>
                <a:latin typeface="Microsoft YaHei"/>
              </a:rPr>
              <a:t>• </a:t>
            </a:r>
            <a:r>
              <a:rPr sz="1200">
                <a:solidFill>
                  <a:srgbClr val="172033"/>
                </a:solidFill>
                <a:latin typeface="Microsoft YaHei"/>
              </a:rPr>
              <a:t>OracleAll 可解率 ≥98%，且 80% 以上指标可由 deterministic evaluator 计算。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F766E"/>
                </a:solidFill>
                <a:latin typeface="Microsoft YaHei"/>
              </a:rPr>
              <a:t>• </a:t>
            </a:r>
            <a:r>
              <a:rPr sz="1200">
                <a:solidFill>
                  <a:srgbClr val="172033"/>
                </a:solidFill>
                <a:latin typeface="Microsoft YaHei"/>
              </a:rPr>
              <a:t>FullHistory 与简单 prompt 不能在跨来源 family 上接近 oracle。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F766E"/>
                </a:solidFill>
                <a:latin typeface="Microsoft YaHei"/>
              </a:rPr>
              <a:t>• </a:t>
            </a:r>
            <a:r>
              <a:rPr sz="1200">
                <a:solidFill>
                  <a:srgbClr val="172033"/>
                </a:solidFill>
                <a:latin typeface="Microsoft YaHei"/>
              </a:rPr>
              <a:t>至少两个 baseline 呈现不同的 routing / cost / premature trade-off。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F766E"/>
                </a:solidFill>
                <a:latin typeface="Microsoft YaHei"/>
              </a:rPr>
              <a:t>• </a:t>
            </a:r>
            <a:r>
              <a:rPr sz="1200">
                <a:solidFill>
                  <a:srgbClr val="172033"/>
                </a:solidFill>
                <a:latin typeface="Microsoft YaHei"/>
              </a:rPr>
              <a:t>source relocation 稳定触发正确 action flip；paraphrase 与 distractor 不应触发翻转。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F766E"/>
                </a:solidFill>
                <a:latin typeface="Microsoft YaHei"/>
              </a:rPr>
              <a:t>• </a:t>
            </a:r>
            <a:r>
              <a:rPr sz="1200">
                <a:solidFill>
                  <a:srgbClr val="172033"/>
                </a:solidFill>
                <a:latin typeface="Microsoft YaHei"/>
              </a:rPr>
              <a:t>成功 acquisition 后，可解决版本的最终 action 和环境终态能够 closure-converge。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7552" y="5861304"/>
            <a:ext cx="10222992" cy="356616"/>
          </a:xfrm>
          <a:prstGeom prst="roundRect">
            <a:avLst/>
          </a:prstGeom>
          <a:solidFill>
            <a:srgbClr val="FDE8E7"/>
          </a:solidFill>
          <a:ln w="12700">
            <a:solidFill>
              <a:srgbClr val="FDE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6152" y="5925312"/>
            <a:ext cx="97657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B42318"/>
                </a:solidFill>
                <a:latin typeface="Microsoft YaHei"/>
              </a:rPr>
              <a:t>No-Go: 如果 FullHistory + prompt 已饱和，或 VERIFY_WORLD 与 ASK_USER 无法自然区分，就停止扩展。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" y="6528816"/>
            <a:ext cx="92811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Pilot uses one small open model, one 7B/8B model, and one strong API model.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02368" y="6528816"/>
            <a:ext cx="184708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MemReadyBench v2 · 2026-09-03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840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12 / STAGE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09728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方法放在第二阶段：训练“来源迁移”，不是再拼一个通用 Controller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01952"/>
            <a:ext cx="1417320" cy="1024128"/>
          </a:xfrm>
          <a:prstGeom prst="roundRect">
            <a:avLst/>
          </a:prstGeom>
          <a:solidFill>
            <a:srgbClr val="DDF3E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148840"/>
            <a:ext cx="12344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Aptos"/>
              </a:rPr>
              <a:t>Requirement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Aptos"/>
              </a:rPr>
              <a:t>Extractor</a:t>
            </a:r>
          </a:p>
        </p:txBody>
      </p:sp>
      <p:sp>
        <p:nvSpPr>
          <p:cNvPr id="10" name="Chevron 9"/>
          <p:cNvSpPr/>
          <p:nvPr/>
        </p:nvSpPr>
        <p:spPr>
          <a:xfrm>
            <a:off x="2148839" y="2249424"/>
            <a:ext cx="192024" cy="301752"/>
          </a:xfrm>
          <a:prstGeom prst="chevron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96312" y="1901952"/>
            <a:ext cx="1417320" cy="1024128"/>
          </a:xfrm>
          <a:prstGeom prst="roundRect">
            <a:avLst/>
          </a:prstGeom>
          <a:solidFill>
            <a:srgbClr val="E7EE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87752" y="2148840"/>
            <a:ext cx="12344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>
                <a:solidFill>
                  <a:srgbClr val="2563EB"/>
                </a:solidFill>
                <a:latin typeface="Aptos"/>
              </a:rPr>
              <a:t>Evidence +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>
                <a:solidFill>
                  <a:srgbClr val="2563EB"/>
                </a:solidFill>
                <a:latin typeface="Aptos"/>
              </a:rPr>
              <a:t>Provenance</a:t>
            </a:r>
          </a:p>
        </p:txBody>
      </p:sp>
      <p:sp>
        <p:nvSpPr>
          <p:cNvPr id="13" name="Chevron 12"/>
          <p:cNvSpPr/>
          <p:nvPr/>
        </p:nvSpPr>
        <p:spPr>
          <a:xfrm>
            <a:off x="3986783" y="2249424"/>
            <a:ext cx="192024" cy="301752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34256" y="1901952"/>
            <a:ext cx="1417320" cy="1024128"/>
          </a:xfrm>
          <a:prstGeom prst="roundRect">
            <a:avLst/>
          </a:prstGeom>
          <a:solidFill>
            <a:srgbClr val="EFE9FF"/>
          </a:solidFill>
          <a:ln w="25400"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5696" y="2148840"/>
            <a:ext cx="12344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>
                <a:solidFill>
                  <a:srgbClr val="6D4BC3"/>
                </a:solidFill>
                <a:latin typeface="Aptos"/>
              </a:rPr>
              <a:t>Readiness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>
                <a:solidFill>
                  <a:srgbClr val="6D4BC3"/>
                </a:solidFill>
                <a:latin typeface="Aptos"/>
              </a:rPr>
              <a:t>Monitor</a:t>
            </a:r>
          </a:p>
        </p:txBody>
      </p:sp>
      <p:sp>
        <p:nvSpPr>
          <p:cNvPr id="16" name="Chevron 15"/>
          <p:cNvSpPr/>
          <p:nvPr/>
        </p:nvSpPr>
        <p:spPr>
          <a:xfrm>
            <a:off x="5824728" y="2249424"/>
            <a:ext cx="192024" cy="301752"/>
          </a:xfrm>
          <a:prstGeom prst="chevron">
            <a:avLst/>
          </a:prstGeom>
          <a:solidFill>
            <a:srgbClr val="6D4BC3"/>
          </a:solidFill>
          <a:ln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200" y="1901952"/>
            <a:ext cx="1417320" cy="1024128"/>
          </a:xfrm>
          <a:prstGeom prst="roundRect">
            <a:avLst/>
          </a:prstGeom>
          <a:solidFill>
            <a:srgbClr val="FFF0D5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148840"/>
            <a:ext cx="12344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>
                <a:solidFill>
                  <a:srgbClr val="D97706"/>
                </a:solidFill>
                <a:latin typeface="Aptos"/>
              </a:rPr>
              <a:t>Source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>
                <a:solidFill>
                  <a:srgbClr val="D97706"/>
                </a:solidFill>
                <a:latin typeface="Aptos"/>
              </a:rPr>
              <a:t>Router</a:t>
            </a:r>
          </a:p>
        </p:txBody>
      </p:sp>
      <p:sp>
        <p:nvSpPr>
          <p:cNvPr id="19" name="Chevron 18"/>
          <p:cNvSpPr/>
          <p:nvPr/>
        </p:nvSpPr>
        <p:spPr>
          <a:xfrm>
            <a:off x="7662671" y="2249424"/>
            <a:ext cx="192024" cy="301752"/>
          </a:xfrm>
          <a:prstGeom prst="chevron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10144" y="1901952"/>
            <a:ext cx="1417320" cy="1024128"/>
          </a:xfrm>
          <a:prstGeom prst="roundRect">
            <a:avLst/>
          </a:prstGeom>
          <a:solidFill>
            <a:srgbClr val="FDE8E7"/>
          </a:solidFill>
          <a:ln w="254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01583" y="2148840"/>
            <a:ext cx="12344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>
                <a:solidFill>
                  <a:srgbClr val="B42318"/>
                </a:solidFill>
                <a:latin typeface="Aptos"/>
              </a:rPr>
              <a:t>Execution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>
                <a:solidFill>
                  <a:srgbClr val="B42318"/>
                </a:solidFill>
                <a:latin typeface="Aptos"/>
              </a:rPr>
              <a:t>Gate</a:t>
            </a:r>
          </a:p>
        </p:txBody>
      </p:sp>
      <p:sp>
        <p:nvSpPr>
          <p:cNvPr id="22" name="Chevron 21"/>
          <p:cNvSpPr/>
          <p:nvPr/>
        </p:nvSpPr>
        <p:spPr>
          <a:xfrm>
            <a:off x="9500616" y="2249424"/>
            <a:ext cx="192024" cy="301752"/>
          </a:xfrm>
          <a:prstGeom prst="chevron">
            <a:avLst/>
          </a:prstGeom>
          <a:solidFill>
            <a:srgbClr val="B42318"/>
          </a:solidFill>
          <a:ln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48088" y="1901952"/>
            <a:ext cx="1417320" cy="1024128"/>
          </a:xfrm>
          <a:prstGeom prst="roundRect">
            <a:avLst/>
          </a:prstGeom>
          <a:solidFill>
            <a:srgbClr val="E4F4E8"/>
          </a:solidFill>
          <a:ln w="25400">
            <a:solidFill>
              <a:srgbClr val="168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39528" y="2148840"/>
            <a:ext cx="12344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>
                <a:solidFill>
                  <a:srgbClr val="16803A"/>
                </a:solidFill>
                <a:latin typeface="Aptos"/>
              </a:rPr>
              <a:t>Verified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>
                <a:solidFill>
                  <a:srgbClr val="16803A"/>
                </a:solidFill>
                <a:latin typeface="Aptos"/>
              </a:rPr>
              <a:t>Outcome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" y="3346704"/>
            <a:ext cx="117043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Microsoft YaHei"/>
              </a:rPr>
              <a:t>训练顺序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6656" y="3776472"/>
            <a:ext cx="1938528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" y="3931920"/>
            <a:ext cx="25603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3886200"/>
            <a:ext cx="136245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Prompt / Rule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4251960"/>
            <a:ext cx="1682496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Microsoft YaHei"/>
              </a:rPr>
              <a:t>先定位错误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98648" y="3776472"/>
            <a:ext cx="1938528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17520" y="3931920"/>
            <a:ext cx="25603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Aptos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00984" y="3886200"/>
            <a:ext cx="136245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Aptos"/>
              </a:rPr>
              <a:t>SFT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26664" y="4251960"/>
            <a:ext cx="1682496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Microsoft YaHei"/>
              </a:rPr>
              <a:t>state + source + action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20640" y="3776472"/>
            <a:ext cx="1938528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39512" y="3931920"/>
            <a:ext cx="25603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6D4BC3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22976" y="3886200"/>
            <a:ext cx="136245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6D4BC3"/>
                </a:solidFill>
                <a:latin typeface="Aptos"/>
              </a:rPr>
              <a:t>Pairwise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48656" y="4251960"/>
            <a:ext cx="1682496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Microsoft YaHei"/>
              </a:rPr>
              <a:t>正确来源 vs hard negative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42632" y="3776472"/>
            <a:ext cx="1938528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61504" y="3931920"/>
            <a:ext cx="25603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44968" y="3886200"/>
            <a:ext cx="136245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ptos"/>
              </a:rPr>
              <a:t>Listwise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70648" y="4251960"/>
            <a:ext cx="1682496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Microsoft YaHei"/>
              </a:rPr>
              <a:t>admissible action + cost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64624" y="3776472"/>
            <a:ext cx="1938528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83496" y="3931920"/>
            <a:ext cx="25603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B42318"/>
                </a:solidFill>
                <a:latin typeface="Aptos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66960" y="3886200"/>
            <a:ext cx="136245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B42318"/>
                </a:solidFill>
                <a:latin typeface="Aptos"/>
              </a:rPr>
              <a:t>Optional RL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92640" y="4251960"/>
            <a:ext cx="1682496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Microsoft YaHei"/>
              </a:rPr>
              <a:t>仅在顺序探索必要时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76656" y="5065776"/>
            <a:ext cx="10826496" cy="932688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2688" y="5340096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DDF3EF"/>
                </a:solidFill>
                <a:latin typeface="Aptos"/>
              </a:rPr>
              <a:t>Reward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19072" y="5294376"/>
            <a:ext cx="9400032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closure + correct route + exact outcome − acquisition cost − premature commit − unsupported success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99616" y="6172200"/>
            <a:ext cx="92354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5B667A"/>
                </a:solidFill>
                <a:latin typeface="Microsoft YaHei"/>
              </a:rPr>
              <a:t>MVP 不需要独立 GRM：symbolic gold 与环境 validator 已提供可验证信号。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2064" y="6528816"/>
            <a:ext cx="92811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The architecture is a reference controller; the source-transition objective is the method-specific idea.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02368" y="6528816"/>
            <a:ext cx="184708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MemReadyBench v2 · 2026-09-03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840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13 /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09728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可以主张什么，绝对不能主张什么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19072"/>
            <a:ext cx="5193792" cy="4407408"/>
          </a:xfrm>
          <a:prstGeom prst="roundRect">
            <a:avLst/>
          </a:prstGeom>
          <a:solidFill>
            <a:srgbClr val="DDF3E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1965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Aptos"/>
              </a:rPr>
              <a:t>DEFENSIBLE CLAIMS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68880"/>
            <a:ext cx="4590288" cy="3017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F766E"/>
                </a:solidFill>
                <a:latin typeface="Microsoft YaHei"/>
              </a:rPr>
              <a:t>• </a:t>
            </a:r>
            <a:r>
              <a:rPr sz="1300">
                <a:solidFill>
                  <a:srgbClr val="172033"/>
                </a:solidFill>
                <a:latin typeface="Microsoft YaHei"/>
              </a:rPr>
              <a:t>source-aware action readiness 的统一定义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F766E"/>
                </a:solidFill>
                <a:latin typeface="Microsoft YaHei"/>
              </a:rPr>
              <a:t>• </a:t>
            </a:r>
            <a:r>
              <a:rPr sz="1300">
                <a:solidFill>
                  <a:srgbClr val="172033"/>
                </a:solidFill>
                <a:latin typeface="Microsoft YaHei"/>
              </a:rPr>
              <a:t>Source × Integrity matched counterfactual families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F766E"/>
                </a:solidFill>
                <a:latin typeface="Microsoft YaHei"/>
              </a:rPr>
              <a:t>• </a:t>
            </a:r>
            <a:r>
              <a:rPr sz="1300">
                <a:solidFill>
                  <a:srgbClr val="172033"/>
                </a:solidFill>
                <a:latin typeface="Microsoft YaHei"/>
              </a:rPr>
              <a:t>action flip + closure convergence 双重协议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F766E"/>
                </a:solidFill>
                <a:latin typeface="Microsoft YaHei"/>
              </a:rPr>
              <a:t>• </a:t>
            </a:r>
            <a:r>
              <a:rPr sz="1300">
                <a:solidFill>
                  <a:srgbClr val="172033"/>
                </a:solidFill>
                <a:latin typeface="Microsoft YaHei"/>
              </a:rPr>
              <a:t>真实 memory stack 的 decision-point joint gold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F766E"/>
                </a:solidFill>
                <a:latin typeface="Microsoft YaHei"/>
              </a:rPr>
              <a:t>• </a:t>
            </a:r>
            <a:r>
              <a:rPr sz="1300">
                <a:solidFill>
                  <a:srgbClr val="172033"/>
                </a:solidFill>
                <a:latin typeface="Microsoft YaHei"/>
              </a:rPr>
              <a:t>monitor / routing / retrieval / execution oracle 分解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F766E"/>
                </a:solidFill>
                <a:latin typeface="Microsoft YaHei"/>
              </a:rPr>
              <a:t>• </a:t>
            </a:r>
            <a:r>
              <a:rPr sz="1300">
                <a:solidFill>
                  <a:srgbClr val="172033"/>
                </a:solidFill>
                <a:latin typeface="Microsoft YaHei"/>
              </a:rPr>
              <a:t>可重采样、可执行的任务与 validator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19072"/>
            <a:ext cx="5285232" cy="4407408"/>
          </a:xfrm>
          <a:prstGeom prst="roundRect">
            <a:avLst/>
          </a:prstGeom>
          <a:solidFill>
            <a:srgbClr val="FDE8E7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8816" y="1993392"/>
            <a:ext cx="1965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B42318"/>
                </a:solidFill>
                <a:latin typeface="Aptos"/>
              </a:rPr>
              <a:t>CLAIMS TO AVOID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8816" y="2468880"/>
            <a:ext cx="4626864" cy="31455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B42318"/>
                </a:solidFill>
                <a:latin typeface="Microsoft YaHei"/>
              </a:rPr>
              <a:t>• </a:t>
            </a:r>
            <a:r>
              <a:rPr sz="1300">
                <a:solidFill>
                  <a:srgbClr val="172033"/>
                </a:solidFill>
                <a:latin typeface="Microsoft YaHei"/>
              </a:rPr>
              <a:t>首次研究 memory sufficiency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B42318"/>
                </a:solidFill>
                <a:latin typeface="Microsoft YaHei"/>
              </a:rPr>
              <a:t>• </a:t>
            </a:r>
            <a:r>
              <a:rPr sz="1300">
                <a:solidFill>
                  <a:srgbClr val="172033"/>
                </a:solidFill>
                <a:latin typeface="Microsoft YaHei"/>
              </a:rPr>
              <a:t>首次提出 safe commitment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B42318"/>
                </a:solidFill>
                <a:latin typeface="Microsoft YaHei"/>
              </a:rPr>
              <a:t>• </a:t>
            </a:r>
            <a:r>
              <a:rPr sz="1300">
                <a:solidFill>
                  <a:srgbClr val="172033"/>
                </a:solidFill>
                <a:latin typeface="Microsoft YaHei"/>
              </a:rPr>
              <a:t>首次引入 ask / verify / abstain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B42318"/>
                </a:solidFill>
                <a:latin typeface="Microsoft YaHei"/>
              </a:rPr>
              <a:t>• </a:t>
            </a:r>
            <a:r>
              <a:rPr sz="1300">
                <a:solidFill>
                  <a:srgbClr val="172033"/>
                </a:solidFill>
                <a:latin typeface="Microsoft YaHei"/>
              </a:rPr>
              <a:t>首次做 paired executable tasks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B42318"/>
                </a:solidFill>
                <a:latin typeface="Microsoft YaHei"/>
              </a:rPr>
              <a:t>• </a:t>
            </a:r>
            <a:r>
              <a:rPr sz="1300">
                <a:solidFill>
                  <a:srgbClr val="172033"/>
                </a:solidFill>
                <a:latin typeface="Microsoft YaHei"/>
              </a:rPr>
              <a:t>首次把 memory operation 当 action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B42318"/>
                </a:solidFill>
                <a:latin typeface="Microsoft YaHei"/>
              </a:rPr>
              <a:t>• </a:t>
            </a:r>
            <a:r>
              <a:rPr sz="1300">
                <a:solidFill>
                  <a:srgbClr val="172033"/>
                </a:solidFill>
                <a:latin typeface="Microsoft YaHei"/>
              </a:rPr>
              <a:t>首次处理 stale / conflict / poison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B42318"/>
                </a:solidFill>
                <a:latin typeface="Microsoft YaHei"/>
              </a:rPr>
              <a:t>• </a:t>
            </a:r>
            <a:r>
              <a:rPr sz="1300">
                <a:solidFill>
                  <a:srgbClr val="172033"/>
                </a:solidFill>
                <a:latin typeface="Microsoft YaHei"/>
              </a:rPr>
              <a:t>首次做 setwise evidence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6528816"/>
            <a:ext cx="92811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Use 'to our knowledge' and define the conjunction precisely; do not use an absolute first claim.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02368" y="6528816"/>
            <a:ext cx="184708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MemReadyBench v2 · 2026-09-03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840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14 / PAPER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09728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论文主线：从“能否回忆”推进到“能否找到正确证据来源后再行动”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00784"/>
            <a:ext cx="10881360" cy="658368"/>
          </a:xfrm>
          <a:prstGeom prst="roundRect">
            <a:avLst/>
          </a:prstGeom>
          <a:solidFill>
            <a:srgbClr val="DDF3E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892808"/>
            <a:ext cx="3840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1865376"/>
            <a:ext cx="138988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Prior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98064" y="1847088"/>
            <a:ext cx="8394192" cy="265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Microsoft YaHei"/>
              </a:rPr>
              <a:t>Recall、strategic use、safe commitment、abstention 和 memory control 已分别成熟。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560320"/>
            <a:ext cx="10881360" cy="658368"/>
          </a:xfrm>
          <a:prstGeom prst="roundRect">
            <a:avLst/>
          </a:prstGeom>
          <a:solidFill>
            <a:srgbClr val="E7EE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752344"/>
            <a:ext cx="3840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2724912"/>
            <a:ext cx="138988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Aptos"/>
              </a:rPr>
              <a:t>Missing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98064" y="2706624"/>
            <a:ext cx="8394192" cy="265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Microsoft YaHei"/>
              </a:rPr>
              <a:t>真实 Agent 同时面对 memory、world、user 等来源，却缺少来源感知 readiness 诊断。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419856"/>
            <a:ext cx="10881360" cy="658368"/>
          </a:xfrm>
          <a:prstGeom prst="roundRect">
            <a:avLst/>
          </a:prstGeom>
          <a:solidFill>
            <a:srgbClr val="EFE9FF"/>
          </a:solidFill>
          <a:ln w="12700"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3611880"/>
            <a:ext cx="3840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6D4BC3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584448"/>
            <a:ext cx="138988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6D4BC3"/>
                </a:solidFill>
                <a:latin typeface="Aptos"/>
              </a:rPr>
              <a:t>Benchmark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98064" y="3566160"/>
            <a:ext cx="8394192" cy="265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Microsoft YaHei"/>
              </a:rPr>
              <a:t>用 source relocation 改变正确 acquisition action，并用 integrity stress 增加风险。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279392"/>
            <a:ext cx="10881360" cy="658368"/>
          </a:xfrm>
          <a:prstGeom prst="roundRect">
            <a:avLst/>
          </a:prstGeom>
          <a:solidFill>
            <a:srgbClr val="FFF0D5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4471416"/>
            <a:ext cx="3840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D97706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4443983"/>
            <a:ext cx="138988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D97706"/>
                </a:solidFill>
                <a:latin typeface="Aptos"/>
              </a:rPr>
              <a:t>Protocol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98064" y="4425696"/>
            <a:ext cx="8394192" cy="265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Microsoft YaHei"/>
              </a:rPr>
              <a:t>逐决策点 joint gold + action flip + closure convergence + exact execution。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138928"/>
            <a:ext cx="10881360" cy="658368"/>
          </a:xfrm>
          <a:prstGeom prst="roundRect">
            <a:avLst/>
          </a:prstGeom>
          <a:solidFill>
            <a:srgbClr val="FDE8E7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5330952"/>
            <a:ext cx="3840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B42318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3312" y="5303520"/>
            <a:ext cx="138988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B42318"/>
                </a:solidFill>
                <a:latin typeface="Aptos"/>
              </a:rPr>
              <a:t>Finding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98064" y="5285232"/>
            <a:ext cx="8394192" cy="265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Microsoft YaHei"/>
              </a:rPr>
              <a:t>揭示不同模型和 memory stack 在 monitor、routing、retrieval、execution 的独立瓶颈。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78992" y="6144768"/>
            <a:ext cx="10040112" cy="27432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98448" y="6172200"/>
            <a:ext cx="9601200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Benchmark 的价值不在多一个排行榜，而在说明 Agent 为什么在错误的来源上继续找，或为什么过早执行。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" y="6528816"/>
            <a:ext cx="92811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The strongest paper contribution should be a new diagnostic finding enabled by the source-relocation protocol.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02368" y="6528816"/>
            <a:ext cx="184708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MemReadyBench v2 · 2026-09-03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840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15 /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09728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最终建议：有条件继续，先完成最小闭环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755648"/>
            <a:ext cx="3255264" cy="429768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2615184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DDF3EF"/>
                </a:solidFill>
                <a:latin typeface="Aptos"/>
              </a:rPr>
              <a:t>CONTINUE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61488"/>
            <a:ext cx="2615184" cy="10607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问题重要，数据与评测路线可行，四卡 4090 不是主要瓶颈。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5184648"/>
            <a:ext cx="2340864" cy="310896"/>
          </a:xfrm>
          <a:prstGeom prst="roundRect">
            <a:avLst/>
          </a:prstGeom>
          <a:solidFill>
            <a:srgbClr val="DDF3EF"/>
          </a:solidFill>
          <a:ln w="12700">
            <a:solidFill>
              <a:srgbClr val="DDF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5193792"/>
            <a:ext cx="2340864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Microsoft YaHei"/>
              </a:rPr>
              <a:t>CONDITIONAL GO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993392"/>
            <a:ext cx="2084831" cy="3072384"/>
          </a:xfrm>
          <a:prstGeom prst="roundRect">
            <a:avLst/>
          </a:prstGeom>
          <a:solidFill>
            <a:srgbClr val="DDF3E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46320" y="2313432"/>
            <a:ext cx="120700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322575"/>
            <a:ext cx="120700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Microsoft YaHei"/>
              </a:rPr>
              <a:t>NOW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3127248"/>
            <a:ext cx="153619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72033"/>
                </a:solidFill>
                <a:latin typeface="Microsoft YaHei"/>
              </a:rPr>
              <a:t>实现 20-task pilot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72033"/>
                </a:solidFill>
                <a:latin typeface="Microsoft YaHei"/>
              </a:rPr>
              <a:t>验证 source relocation 与 closure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30568" y="1993392"/>
            <a:ext cx="2084831" cy="3072384"/>
          </a:xfrm>
          <a:prstGeom prst="roundRect">
            <a:avLst/>
          </a:prstGeom>
          <a:solidFill>
            <a:srgbClr val="E7EE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269479" y="2313432"/>
            <a:ext cx="120700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79" y="2322575"/>
            <a:ext cx="120700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04888" y="3127248"/>
            <a:ext cx="153619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72033"/>
                </a:solidFill>
                <a:latin typeface="Microsoft YaHei"/>
              </a:rPr>
              <a:t>扩展到 300–500 tasks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72033"/>
                </a:solidFill>
                <a:latin typeface="Microsoft YaHei"/>
              </a:rPr>
              <a:t>比较真实 memory stacks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53728" y="1993392"/>
            <a:ext cx="2084831" cy="3072384"/>
          </a:xfrm>
          <a:prstGeom prst="roundRect">
            <a:avLst/>
          </a:prstGeom>
          <a:solidFill>
            <a:srgbClr val="FFF0D5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92640" y="2313432"/>
            <a:ext cx="120700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2322575"/>
            <a:ext cx="120700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Microsoft YaHei"/>
              </a:rPr>
              <a:t>LATER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8048" y="3127248"/>
            <a:ext cx="153619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72033"/>
                </a:solidFill>
                <a:latin typeface="Microsoft YaHei"/>
              </a:rPr>
              <a:t>仅在暴露 routing bottleneck 后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72033"/>
                </a:solidFill>
                <a:latin typeface="Microsoft YaHei"/>
              </a:rPr>
              <a:t>训练 source-aware controller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07408" y="5468112"/>
            <a:ext cx="6931152" cy="58521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5623560"/>
            <a:ext cx="6419088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B42318"/>
                </a:solidFill>
                <a:latin typeface="Microsoft YaHei"/>
              </a:rPr>
              <a:t>第一道生死线：强模型是否仍会在正确来源之间路由失败。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" y="6528816"/>
            <a:ext cx="92811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Recommended title: MemReadyBench: Evaluating Source-Aware Action Readiness in Persistent-Memory Agents.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02368" y="6528816"/>
            <a:ext cx="184708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MemReadyBench v2 · 2026-09-03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840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09728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同期直接竞争与关键邻近工作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69848"/>
            <a:ext cx="10881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B667A"/>
                </a:solidFill>
                <a:latin typeface="Microsoft YaHei"/>
              </a:rPr>
              <a:t>完整撞题矩阵、状态与 limitation 见配套审计报告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82496"/>
            <a:ext cx="320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5" y="1682496"/>
            <a:ext cx="4937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SafeCommit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5" y="1901952"/>
            <a:ext cx="49377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  <a:hlinkClick r:id="rId2"/>
              </a:rPr>
              <a:t>arXiv 2608.04289 · 2026-08-04  ·  https://arxiv.org/abs/2608.04289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313432"/>
            <a:ext cx="320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5" y="2313432"/>
            <a:ext cx="4937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Remember, Verify, or Ask? (MCB)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5" y="2532888"/>
            <a:ext cx="49377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  <a:hlinkClick r:id="rId3"/>
              </a:rPr>
              <a:t>arXiv 2608.19564 · 2026-08-20  ·  https://arxiv.org/abs/2608.19564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944368"/>
            <a:ext cx="320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5" y="2944368"/>
            <a:ext cx="4937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AgentAbstain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5" y="3163824"/>
            <a:ext cx="49377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  <a:hlinkClick r:id="rId4"/>
              </a:rPr>
              <a:t>arXiv 2607.10059 · 2026-07-11  ·  https://arxiv.org/abs/2607.10059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575304"/>
            <a:ext cx="320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5" y="3575304"/>
            <a:ext cx="4937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Router-Mem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5" y="3794760"/>
            <a:ext cx="49377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  <a:hlinkClick r:id="rId5"/>
              </a:rPr>
              <a:t>arXiv 2608.01285 · 2026-08-02  ·  https://arxiv.org/abs/2608.01285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206240"/>
            <a:ext cx="320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5" y="4206240"/>
            <a:ext cx="4937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InfMem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5" y="4425696"/>
            <a:ext cx="49377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  <a:hlinkClick r:id="rId6"/>
              </a:rPr>
              <a:t>arXiv 2602.02704 · COLM 2026  ·  https://arxiv.org/abs/2602.02704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837176"/>
            <a:ext cx="320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5" y="4837176"/>
            <a:ext cx="4937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MemSyco-Bench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5" y="5056632"/>
            <a:ext cx="49377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  <a:hlinkClick r:id="rId7"/>
              </a:rPr>
              <a:t>arXiv 2607.01071 · 2026-07-01  ·  https://arxiv.org/abs/2607.01071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468112"/>
            <a:ext cx="320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5" y="5468112"/>
            <a:ext cx="4937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SURE-RAG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5" y="5687568"/>
            <a:ext cx="49377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  <a:hlinkClick r:id="rId8"/>
              </a:rPr>
              <a:t>arXiv 2605.03534 · 2026-05-05  ·  https://arxiv.org/abs/2605.03534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9632" y="1682496"/>
            <a:ext cx="320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1682496"/>
            <a:ext cx="4937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Memory as a Controlled Process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1901952"/>
            <a:ext cx="49377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  <a:hlinkClick r:id="rId9"/>
              </a:rPr>
              <a:t>arXiv 2607.13591 · 2026-07-15  ·  https://arxiv.org/abs/2607.13591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9632" y="2313432"/>
            <a:ext cx="320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2313432"/>
            <a:ext cx="4937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Oblivion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2532888"/>
            <a:ext cx="49377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  <a:hlinkClick r:id="rId10"/>
              </a:rPr>
              <a:t>arXiv 2604.00131 · EMNLP 2026  ·  https://arxiv.org/abs/2604.00131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9632" y="2944368"/>
            <a:ext cx="320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2944368"/>
            <a:ext cx="4937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KnowU-Bench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3163824"/>
            <a:ext cx="49377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  <a:hlinkClick r:id="rId11"/>
              </a:rPr>
              <a:t>arXiv 2604.08455 · 2026-04-09  ·  https://arxiv.org/abs/2604.08455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9632" y="3575304"/>
            <a:ext cx="320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3575304"/>
            <a:ext cx="4937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When2Tool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3794760"/>
            <a:ext cx="49377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  <a:hlinkClick r:id="rId12"/>
              </a:rPr>
              <a:t>arXiv 2605.09252 · 2026-05-10  ·  https://arxiv.org/abs/2605.09252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99632" y="4206240"/>
            <a:ext cx="320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4206240"/>
            <a:ext cx="4937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Calibrate-Then-Act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4425696"/>
            <a:ext cx="49377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  <a:hlinkClick r:id="rId13"/>
              </a:rPr>
              <a:t>arXiv 2602.16699 · 2026-02-18  ·  https://arxiv.org/abs/2602.16699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99632" y="4837176"/>
            <a:ext cx="320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13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4837176"/>
            <a:ext cx="4937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MetaMem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5056632"/>
            <a:ext cx="49377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  <a:hlinkClick r:id="rId14"/>
              </a:rPr>
              <a:t>arXiv 2602.11182 · 2026-01-27  ·  https://arxiv.org/abs/2602.11182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99632" y="5468112"/>
            <a:ext cx="320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5468112"/>
            <a:ext cx="4937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Decision-Aware Memory Cards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5687568"/>
            <a:ext cx="49377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  <a:hlinkClick r:id="rId15"/>
              </a:rPr>
              <a:t>arXiv 2606.08151 · 2026-06-06  ·  https://arxiv.org/abs/2606.08151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" y="6236208"/>
            <a:ext cx="10899648" cy="182880"/>
          </a:xfrm>
          <a:prstGeom prst="rect">
            <a:avLst/>
          </a:prstGeom>
          <a:solidFill>
            <a:srgbClr val="DDF3EF"/>
          </a:solidFill>
          <a:ln w="12700">
            <a:solidFill>
              <a:srgbClr val="DDF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6384" y="6236208"/>
            <a:ext cx="10570464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0F766E"/>
                </a:solidFill>
                <a:latin typeface="Aptos"/>
              </a:rPr>
              <a:t>Proposal: docs/ideas/2026-09-03-memreadybench-source-aware-readiness-v2.md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