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607" r:id="rId3"/>
    <p:sldId id="614" r:id="rId4"/>
    <p:sldId id="616" r:id="rId5"/>
    <p:sldId id="631" r:id="rId6"/>
    <p:sldId id="632" r:id="rId7"/>
    <p:sldId id="633" r:id="rId8"/>
    <p:sldId id="634" r:id="rId9"/>
    <p:sldId id="621" r:id="rId10"/>
    <p:sldId id="635" r:id="rId11"/>
    <p:sldId id="622" r:id="rId12"/>
    <p:sldId id="636" r:id="rId13"/>
    <p:sldId id="637" r:id="rId14"/>
    <p:sldId id="638" r:id="rId15"/>
    <p:sldId id="639" r:id="rId25"/>
    <p:sldId id="640" r:id="rId26"/>
    <p:sldId id="641" r:id="rId27"/>
    <p:sldId id="642" r:id="rId28"/>
    <p:sldId id="643" r:id="rId29"/>
    <p:sldId id="644" r:id="rId30"/>
    <p:sldId id="645" r:id="rId31"/>
    <p:sldId id="646" r:id="rId32"/>
    <p:sldId id="647" r:id="rId33"/>
    <p:sldId id="648" r:id="rId34"/>
    <p:sldId id="649" r:id="rId35"/>
    <p:sldId id="650" r:id="rId36"/>
    <p:sldId id="651" r:id="rId37"/>
    <p:sldId id="652" r:id="rId38"/>
    <p:sldId id="653" r:id="rId39"/>
    <p:sldId id="654" r:id="rId40"/>
    <p:sldId id="655" r:id="rId41"/>
    <p:sldId id="656" r:id="rId42"/>
    <p:sldId id="657" r:id="rId43"/>
    <p:sldId id="658" r:id="rId44"/>
    <p:sldId id="659" r:id="rId45"/>
    <p:sldId id="660" r:id="rId46"/>
    <p:sldId id="661" r:id="rId47"/>
    <p:sldId id="354" r:id="rId16"/>
  </p:sldIdLst>
  <p:sldSz cx="12192000" cy="6858000"/>
  <p:notesSz cx="7104063" cy="10234613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SQ" initials="ZS" lastIdx="20" clrIdx="0"/>
  <p:cmAuthor id="2" name="Administrator" initials="A" lastIdx="2" clrIdx="1"/>
  <p:cmAuthor id="3" name="吴 亦珂" initials="吴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F497D"/>
    <a:srgbClr val="FFF2CC"/>
    <a:srgbClr val="C9E6F1"/>
    <a:srgbClr val="DBF1CE"/>
    <a:srgbClr val="D4E0F9"/>
    <a:srgbClr val="071F65"/>
    <a:srgbClr val="F6BB00"/>
    <a:srgbClr val="BD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2805" autoAdjust="0"/>
  </p:normalViewPr>
  <p:slideViewPr>
    <p:cSldViewPr showGuides="1">
      <p:cViewPr varScale="1">
        <p:scale>
          <a:sx n="74" d="100"/>
          <a:sy n="74" d="100"/>
        </p:scale>
        <p:origin x="82" y="2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68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354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r">
              <a:defRPr sz="1300"/>
            </a:lvl1pPr>
          </a:lstStyle>
          <a:p>
            <a:fld id="{9917FF82-BF6E-4CF3-9BC5-B117A23C0B8B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r">
              <a:defRPr sz="1300"/>
            </a:lvl1pPr>
          </a:lstStyle>
          <a:p>
            <a:fld id="{C1F7C08F-D52A-499E-A227-BAB2A2F122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47210" y="4861442"/>
            <a:ext cx="5209646" cy="4605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/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6102" y="1844823"/>
            <a:ext cx="9144000" cy="1548173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548336" y="3933056"/>
            <a:ext cx="4427984" cy="57606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汇报人：</a:t>
            </a:r>
          </a:p>
        </p:txBody>
      </p:sp>
      <p:sp>
        <p:nvSpPr>
          <p:cNvPr id="23" name="直接连接符 16"/>
          <p:cNvSpPr/>
          <p:nvPr userDrawn="1"/>
        </p:nvSpPr>
        <p:spPr>
          <a:xfrm>
            <a:off x="1376102" y="3573016"/>
            <a:ext cx="9171588" cy="0"/>
          </a:xfrm>
          <a:prstGeom prst="line">
            <a:avLst/>
          </a:prstGeom>
          <a:ln w="28575">
            <a:solidFill>
              <a:srgbClr val="3B3838"/>
            </a:solidFill>
            <a:miter/>
          </a:ln>
        </p:spPr>
        <p:txBody>
          <a:bodyPr lIns="45719" rIns="45719"/>
          <a:lstStyle/>
          <a:p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11424" y="674380"/>
            <a:ext cx="10988093" cy="4571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814820" y="821851"/>
            <a:ext cx="10377180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3499776" y="6237312"/>
            <a:ext cx="5192447" cy="400110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0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278349" y="271432"/>
            <a:ext cx="1210787" cy="12133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  <a:headEnd/>
            <a:tailEnd/>
          </a:ln>
        </p:spPr>
      </p:pic>
      <p:sp>
        <p:nvSpPr>
          <p:cNvPr id="21" name="平行四边形 20"/>
          <p:cNvSpPr/>
          <p:nvPr userDrawn="1"/>
        </p:nvSpPr>
        <p:spPr>
          <a:xfrm>
            <a:off x="9959911" y="1383388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22" name="椭圆 21"/>
          <p:cNvSpPr/>
          <p:nvPr userDrawn="1"/>
        </p:nvSpPr>
        <p:spPr>
          <a:xfrm>
            <a:off x="9568735" y="1223108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9634158" y="240164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5" name="椭圆 24"/>
          <p:cNvSpPr/>
          <p:nvPr userDrawn="1"/>
        </p:nvSpPr>
        <p:spPr>
          <a:xfrm flipH="1">
            <a:off x="9926169" y="327129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 rot="2100000">
            <a:off x="9776972" y="649458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7" name="椭圆 26"/>
          <p:cNvSpPr/>
          <p:nvPr userDrawn="1"/>
        </p:nvSpPr>
        <p:spPr>
          <a:xfrm>
            <a:off x="9408368" y="923917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8" name="椭圆 27"/>
          <p:cNvSpPr/>
          <p:nvPr userDrawn="1"/>
        </p:nvSpPr>
        <p:spPr>
          <a:xfrm flipH="1">
            <a:off x="9700379" y="1010882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 rot="17160000">
            <a:off x="9482134" y="729367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908946" y="977141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31" name="椭圆 30"/>
          <p:cNvSpPr/>
          <p:nvPr userDrawn="1"/>
        </p:nvSpPr>
        <p:spPr>
          <a:xfrm>
            <a:off x="10255679" y="663819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2" name="椭圆 31"/>
          <p:cNvSpPr/>
          <p:nvPr userDrawn="1"/>
        </p:nvSpPr>
        <p:spPr>
          <a:xfrm flipH="1">
            <a:off x="10547690" y="750784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 rot="20520000">
            <a:off x="9761327" y="949176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18402" y="836712"/>
            <a:ext cx="1755195" cy="648072"/>
          </a:xfrm>
          <a:prstGeom prst="rect">
            <a:avLst/>
          </a:prstGeom>
        </p:spPr>
        <p:txBody>
          <a:bodyPr anchor="b"/>
          <a:lstStyle>
            <a:lvl1pPr algn="l">
              <a:defRPr sz="4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目  录</a:t>
            </a:r>
          </a:p>
        </p:txBody>
      </p:sp>
      <p:sp>
        <p:nvSpPr>
          <p:cNvPr id="50" name="矩形 49"/>
          <p:cNvSpPr/>
          <p:nvPr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1" name="平行四边形 50"/>
          <p:cNvSpPr/>
          <p:nvPr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椭圆 53"/>
          <p:cNvSpPr/>
          <p:nvPr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0" name="矩形 59"/>
          <p:cNvSpPr/>
          <p:nvPr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椭圆 61"/>
          <p:cNvSpPr/>
          <p:nvPr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矩形 62"/>
          <p:cNvSpPr/>
          <p:nvPr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774440" y="6298981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65" name="图片 3" descr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梯形 7"/>
          <p:cNvSpPr/>
          <p:nvPr userDrawn="1"/>
        </p:nvSpPr>
        <p:spPr>
          <a:xfrm rot="16200000">
            <a:off x="7305290" y="-190466"/>
            <a:ext cx="2534492" cy="7238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4502" y="0"/>
                </a:lnTo>
                <a:lnTo>
                  <a:pt x="1709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任意多边形 5"/>
          <p:cNvSpPr/>
          <p:nvPr userDrawn="1"/>
        </p:nvSpPr>
        <p:spPr>
          <a:xfrm>
            <a:off x="-101744" y="2276872"/>
            <a:ext cx="5054814" cy="2282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897"/>
                </a:lnTo>
                <a:lnTo>
                  <a:pt x="21600" y="3879"/>
                </a:lnTo>
                <a:lnTo>
                  <a:pt x="0" y="0"/>
                </a:lnTo>
                <a:close/>
              </a:path>
            </a:pathLst>
          </a:custGeom>
          <a:solidFill>
            <a:srgbClr val="F6BB00">
              <a:alpha val="6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8" name="图片 1" descr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07" y="1948519"/>
            <a:ext cx="2215952" cy="219151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矩形 8"/>
          <p:cNvSpPr/>
          <p:nvPr userDrawn="1"/>
        </p:nvSpPr>
        <p:spPr>
          <a:xfrm>
            <a:off x="46800" y="61892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551384" y="72866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平行四边形 9"/>
          <p:cNvSpPr/>
          <p:nvPr userDrawn="1"/>
        </p:nvSpPr>
        <p:spPr>
          <a:xfrm>
            <a:off x="9959911" y="128332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568735" y="112304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634158" y="14010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26169" y="22706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2100000">
            <a:off x="9776972" y="54939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9408368" y="82385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 flipH="1">
            <a:off x="9700379" y="91081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 rot="17160000">
            <a:off x="9482134" y="62930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9908946" y="87707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椭圆 19"/>
          <p:cNvSpPr/>
          <p:nvPr userDrawn="1"/>
        </p:nvSpPr>
        <p:spPr>
          <a:xfrm>
            <a:off x="10255679" y="56375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1" name="椭圆 20"/>
          <p:cNvSpPr/>
          <p:nvPr userDrawn="1"/>
        </p:nvSpPr>
        <p:spPr>
          <a:xfrm flipH="1">
            <a:off x="10547690" y="65072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 rot="20520000">
            <a:off x="9761327" y="84911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3000441" y="6198735"/>
            <a:ext cx="6191118" cy="461665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3055062" y="3523960"/>
            <a:ext cx="1366044" cy="437851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Part</a:t>
            </a:r>
            <a:endParaRPr kumimoji="0" lang="en-US" altLang="zh-CN" sz="6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obe 黑体 Std R"/>
              <a:ea typeface="Adobe 黑体 Std R"/>
              <a:sym typeface="Adobe 黑体 Std R"/>
            </a:endParaRPr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1" hasCustomPrompt="1"/>
          </p:nvPr>
        </p:nvSpPr>
        <p:spPr>
          <a:xfrm>
            <a:off x="3689796" y="3066760"/>
            <a:ext cx="1366044" cy="914400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1</a:t>
            </a: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3" hasCustomPrompt="1"/>
          </p:nvPr>
        </p:nvSpPr>
        <p:spPr>
          <a:xfrm>
            <a:off x="6035338" y="3220594"/>
            <a:ext cx="1750685" cy="522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911424" y="9932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2"/>
          <p:cNvSpPr>
            <a:spLocks noGrp="1"/>
          </p:cNvSpPr>
          <p:nvPr>
            <p:ph idx="1"/>
          </p:nvPr>
        </p:nvSpPr>
        <p:spPr>
          <a:xfrm>
            <a:off x="911424" y="2438900"/>
            <a:ext cx="10515600" cy="3875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7" name="平行四边形 6"/>
          <p:cNvSpPr/>
          <p:nvPr userDrawn="1"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椭圆 16"/>
          <p:cNvSpPr/>
          <p:nvPr userDrawn="1"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774440" y="6445076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1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45838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105103" y="10080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95247" y="8269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47317" y="446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79727" y="1138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60982" y="3703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67612" y="5888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900022" y="6580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726322" y="4339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030897" y="6541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48530" y="6089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" name="矩形 16"/>
          <p:cNvSpPr/>
          <p:nvPr userDrawn="1"/>
        </p:nvSpPr>
        <p:spPr>
          <a:xfrm>
            <a:off x="1219953" y="52810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41982" y="3818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74392" y="4510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0150783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40927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9892997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0125407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006662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9713292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9945702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9772002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076577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387662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0620072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9994210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-大面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069995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60139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12209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44619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25874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32504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864914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691214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995789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06874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39284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13422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 userDrawn="1"/>
        </p:nvSpPr>
        <p:spPr>
          <a:xfrm>
            <a:off x="3651598" y="6289238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40" name="任意多边形 6"/>
          <p:cNvSpPr/>
          <p:nvPr/>
        </p:nvSpPr>
        <p:spPr>
          <a:xfrm>
            <a:off x="8147909" y="1716433"/>
            <a:ext cx="4122553" cy="4184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257" y="11120"/>
                </a:moveTo>
                <a:lnTo>
                  <a:pt x="9095" y="11200"/>
                </a:lnTo>
                <a:lnTo>
                  <a:pt x="21600" y="0"/>
                </a:lnTo>
                <a:lnTo>
                  <a:pt x="21356" y="18080"/>
                </a:lnTo>
                <a:lnTo>
                  <a:pt x="0" y="21600"/>
                </a:lnTo>
                <a:lnTo>
                  <a:pt x="1056" y="17200"/>
                </a:lnTo>
                <a:lnTo>
                  <a:pt x="9338" y="10880"/>
                </a:lnTo>
                <a:lnTo>
                  <a:pt x="9257" y="11120"/>
                </a:lnTo>
                <a:close/>
              </a:path>
            </a:pathLst>
          </a:custGeom>
          <a:solidFill>
            <a:srgbClr val="1F497D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1" name="矩形 13"/>
          <p:cNvSpPr/>
          <p:nvPr/>
        </p:nvSpPr>
        <p:spPr>
          <a:xfrm rot="15778716">
            <a:off x="9553773" y="4299863"/>
            <a:ext cx="1405177" cy="174441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2" name="矩形 14"/>
          <p:cNvSpPr/>
          <p:nvPr/>
        </p:nvSpPr>
        <p:spPr>
          <a:xfrm rot="20391046">
            <a:off x="8563822" y="5408665"/>
            <a:ext cx="1807308" cy="104850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3" name="任意多边形 8"/>
          <p:cNvSpPr/>
          <p:nvPr userDrawn="1"/>
        </p:nvSpPr>
        <p:spPr>
          <a:xfrm>
            <a:off x="8147909" y="5095065"/>
            <a:ext cx="2107770" cy="8059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8" y="0"/>
                </a:moveTo>
                <a:lnTo>
                  <a:pt x="0" y="21600"/>
                </a:lnTo>
                <a:lnTo>
                  <a:pt x="21600" y="0"/>
                </a:lnTo>
                <a:lnTo>
                  <a:pt x="1588" y="0"/>
                </a:lnTo>
                <a:close/>
              </a:path>
            </a:pathLst>
          </a:custGeom>
          <a:solidFill>
            <a:srgbClr val="F6BB00">
              <a:alpha val="9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0" name="Line"/>
          <p:cNvSpPr/>
          <p:nvPr/>
        </p:nvSpPr>
        <p:spPr>
          <a:xfrm>
            <a:off x="-298672" y="1762930"/>
            <a:ext cx="10554351" cy="3332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6978" y="1005"/>
                </a:lnTo>
                <a:lnTo>
                  <a:pt x="6978" y="3215"/>
                </a:lnTo>
                <a:lnTo>
                  <a:pt x="21093" y="3215"/>
                </a:lnTo>
                <a:lnTo>
                  <a:pt x="21600" y="21600"/>
                </a:lnTo>
                <a:lnTo>
                  <a:pt x="4314" y="21299"/>
                </a:lnTo>
                <a:lnTo>
                  <a:pt x="4314" y="19792"/>
                </a:lnTo>
                <a:lnTo>
                  <a:pt x="127" y="18988"/>
                </a:lnTo>
              </a:path>
            </a:pathLst>
          </a:custGeom>
          <a:solidFill>
            <a:srgbClr val="1F497D"/>
          </a:solidFill>
          <a:ln w="12700" cap="flat">
            <a:solidFill>
              <a:srgbClr val="42719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1" name="Text"/>
          <p:cNvSpPr txBox="1"/>
          <p:nvPr/>
        </p:nvSpPr>
        <p:spPr>
          <a:xfrm>
            <a:off x="-298672" y="3244333"/>
            <a:ext cx="1055435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dirty="0">
                <a:ea typeface="楷体" panose="02010609060101010101" pitchFamily="49" charset="-122"/>
              </a:rPr>
              <a:t>   </a:t>
            </a:r>
          </a:p>
        </p:txBody>
      </p:sp>
      <p:sp>
        <p:nvSpPr>
          <p:cNvPr id="48" name="矩形 12"/>
          <p:cNvSpPr/>
          <p:nvPr/>
        </p:nvSpPr>
        <p:spPr>
          <a:xfrm rot="16200000">
            <a:off x="1950003" y="3453336"/>
            <a:ext cx="2573116" cy="266703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49" name="图片 1" descr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04" y="2350228"/>
            <a:ext cx="1867031" cy="1861853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46" name="任意多边形 9"/>
          <p:cNvSpPr/>
          <p:nvPr/>
        </p:nvSpPr>
        <p:spPr>
          <a:xfrm>
            <a:off x="1794391" y="4816095"/>
            <a:ext cx="1308818" cy="250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387"/>
                </a:lnTo>
                <a:lnTo>
                  <a:pt x="341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6BB0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800" y="66746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51384" y="77720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平行四边形 54"/>
          <p:cNvSpPr/>
          <p:nvPr/>
        </p:nvSpPr>
        <p:spPr>
          <a:xfrm>
            <a:off x="9959911" y="133186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568735" y="117158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9634158" y="18864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椭圆 57"/>
          <p:cNvSpPr/>
          <p:nvPr/>
        </p:nvSpPr>
        <p:spPr>
          <a:xfrm flipH="1">
            <a:off x="9926169" y="27560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矩形 58"/>
          <p:cNvSpPr/>
          <p:nvPr/>
        </p:nvSpPr>
        <p:spPr>
          <a:xfrm rot="2100000">
            <a:off x="9776972" y="59793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9408368" y="87239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 flipH="1">
            <a:off x="9700379" y="95935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 rot="17160000">
            <a:off x="9482134" y="67784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908946" y="92561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4" name="椭圆 63"/>
          <p:cNvSpPr/>
          <p:nvPr/>
        </p:nvSpPr>
        <p:spPr>
          <a:xfrm>
            <a:off x="10255679" y="61229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5" name="椭圆 64"/>
          <p:cNvSpPr/>
          <p:nvPr/>
        </p:nvSpPr>
        <p:spPr>
          <a:xfrm flipH="1">
            <a:off x="10547690" y="69926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6" name="矩形 65"/>
          <p:cNvSpPr/>
          <p:nvPr/>
        </p:nvSpPr>
        <p:spPr>
          <a:xfrm rot="20520000">
            <a:off x="9761327" y="89765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7" name="文本框 10"/>
          <p:cNvSpPr txBox="1"/>
          <p:nvPr userDrawn="1"/>
        </p:nvSpPr>
        <p:spPr>
          <a:xfrm>
            <a:off x="3752206" y="3248797"/>
            <a:ext cx="5881870" cy="81047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indent="71755">
              <a:defRPr sz="5400" b="1" spc="7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ctr">
              <a:lnSpc>
                <a:spcPts val="5600"/>
              </a:lnSpc>
              <a:spcAft>
                <a:spcPts val="600"/>
              </a:spcAft>
            </a:pPr>
            <a:r>
              <a:rPr lang="zh-CN" altLang="en-US" sz="4800" b="1" dirty="0">
                <a:latin typeface="楷体" panose="02010609060101010101" pitchFamily="49" charset="-122"/>
                <a:ea typeface="楷体" panose="02010609060101010101" pitchFamily="49" charset="-122"/>
              </a:rPr>
              <a:t>请各位批评指正！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67408" y="2276872"/>
            <a:ext cx="10513168" cy="1228328"/>
          </a:xfrm>
        </p:spPr>
        <p:txBody>
          <a:bodyPr wrap="square" anchor="ctr"/>
          <a:lstStyle/>
          <a:p>
            <a:pPr algn="ctr"/>
            <a:r>
              <a:rPr sz="4400" b="0">
                <a:solidFill>
                  <a:srgbClr val="1B1F24"/>
                </a:solidFill>
                <a:latin typeface="Microsoft YaHei"/>
              </a:rPr>
              <a:t>20260903进展汇报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1524000" y="4293096"/>
            <a:ext cx="9144000" cy="1655762"/>
          </a:xfrm>
        </p:spPr>
        <p:txBody>
          <a:bodyPr wrap="square" anchor="ctr"/>
          <a:lstStyle/>
          <a:p>
            <a:pPr algn="ctr"/>
            <a:r>
              <a:rPr sz="2400" b="0">
                <a:solidFill>
                  <a:srgbClr val="1B1F24"/>
                </a:solidFill>
                <a:latin typeface="Microsoft YaHei"/>
              </a:rPr>
              <a:t>LLM-based KGR验证与Agent Memory Benchmark</a:t>
            </a:r>
          </a:p>
          <a:p>
            <a:pPr algn="ctr"/>
            <a:r>
              <a:rPr sz="2400" b="0">
                <a:solidFill>
                  <a:srgbClr val="1B1F24"/>
                </a:solidFill>
                <a:latin typeface="Microsoft YaHei"/>
              </a:rPr>
              <a:t>汇报人：魏熙润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168390" y="3068955"/>
            <a:ext cx="4039870" cy="686435"/>
          </a:xfrm>
        </p:spPr>
        <p:txBody>
          <a:bodyPr/>
          <a:lstStyle/>
          <a:p>
            <a:r>
              <a:rPr lang="zh-CN" altLang="en-US" sz="6600" b="1" dirty="0"/>
              <a:t>问题背景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35CCE34-9047-D1F4-1A8B-51B3A1885CE2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为什么需要 </a:t>
            </a:r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LLM-based KGR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774335-7C25-D913-2E72-F91E434EC64B}"/>
              </a:ext>
            </a:extLst>
          </p:cNvPr>
          <p:cNvSpPr txBox="1"/>
          <p:nvPr/>
        </p:nvSpPr>
        <p:spPr>
          <a:xfrm>
            <a:off x="1198848" y="2041906"/>
            <a:ext cx="9794303" cy="3416320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复杂问题通常需要跨多个实体与关系进行多跳推理</a:t>
            </a:r>
            <a:r>
              <a:rPr lang="zh-CN" altLang="en-US" sz="2400" dirty="0"/>
              <a:t>，不能只靠单跳检索或实体匹配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知识图谱提供显式关系结构</a:t>
            </a:r>
            <a:r>
              <a:rPr lang="zh-CN" altLang="en-US" sz="2400" dirty="0"/>
              <a:t>，适合做路径级别的解释、约束满足与结果验证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图谱规模大、候选路径多</a:t>
            </a:r>
            <a:r>
              <a:rPr lang="zh-CN" altLang="en-US" sz="2400" dirty="0"/>
              <a:t>，容易出现搜索空间爆炸、噪声扩展和错误累积，因此需要更强的</a:t>
            </a:r>
            <a:r>
              <a:rPr lang="zh-CN" altLang="en-US" sz="2400" b="1" dirty="0"/>
              <a:t>推理组织</a:t>
            </a:r>
            <a:r>
              <a:rPr lang="zh-CN" altLang="en-US" sz="2400" dirty="0"/>
              <a:t>能力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LLM-based KGR</a:t>
            </a:r>
            <a:r>
              <a:rPr lang="zh-CN" altLang="en-US" sz="2400" dirty="0"/>
              <a:t>可以利用 </a:t>
            </a:r>
            <a:r>
              <a:rPr lang="en-US" altLang="zh-CN" sz="2400" dirty="0"/>
              <a:t>LLM </a:t>
            </a:r>
            <a:r>
              <a:rPr lang="zh-CN" altLang="en-US" sz="2400" dirty="0"/>
              <a:t>的语义理解与推理能力，更高效地在 </a:t>
            </a:r>
            <a:r>
              <a:rPr lang="en-US" altLang="zh-CN" sz="2400" dirty="0"/>
              <a:t>KG </a:t>
            </a:r>
            <a:r>
              <a:rPr lang="zh-CN" altLang="en-US" sz="2400" dirty="0"/>
              <a:t>上完成多跳推理与答案生成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D7368-DAE4-D80B-C848-8422F463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253D6C-04DC-9A2F-861B-E208FE1A1B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8390" y="3068955"/>
            <a:ext cx="4039870" cy="686435"/>
          </a:xfrm>
        </p:spPr>
        <p:txBody>
          <a:bodyPr/>
          <a:lstStyle/>
          <a:p>
            <a:r>
              <a:rPr lang="zh-CN" altLang="en-US" sz="6600" b="1" dirty="0"/>
              <a:t>两种范式</a:t>
            </a:r>
          </a:p>
        </p:txBody>
      </p:sp>
    </p:spTree>
    <p:extLst>
      <p:ext uri="{BB962C8B-B14F-4D97-AF65-F5344CB8AC3E}">
        <p14:creationId xmlns:p14="http://schemas.microsoft.com/office/powerpoint/2010/main" val="1454445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EEAB-40C0-9C57-7D26-8D3190B7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8DE214-14B3-40FD-D398-7A62E04A3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9664E5-9C63-D448-4466-F4F0A85FE61A}"/>
              </a:ext>
            </a:extLst>
          </p:cNvPr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C4301E3-29B1-A1EA-5091-8BFA2E68B839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Retrieval-based vs Synergy-based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BBDE04-1E39-2D72-7F70-487EB151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430" y="1272932"/>
            <a:ext cx="7845140" cy="55618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D9AC6E-CEF6-9F45-C408-891F98DD6C8C}"/>
              </a:ext>
            </a:extLst>
          </p:cNvPr>
          <p:cNvSpPr txBox="1"/>
          <p:nvPr/>
        </p:nvSpPr>
        <p:spPr>
          <a:xfrm>
            <a:off x="1559496" y="871488"/>
            <a:ext cx="10410874" cy="400110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现有 </a:t>
            </a:r>
            <a:r>
              <a:rPr lang="en-US" altLang="zh-CN" sz="2000" dirty="0"/>
              <a:t>LLM-based KGR </a:t>
            </a:r>
            <a:r>
              <a:rPr lang="zh-CN" altLang="en-US" sz="2000" dirty="0"/>
              <a:t>方法分为 </a:t>
            </a:r>
            <a:r>
              <a:rPr lang="en-US" altLang="zh-CN" sz="2000" dirty="0"/>
              <a:t>retrieval-augmented </a:t>
            </a:r>
            <a:r>
              <a:rPr lang="zh-CN" altLang="en-US" sz="2000" dirty="0"/>
              <a:t>与 </a:t>
            </a:r>
            <a:r>
              <a:rPr lang="en-US" altLang="zh-CN" sz="2000" dirty="0"/>
              <a:t>synergy-augmented </a:t>
            </a:r>
            <a:r>
              <a:rPr lang="zh-CN" altLang="en-US" sz="2000" dirty="0"/>
              <a:t>两类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199632"/>
            <a:ext cx="466344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6208776"/>
            <a:ext cx="459028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Source: Liu et al., PathMind, AAAI 2026, Fig. 1.</a:t>
            </a:r>
          </a:p>
        </p:txBody>
      </p:sp>
    </p:spTree>
    <p:extLst>
      <p:ext uri="{BB962C8B-B14F-4D97-AF65-F5344CB8AC3E}">
        <p14:creationId xmlns:p14="http://schemas.microsoft.com/office/powerpoint/2010/main" val="16926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4360-ED41-7A29-8AC4-54203D88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D4A42B-E430-CD4C-3625-79A6C7D61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8DF336-5E84-F804-FE29-1C5F122BEDEC}"/>
              </a:ext>
            </a:extLst>
          </p:cNvPr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63E5837-BF4D-6EDA-D8DE-C0F2298206E7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Retrieval-based KGR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6CADA7-ACBA-BD4F-BE69-B084ED84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4" y="1744054"/>
            <a:ext cx="7456238" cy="42425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427EC7E-3EA6-648C-886C-4390FCAAC3B5}"/>
              </a:ext>
            </a:extLst>
          </p:cNvPr>
          <p:cNvSpPr txBox="1"/>
          <p:nvPr/>
        </p:nvSpPr>
        <p:spPr>
          <a:xfrm>
            <a:off x="7781946" y="1989769"/>
            <a:ext cx="4248472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核心流程：检索三元组</a:t>
            </a:r>
            <a:r>
              <a:rPr lang="en-US" altLang="zh-CN" sz="2000" dirty="0"/>
              <a:t>/</a:t>
            </a:r>
            <a:r>
              <a:rPr lang="zh-CN" altLang="en-US" sz="2000" dirty="0"/>
              <a:t>路径</a:t>
            </a:r>
            <a:r>
              <a:rPr lang="en-US" altLang="zh-CN" sz="2000" dirty="0"/>
              <a:t>/</a:t>
            </a:r>
            <a:r>
              <a:rPr lang="zh-CN" altLang="en-US" sz="2000" dirty="0"/>
              <a:t>子图</a:t>
            </a:r>
            <a:r>
              <a:rPr lang="en-US" altLang="zh-CN" sz="2000" dirty="0"/>
              <a:t> → LLM</a:t>
            </a:r>
            <a:r>
              <a:rPr lang="zh-CN" altLang="en-US" sz="2000" dirty="0"/>
              <a:t>推理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987D80-58AA-EB74-B464-E4640EE67123}"/>
              </a:ext>
            </a:extLst>
          </p:cNvPr>
          <p:cNvSpPr txBox="1"/>
          <p:nvPr/>
        </p:nvSpPr>
        <p:spPr>
          <a:xfrm>
            <a:off x="7740130" y="2945058"/>
            <a:ext cx="4332103" cy="1323439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优点：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流程清晰，检索推理分离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解释性强，可以追溯检索路径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成本较低，调用</a:t>
            </a:r>
            <a:r>
              <a:rPr lang="en-US" altLang="zh-CN" sz="2000" dirty="0"/>
              <a:t>LLM</a:t>
            </a:r>
            <a:r>
              <a:rPr lang="zh-CN" altLang="en-US" sz="2000" dirty="0"/>
              <a:t>次数有限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BCA62C-646B-42B2-8A12-DC2311F3CF44}"/>
              </a:ext>
            </a:extLst>
          </p:cNvPr>
          <p:cNvSpPr txBox="1"/>
          <p:nvPr/>
        </p:nvSpPr>
        <p:spPr>
          <a:xfrm>
            <a:off x="7740130" y="4668953"/>
            <a:ext cx="4224209" cy="1323439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局限性：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检索质量决定上限，漏召回或者噪声路径会影响</a:t>
            </a:r>
            <a:r>
              <a:rPr lang="en-US" altLang="zh-CN" sz="2000" dirty="0"/>
              <a:t>LLM</a:t>
            </a:r>
            <a:r>
              <a:rPr lang="zh-CN" altLang="en-US" sz="2000" dirty="0"/>
              <a:t>生成质量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无法根据中间推理结果动态调整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6199632"/>
            <a:ext cx="566928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6208776"/>
            <a:ext cx="5596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Source: Liu et al., PathMind, AAAI 2026; Pan et al., IEEE TKDE 2024.</a:t>
            </a:r>
          </a:p>
        </p:txBody>
      </p:sp>
    </p:spTree>
    <p:extLst>
      <p:ext uri="{BB962C8B-B14F-4D97-AF65-F5344CB8AC3E}">
        <p14:creationId xmlns:p14="http://schemas.microsoft.com/office/powerpoint/2010/main" val="230245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43612-B302-E7D0-CFBB-B08D8F9F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2CCB06-1632-1BB5-AACB-6E3D8C3D1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681675-9DA9-F71E-447B-C26413F1C4D5}"/>
              </a:ext>
            </a:extLst>
          </p:cNvPr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497764E-9E28-C62E-BE83-F4BA48727138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Synergy-based KGR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18EF80-14E3-9839-C851-44A0FA557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561030"/>
            <a:ext cx="7632848" cy="47953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48290C6-CD39-1561-6EAC-60EFD0F74DE2}"/>
              </a:ext>
            </a:extLst>
          </p:cNvPr>
          <p:cNvSpPr txBox="1"/>
          <p:nvPr/>
        </p:nvSpPr>
        <p:spPr>
          <a:xfrm>
            <a:off x="7781945" y="1621619"/>
            <a:ext cx="4248472" cy="1015663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核心流程：</a:t>
            </a:r>
            <a:r>
              <a:rPr lang="en-US" altLang="zh-CN" sz="2000" dirty="0"/>
              <a:t>LLM </a:t>
            </a:r>
            <a:r>
              <a:rPr lang="zh-CN" altLang="en-US" sz="2000" dirty="0"/>
              <a:t>根据当前推理状态动态决定下一步 </a:t>
            </a:r>
            <a:r>
              <a:rPr lang="en-US" altLang="zh-CN" sz="2000" dirty="0"/>
              <a:t>KG </a:t>
            </a:r>
            <a:r>
              <a:rPr lang="zh-CN" altLang="en-US" sz="2000" dirty="0"/>
              <a:t>查询，</a:t>
            </a:r>
            <a:r>
              <a:rPr lang="en-US" altLang="zh-CN" sz="2000" dirty="0"/>
              <a:t>KG </a:t>
            </a:r>
            <a:r>
              <a:rPr lang="zh-CN" altLang="en-US" sz="2000" dirty="0"/>
              <a:t>返回结果后，</a:t>
            </a:r>
            <a:r>
              <a:rPr lang="en-US" altLang="zh-CN" sz="2000" dirty="0"/>
              <a:t>LLM </a:t>
            </a:r>
            <a:r>
              <a:rPr lang="zh-CN" altLang="en-US" sz="2000" dirty="0"/>
              <a:t>继续迭代推理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E08AD4-97CF-0650-E60B-EA5E2251FF04}"/>
              </a:ext>
            </a:extLst>
          </p:cNvPr>
          <p:cNvSpPr txBox="1"/>
          <p:nvPr/>
        </p:nvSpPr>
        <p:spPr>
          <a:xfrm>
            <a:off x="7740130" y="2945058"/>
            <a:ext cx="4332103" cy="16312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优点：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推理灵活：根据中间结果调整查询策略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适合复杂多跳推理：逐步探索推理路径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F65A77-5E25-BF2B-7B18-DF8A0F45D9EE}"/>
              </a:ext>
            </a:extLst>
          </p:cNvPr>
          <p:cNvSpPr txBox="1"/>
          <p:nvPr/>
        </p:nvSpPr>
        <p:spPr>
          <a:xfrm>
            <a:off x="7740130" y="4668953"/>
            <a:ext cx="4224209" cy="1323439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局限性：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成本高：多次 </a:t>
            </a:r>
            <a:r>
              <a:rPr lang="en-US" altLang="zh-CN" sz="2000" dirty="0"/>
              <a:t>LLM </a:t>
            </a:r>
            <a:r>
              <a:rPr lang="zh-CN" altLang="en-US" sz="2000" dirty="0"/>
              <a:t>调用增加成本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搜索控制难：如何决定何时停止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199632"/>
            <a:ext cx="566928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208776"/>
            <a:ext cx="5596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Source: Sun et al., ToG, ICLR 2024; Liu et al., PathMind, AAAI 2026.</a:t>
            </a:r>
          </a:p>
        </p:txBody>
      </p:sp>
    </p:spTree>
    <p:extLst>
      <p:ext uri="{BB962C8B-B14F-4D97-AF65-F5344CB8AC3E}">
        <p14:creationId xmlns:p14="http://schemas.microsoft.com/office/powerpoint/2010/main" val="160949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C2DC-E9C8-6AD5-EF8B-5BA34688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5177BA-5AB1-944E-AF8D-43F221F54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189C91-0515-4E85-4838-0DB21CA5CEB6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CFA2A9D-E267-9722-8649-013D91F5A99F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 err="1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PathMind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5D3D0A-5351-DE48-3481-76DB63D5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16" y="1521628"/>
            <a:ext cx="6696744" cy="48347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7315A05-C09E-A6BC-181D-B2E9DFCEE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131" y="2900525"/>
            <a:ext cx="3325145" cy="8389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2237F3D-8617-A217-E0E7-B0E3F9701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066" y="4324985"/>
            <a:ext cx="3886200" cy="78105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99F6187-49CE-BCF1-B7C6-C494DC515676}"/>
              </a:ext>
            </a:extLst>
          </p:cNvPr>
          <p:cNvSpPr txBox="1"/>
          <p:nvPr/>
        </p:nvSpPr>
        <p:spPr>
          <a:xfrm>
            <a:off x="6874066" y="3739511"/>
            <a:ext cx="5040560" cy="646331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从问题到当前实体 𝑒</a:t>
            </a:r>
            <a:r>
              <a:rPr lang="en-US" altLang="zh-CN" dirty="0"/>
              <a:t> </a:t>
            </a:r>
            <a:r>
              <a:rPr lang="zh-CN" altLang="en-US" dirty="0"/>
              <a:t>的所有路径中，已经积累的语义路径价值。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2F22AD-948A-D250-AE5D-2C04030617C5}"/>
              </a:ext>
            </a:extLst>
          </p:cNvPr>
          <p:cNvSpPr txBox="1"/>
          <p:nvPr/>
        </p:nvSpPr>
        <p:spPr>
          <a:xfrm>
            <a:off x="6835511" y="5155369"/>
            <a:ext cx="5174753" cy="646331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基于当前状态 𝑑</a:t>
            </a:r>
            <a:r>
              <a:rPr lang="en-US" altLang="zh-CN" dirty="0"/>
              <a:t>(</a:t>
            </a:r>
            <a:r>
              <a:rPr lang="zh-CN" altLang="en-US" dirty="0"/>
              <a:t>𝑞</a:t>
            </a:r>
            <a:r>
              <a:rPr lang="en-US" altLang="zh-CN" dirty="0"/>
              <a:t>,</a:t>
            </a:r>
            <a:r>
              <a:rPr lang="zh-CN" altLang="en-US" dirty="0"/>
              <a:t>𝑒</a:t>
            </a:r>
            <a:r>
              <a:rPr lang="en-US" altLang="zh-CN" dirty="0"/>
              <a:t>)</a:t>
            </a:r>
            <a:r>
              <a:rPr lang="zh-CN" altLang="en-US" dirty="0"/>
              <a:t>和问题 𝑞，估计从当前实体继续搜索，到达正确答案的潜力。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F39A7B-5235-FFDF-5E3F-198F282E2468}"/>
              </a:ext>
            </a:extLst>
          </p:cNvPr>
          <p:cNvSpPr txBox="1"/>
          <p:nvPr/>
        </p:nvSpPr>
        <p:spPr>
          <a:xfrm>
            <a:off x="6893657" y="1958289"/>
            <a:ext cx="5174752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核心流程：用优先级函数对当前实体 𝑒</a:t>
            </a:r>
            <a:r>
              <a:rPr lang="en-US" altLang="zh-CN" sz="2000" dirty="0"/>
              <a:t>e</a:t>
            </a:r>
            <a:r>
              <a:rPr lang="zh-CN" altLang="en-US" sz="2000" dirty="0"/>
              <a:t>打分，优先扩展更有价值的推理路径。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199632"/>
            <a:ext cx="466344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6208776"/>
            <a:ext cx="459028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Source: Liu et al., PathMind, AAAI 2026.</a:t>
            </a:r>
          </a:p>
        </p:txBody>
      </p:sp>
    </p:spTree>
    <p:extLst>
      <p:ext uri="{BB962C8B-B14F-4D97-AF65-F5344CB8AC3E}">
        <p14:creationId xmlns:p14="http://schemas.microsoft.com/office/powerpoint/2010/main" val="247708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41AA-B9C8-1E8C-7472-9E64D2E1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EE8972-2BB6-95CE-A0BB-0385705C5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8390" y="3068955"/>
            <a:ext cx="4039870" cy="686435"/>
          </a:xfrm>
        </p:spPr>
        <p:txBody>
          <a:bodyPr/>
          <a:lstStyle/>
          <a:p>
            <a:r>
              <a:rPr lang="en-US" altLang="zh-CN" sz="6600" b="1" dirty="0">
                <a:latin typeface="+mj-lt"/>
                <a:ea typeface="等线" panose="02010600030101010101" pitchFamily="2" charset="-122"/>
              </a:rPr>
              <a:t>KG-Agent</a:t>
            </a:r>
            <a:endParaRPr lang="zh-CN" altLang="en-US" sz="6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872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CEABD-00F7-96ED-31FC-C8F4A182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34B90D-01A5-B283-8259-616C5CD5C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1430FC-748C-9C77-3ACB-4E8E89A68C86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1B8B512-F537-5FE9-19ED-5B27C75C7F98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KG-Agent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D9EC99-9B2C-4CDB-B2D2-4F1E8075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12" y="2089374"/>
            <a:ext cx="7583362" cy="42115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72587A-341A-070D-4CA3-A6A99683A4C0}"/>
              </a:ext>
            </a:extLst>
          </p:cNvPr>
          <p:cNvSpPr txBox="1"/>
          <p:nvPr/>
        </p:nvSpPr>
        <p:spPr>
          <a:xfrm>
            <a:off x="191344" y="1095517"/>
            <a:ext cx="10657184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问题动机</a:t>
            </a:r>
            <a:r>
              <a:rPr lang="zh-CN" altLang="en-US" sz="2000" dirty="0"/>
              <a:t>：</a:t>
            </a:r>
            <a:r>
              <a:rPr lang="zh-CN" altLang="en-US" sz="2000" dirty="0">
                <a:latin typeface="+mn-lt"/>
              </a:rPr>
              <a:t>已有 </a:t>
            </a:r>
            <a:r>
              <a:rPr lang="en-US" altLang="zh-CN" sz="2000" dirty="0">
                <a:latin typeface="+mn-lt"/>
              </a:rPr>
              <a:t>synergy-based </a:t>
            </a:r>
            <a:r>
              <a:rPr lang="zh-CN" altLang="en-US" sz="2000" dirty="0">
                <a:latin typeface="+mn-lt"/>
              </a:rPr>
              <a:t>往往依赖</a:t>
            </a:r>
            <a:r>
              <a:rPr lang="zh-CN" altLang="en-US" sz="2000" b="1" dirty="0">
                <a:latin typeface="+mn-lt"/>
              </a:rPr>
              <a:t>预定义交互流程</a:t>
            </a:r>
            <a:r>
              <a:rPr lang="zh-CN" altLang="en-US" sz="2000" dirty="0">
                <a:latin typeface="+mn-lt"/>
              </a:rPr>
              <a:t>，且依赖强闭源模型；同时，这类复杂交互往往依赖 </a:t>
            </a:r>
            <a:r>
              <a:rPr lang="en-US" altLang="zh-CN" sz="2000" b="1" dirty="0">
                <a:latin typeface="+mn-lt"/>
              </a:rPr>
              <a:t>GPT-4 </a:t>
            </a:r>
            <a:r>
              <a:rPr lang="zh-CN" altLang="en-US" sz="2000" b="1" dirty="0">
                <a:latin typeface="+mn-lt"/>
              </a:rPr>
              <a:t>等强闭源模型</a:t>
            </a:r>
            <a:r>
              <a:rPr lang="zh-CN" altLang="en-US" sz="2000" dirty="0">
                <a:latin typeface="+mn-lt"/>
              </a:rPr>
              <a:t>，小模型难以直接胜任。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6894D0-046C-2756-7892-C140FB8102D4}"/>
              </a:ext>
            </a:extLst>
          </p:cNvPr>
          <p:cNvSpPr txBox="1"/>
          <p:nvPr/>
        </p:nvSpPr>
        <p:spPr>
          <a:xfrm>
            <a:off x="7774706" y="2241860"/>
            <a:ext cx="4369966" cy="2308324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核心原理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Planner</a:t>
            </a:r>
            <a:r>
              <a:rPr lang="zh-CN" altLang="en-US" b="1" dirty="0"/>
              <a:t>（</a:t>
            </a:r>
            <a:r>
              <a:rPr lang="en-US" altLang="zh-CN" b="1" dirty="0"/>
              <a:t>LLM</a:t>
            </a:r>
            <a:r>
              <a:rPr lang="zh-CN" altLang="en-US" b="1" dirty="0"/>
              <a:t>）：</a:t>
            </a:r>
            <a:r>
              <a:rPr lang="zh-CN" altLang="en-US" dirty="0"/>
              <a:t>根据当前状态决定下一步调用哪个工具。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Toolbox + Executor</a:t>
            </a:r>
            <a:r>
              <a:rPr lang="zh-CN" altLang="en-US" b="1" dirty="0"/>
              <a:t>：</a:t>
            </a:r>
            <a:r>
              <a:rPr lang="zh-CN" altLang="en-US" dirty="0"/>
              <a:t>把 </a:t>
            </a:r>
            <a:r>
              <a:rPr lang="en-US" altLang="zh-CN" dirty="0"/>
              <a:t>KG </a:t>
            </a:r>
            <a:r>
              <a:rPr lang="zh-CN" altLang="en-US" dirty="0"/>
              <a:t>推理拆成可执行的结构化操作，而不是纯文本推理。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Knowledge Memory</a:t>
            </a:r>
            <a:r>
              <a:rPr lang="zh-CN" altLang="en-US" b="1" dirty="0"/>
              <a:t>：</a:t>
            </a:r>
            <a:r>
              <a:rPr lang="zh-CN" altLang="en-US" dirty="0"/>
              <a:t>保存当前 </a:t>
            </a:r>
            <a:r>
              <a:rPr lang="en-US" altLang="zh-CN" dirty="0"/>
              <a:t>KG </a:t>
            </a:r>
            <a:r>
              <a:rPr lang="zh-CN" altLang="en-US" dirty="0"/>
              <a:t>信息和历史推理程序，支持下一步决策。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A7537D-D6C2-513A-7014-C653EEF9817C}"/>
              </a:ext>
            </a:extLst>
          </p:cNvPr>
          <p:cNvSpPr txBox="1"/>
          <p:nvPr/>
        </p:nvSpPr>
        <p:spPr>
          <a:xfrm>
            <a:off x="7793637" y="4730179"/>
            <a:ext cx="4332103" cy="16312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优点：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只用</a:t>
            </a:r>
            <a:r>
              <a:rPr lang="en-US" altLang="zh-CN" sz="2000" dirty="0"/>
              <a:t>10K instruction samples </a:t>
            </a:r>
            <a:r>
              <a:rPr lang="zh-CN" altLang="en-US" sz="2000" dirty="0"/>
              <a:t>微调 </a:t>
            </a:r>
            <a:r>
              <a:rPr lang="en-US" altLang="zh-CN" sz="2000" dirty="0"/>
              <a:t>LLaMA-7B</a:t>
            </a:r>
            <a:r>
              <a:rPr lang="zh-CN" altLang="en-US" sz="2000" dirty="0"/>
              <a:t>，。就能在多项数据集上超过更大模型或更多数据的方法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199632"/>
            <a:ext cx="457200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6208776"/>
            <a:ext cx="44988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Source: Jiang et al., KG-Agent, ACL 2025.</a:t>
            </a:r>
          </a:p>
        </p:txBody>
      </p:sp>
    </p:spTree>
    <p:extLst>
      <p:ext uri="{BB962C8B-B14F-4D97-AF65-F5344CB8AC3E}">
        <p14:creationId xmlns:p14="http://schemas.microsoft.com/office/powerpoint/2010/main" val="3948247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A449-1C71-FC96-C95D-6ADB46F5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6D3FF6-BE92-41F2-2EBD-AE69FE37B6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1904" y="3068955"/>
            <a:ext cx="7056784" cy="686435"/>
          </a:xfrm>
        </p:spPr>
        <p:txBody>
          <a:bodyPr/>
          <a:lstStyle/>
          <a:p>
            <a:r>
              <a:rPr lang="en-US" altLang="zh-CN" sz="6600" b="1" dirty="0">
                <a:latin typeface="+mj-lt"/>
                <a:ea typeface="等线" panose="02010600030101010101" pitchFamily="2" charset="-122"/>
              </a:rPr>
              <a:t>Agentic Reasoning</a:t>
            </a:r>
            <a:endParaRPr lang="zh-CN" altLang="en-US" sz="6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514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580A-2D40-DC20-9C91-00E7A5F3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25B616-1CDF-F793-DB17-86AA7B497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31CB67-9C5A-AA83-AE63-4C835864D88E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F6EB47E-134E-3833-F171-5DC0B1C9336A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Agentic Reasoning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37A5F9-5BDD-4744-C2DE-4BE8D349DF4D}"/>
              </a:ext>
            </a:extLst>
          </p:cNvPr>
          <p:cNvSpPr txBox="1"/>
          <p:nvPr/>
        </p:nvSpPr>
        <p:spPr>
          <a:xfrm>
            <a:off x="362093" y="1115052"/>
            <a:ext cx="10297144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en-US" altLang="zh-CN" sz="2000" b="1" dirty="0"/>
              <a:t>Agent </a:t>
            </a:r>
            <a:r>
              <a:rPr lang="zh-CN" altLang="en-US" sz="2000" b="1" dirty="0"/>
              <a:t>问题不再只是某个单一任务，而是一个包括方法、工具、评测、现实问题和应用的整体生态。</a:t>
            </a:r>
            <a:endParaRPr lang="zh-CN" altLang="en-US" sz="2000" dirty="0">
              <a:latin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A45A85-58DE-64A4-83B1-A5037E6F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19" y="2002507"/>
            <a:ext cx="9553035" cy="45364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6199632"/>
            <a:ext cx="502920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6208776"/>
            <a:ext cx="4956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Source: Wu et al., Agentic Reasoning, ACL 2025.</a:t>
            </a:r>
          </a:p>
        </p:txBody>
      </p:sp>
    </p:spTree>
    <p:extLst>
      <p:ext uri="{BB962C8B-B14F-4D97-AF65-F5344CB8AC3E}">
        <p14:creationId xmlns:p14="http://schemas.microsoft.com/office/powerpoint/2010/main" val="309863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5AAE-FD14-F7C0-CB94-341D8C6E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364366-4FB4-5E16-DDFC-B3BB0248C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26672-78FC-806F-B932-11F3350A1632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83642BA-FCD5-C77F-B77A-3CE1FAD9567B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Agentic Reasoning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8BC797-9F55-FCA0-A9ED-E4A6F20A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700808"/>
            <a:ext cx="7704856" cy="453640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5657240-B7C1-CB63-CA83-4E9CB6A536A7}"/>
              </a:ext>
            </a:extLst>
          </p:cNvPr>
          <p:cNvSpPr txBox="1"/>
          <p:nvPr/>
        </p:nvSpPr>
        <p:spPr>
          <a:xfrm>
            <a:off x="7642912" y="2953347"/>
            <a:ext cx="4369966" cy="2031325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核心组件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Reasoning LLM</a:t>
            </a:r>
            <a:r>
              <a:rPr lang="zh-CN" altLang="en-US" b="1" dirty="0"/>
              <a:t>：</a:t>
            </a:r>
            <a:r>
              <a:rPr lang="zh-CN" altLang="en-US" dirty="0"/>
              <a:t>负责主推理，决定何时调用何种工具。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Tool Agents</a:t>
            </a:r>
            <a:r>
              <a:rPr lang="zh-CN" altLang="en-US" b="1" dirty="0"/>
              <a:t>：</a:t>
            </a:r>
            <a:r>
              <a:rPr lang="zh-CN" altLang="en-US" dirty="0"/>
              <a:t>扩展外部能力：搜索、代码、</a:t>
            </a:r>
            <a:r>
              <a:rPr lang="en-US" altLang="zh-CN" dirty="0"/>
              <a:t>API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Structured Memory</a:t>
            </a:r>
            <a:r>
              <a:rPr lang="zh-CN" altLang="en-US" b="1" dirty="0"/>
              <a:t>：</a:t>
            </a:r>
            <a:r>
              <a:rPr lang="en-US" altLang="zh-CN" dirty="0"/>
              <a:t>Mind-Map </a:t>
            </a:r>
            <a:r>
              <a:rPr lang="zh-CN" altLang="en-US" dirty="0"/>
              <a:t>维护长链推理上下文。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199632"/>
            <a:ext cx="502920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6208776"/>
            <a:ext cx="4956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Source: Wu et al., Agentic Reasoning, ACL 2025.</a:t>
            </a:r>
          </a:p>
        </p:txBody>
      </p:sp>
    </p:spTree>
    <p:extLst>
      <p:ext uri="{BB962C8B-B14F-4D97-AF65-F5344CB8AC3E}">
        <p14:creationId xmlns:p14="http://schemas.microsoft.com/office/powerpoint/2010/main" val="236410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BC81-12F0-1907-73A3-B89006C5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89EAB2-27C1-AE56-743E-1DEDFF60AB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9C1681-9799-6128-8E86-7E44AC1A68FD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53416C0-40A3-F6E5-682D-8B429D68D669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思考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E86109-A1ED-6AB1-5707-CDE280E43A05}"/>
              </a:ext>
            </a:extLst>
          </p:cNvPr>
          <p:cNvSpPr txBox="1"/>
          <p:nvPr/>
        </p:nvSpPr>
        <p:spPr>
          <a:xfrm>
            <a:off x="1085726" y="1022350"/>
            <a:ext cx="10410874" cy="461665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/>
              <a:t>两个想要考虑尝试的切入点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821341-A636-A60D-996B-670B635D3AAA}"/>
              </a:ext>
            </a:extLst>
          </p:cNvPr>
          <p:cNvSpPr txBox="1"/>
          <p:nvPr/>
        </p:nvSpPr>
        <p:spPr>
          <a:xfrm>
            <a:off x="1584718" y="1884962"/>
            <a:ext cx="9794303" cy="3046988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Agentic Reasoning</a:t>
            </a:r>
            <a:r>
              <a:rPr lang="zh-CN" altLang="en-US" sz="2400" dirty="0"/>
              <a:t>中的成本问题：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长链推理导致消耗大量</a:t>
            </a:r>
            <a:r>
              <a:rPr lang="en-US" altLang="zh-CN" sz="2400" dirty="0"/>
              <a:t>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工具调用次数太频繁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多轮交互时延迟过高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r>
              <a:rPr lang="en-US" altLang="zh-CN" sz="2400" dirty="0"/>
              <a:t>Agentic Reasoning</a:t>
            </a:r>
            <a:r>
              <a:rPr lang="zh-CN" altLang="en-US" sz="2400" dirty="0"/>
              <a:t>中的记忆问题：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长链推理容易失上下文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存储的记忆不一定对规划有帮助</a:t>
            </a:r>
            <a:r>
              <a:rPr lang="en-US" altLang="zh-CN" sz="2400" dirty="0"/>
              <a:t>	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7572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916910" y="-2063750"/>
            <a:ext cx="4064000" cy="3987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l"/>
            <a:endParaRPr lang="zh-CN" altLang="en-US" sz="2000" b="1" dirty="0">
              <a:solidFill>
                <a:schemeClr val="tx1"/>
              </a:solidFill>
              <a:latin typeface="Adobe 黑体 Std R"/>
              <a:ea typeface="Adobe 黑体 Std R"/>
              <a:cs typeface="Adobe 黑体 Std R"/>
              <a:sym typeface="Adobe 黑体 Std R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357851710" y="-359039160"/>
            <a:ext cx="4064000" cy="3987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l"/>
            <a:endParaRPr lang="zh-CN" altLang="en-US" sz="2000" b="1" dirty="0">
              <a:solidFill>
                <a:schemeClr val="tx1"/>
              </a:solidFill>
              <a:latin typeface="Adobe 黑体 Std R"/>
              <a:ea typeface="Adobe 黑体 Std R"/>
              <a:cs typeface="Adobe 黑体 Std R"/>
              <a:sym typeface="Adobe 黑体 Std R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719075270" y="-716047590"/>
            <a:ext cx="4064000" cy="3987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l"/>
            <a:endParaRPr lang="zh-CN" altLang="en-US" sz="2000" b="1" dirty="0">
              <a:solidFill>
                <a:schemeClr val="tx1"/>
              </a:solidFill>
              <a:latin typeface="Adobe 黑体 Std R"/>
              <a:ea typeface="Adobe 黑体 Std R"/>
              <a:cs typeface="Adobe 黑体 Std R"/>
              <a:sym typeface="Adobe 黑体 Std 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05856" y="2871216"/>
            <a:ext cx="5897880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KGR实验验证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EoG / BoG：创新集中在探索策略，而非子图检索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Yan et al., Explore-on-Graph, ICLR 2026; Zhang et al., Backjump-on-Graph, ICML 2026 (PMLR 306).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78992"/>
            <a:ext cx="5413248" cy="4251960"/>
          </a:xfrm>
          <a:prstGeom prst="rect">
            <a:avLst/>
          </a:prstGeom>
          <a:solidFill>
            <a:srgbClr val="E7F1FB"/>
          </a:solidFill>
          <a:ln w="1524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344168"/>
            <a:ext cx="479145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6AAA"/>
                </a:solidFill>
                <a:latin typeface="Arial"/>
              </a:rPr>
              <a:t>Explore-on-Graph (EoG)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11095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D6AAA"/>
                </a:solidFill>
                <a:latin typeface="Microsoft YaHe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01952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动机：规则约束或固定示范路径限制 OOD 泛化与新路径探索。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78608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D6AAA"/>
                </a:solidFill>
                <a:latin typeface="Microsoft YaHe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69464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Stage 1：用长 CoT / 图探索轨迹进行 SFT 冷启动。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D6AAA"/>
                </a:solidFill>
                <a:latin typeface="Microsoft YaHe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236976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Stage 2：GRPO + final-answer correctness，并用 path information 细化过程奖励。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913631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2D6AAA"/>
                </a:solidFill>
                <a:latin typeface="Microsoft YaHe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04487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重点：鼓励多样、有效的自主探索，减少无意义路径。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56231" y="4754880"/>
            <a:ext cx="270662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92807" y="4818888"/>
            <a:ext cx="263347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AA"/>
                </a:solidFill>
                <a:latin typeface="Microsoft YaHei"/>
              </a:rPr>
              <a:t>explore broader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078992"/>
            <a:ext cx="5413248" cy="4251960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344168"/>
            <a:ext cx="479145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4B96"/>
                </a:solidFill>
                <a:latin typeface="Arial"/>
              </a:rPr>
              <a:t>Backjump-on-Graph (BoG)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911095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684B96"/>
                </a:solidFill>
                <a:latin typeface="Microsoft YaHe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1901952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动机：query想象的关系路径与真实 KG 拓扑不匹配，Agent 容易进入 dead end。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578608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684B96"/>
                </a:solidFill>
                <a:latin typeface="Microsoft YaHe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2569464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Stage 1：合成含 Forward / Backjump / Yield / Halt 的轨迹进行 SFT。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246120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684B96"/>
                </a:solidFill>
                <a:latin typeface="Microsoft YaHe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3236976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Stage 2：RL优化回跳时机与落点；混合奖励抑制冗余转移并奖励正确答案。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913631"/>
            <a:ext cx="2560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684B96"/>
                </a:solidFill>
                <a:latin typeface="Microsoft YaHe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3904487"/>
            <a:ext cx="4480560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B1F24"/>
                </a:solidFill>
                <a:latin typeface="Microsoft YaHei"/>
              </a:rPr>
              <a:t>重点：从历史状态非局部回跳，再探索替代分支。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754880"/>
            <a:ext cx="307238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4818888"/>
            <a:ext cx="299923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4B96"/>
                </a:solidFill>
                <a:latin typeface="Microsoft YaHei"/>
              </a:rPr>
              <a:t>recover from dead 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596128"/>
            <a:ext cx="1071676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73838"/>
                </a:solidFill>
                <a:latin typeface="Microsoft YaHei"/>
              </a:rPr>
              <a:t>共同空缺：仍未显式把同一步的候选 action/path 竞争建模为 ranking problem，也未解决 memory 何时有益或有害。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KGR最小闭环：从候选动作到记忆门控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Internal experiment logs: docs/results/2026-09-01 to 2026-09-02.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084831" cy="141732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38912" cy="1417320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463040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62456"/>
            <a:ext cx="138988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Query + topic 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1389887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WebQSP问题与中心实体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87752" y="1938528"/>
            <a:ext cx="164592" cy="0"/>
          </a:xfrm>
          <a:prstGeom prst="line">
            <a:avLst/>
          </a:prstGeom>
          <a:ln w="29209">
            <a:solidFill>
              <a:srgbClr val="F4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61488" y="1234440"/>
            <a:ext cx="2084831" cy="141732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1234440"/>
            <a:ext cx="438912" cy="1417320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1463040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362456"/>
            <a:ext cx="138988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Local subgraph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737360"/>
            <a:ext cx="1389887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Freebase一跳关系候选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1938528"/>
            <a:ext cx="164592" cy="0"/>
          </a:xfrm>
          <a:prstGeom prst="line">
            <a:avLst/>
          </a:prstGeom>
          <a:ln w="29209">
            <a:solidFill>
              <a:srgbClr val="F4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0056" y="1234440"/>
            <a:ext cx="2084831" cy="141732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6" y="1234440"/>
            <a:ext cx="438912" cy="1417320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1463040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6984" y="1362456"/>
            <a:ext cx="138988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Action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6984" y="1737360"/>
            <a:ext cx="1389887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rule / memory / LR ranker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1938528"/>
            <a:ext cx="164592" cy="0"/>
          </a:xfrm>
          <a:prstGeom prst="line">
            <a:avLst/>
          </a:prstGeom>
          <a:ln w="29209">
            <a:solidFill>
              <a:srgbClr val="F4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278624" y="1234440"/>
            <a:ext cx="2084831" cy="1417320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8624" y="1234440"/>
            <a:ext cx="438912" cy="1417320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463040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1362456"/>
            <a:ext cx="138988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Microsoft YaHei"/>
              </a:rPr>
              <a:t>Qwen3-0.6B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1737360"/>
            <a:ext cx="1389887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SFT受控输出下一跳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63456" y="1938528"/>
            <a:ext cx="164592" cy="0"/>
          </a:xfrm>
          <a:prstGeom prst="line">
            <a:avLst/>
          </a:prstGeom>
          <a:ln w="29209">
            <a:solidFill>
              <a:srgbClr val="F4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537192" y="1234440"/>
            <a:ext cx="2084831" cy="1417320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7192" y="1234440"/>
            <a:ext cx="438912" cy="1417320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767" y="1463040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19" y="1362456"/>
            <a:ext cx="138988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Microsoft YaHei"/>
              </a:rPr>
              <a:t>Memory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1737360"/>
            <a:ext cx="1389887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决定是否注入经验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" y="3163824"/>
            <a:ext cx="10789920" cy="20116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3401568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4F7E"/>
                </a:solidFill>
                <a:latin typeface="Microsoft YaHei"/>
              </a:rPr>
              <a:t>验证目标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3364991"/>
            <a:ext cx="256032" cy="463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3355848"/>
            <a:ext cx="8485632" cy="463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1F24"/>
                </a:solidFill>
                <a:latin typeface="Microsoft YaHei"/>
              </a:rPr>
              <a:t>先验证候选空间中是否存在可学习的排序信号，再验证小模型能否稳定输出动作。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3846575"/>
            <a:ext cx="256032" cy="463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87168" y="3837431"/>
            <a:ext cx="8485632" cy="463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1F24"/>
                </a:solidFill>
                <a:latin typeface="Microsoft YaHei"/>
              </a:rPr>
              <a:t>比较 no-memory / random-memory / verified-memory，判断跨样本经验是否真正改变策略。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12848" y="4328160"/>
            <a:ext cx="256032" cy="463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4319016"/>
            <a:ext cx="8485632" cy="463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1F24"/>
                </a:solidFill>
                <a:latin typeface="Microsoft YaHei"/>
              </a:rPr>
              <a:t>训练轻量 gate，检验“何时用 memory”能否接近 oracle，而非默认把 memory 拼进 prompt。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5413248"/>
            <a:ext cx="10287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Microsoft YaHei"/>
              </a:rPr>
              <a:t>结论：闭环跑通，但性能瓶颈依次暴露在检索覆盖、记忆门控和排序到策略的转化。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瓶颈首先出现在子图构建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Stage 1 logs: WebQSP eval100/train500; answer visibility is computed in the sampled local subgraph.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2423160" cy="1828800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98448"/>
            <a:ext cx="2148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73838"/>
                </a:solidFill>
                <a:latin typeface="Arial"/>
              </a:rPr>
              <a:t>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83664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初始候选关系召回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21305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SELECT ?r ?o LIMIT 50 被元数据关系和重复对象占满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673352"/>
            <a:ext cx="475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4A000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188720"/>
            <a:ext cx="2423160" cy="1828800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298448"/>
            <a:ext cx="2148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77749"/>
                </a:solidFill>
                <a:latin typeface="Arial"/>
              </a:rPr>
              <a:t>0.86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83664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修复后候选召回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4" y="2176272"/>
            <a:ext cx="21305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关系级采样 + namespace过滤；eval100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1968" y="1188720"/>
            <a:ext cx="2423160" cy="182880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298448"/>
            <a:ext cx="2148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4F7E"/>
                </a:solidFill>
                <a:latin typeface="Arial"/>
              </a:rPr>
              <a:t>0.94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883664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边召回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176272"/>
            <a:ext cx="21305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目标关系相关边进入候选子图；eval100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188720"/>
            <a:ext cx="2423160" cy="1828800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298448"/>
            <a:ext cx="2148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84B96"/>
                </a:solidFill>
                <a:latin typeface="Arial"/>
              </a:rPr>
              <a:t>0.62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883664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答案可见率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2176272"/>
            <a:ext cx="21305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即使关系召回较高，答案实体仍只在62%子图中可见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56432"/>
            <a:ext cx="5166360" cy="1874519"/>
          </a:xfrm>
          <a:prstGeom prst="rect">
            <a:avLst/>
          </a:prstGeom>
          <a:solidFill>
            <a:srgbClr val="FCEBEB"/>
          </a:solidFill>
          <a:ln w="1397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75887"/>
            <a:ext cx="12070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73838"/>
                </a:solidFill>
                <a:latin typeface="Microsoft YaHei"/>
              </a:rPr>
              <a:t>错误认识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4526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1F24"/>
                </a:solidFill>
                <a:latin typeface="Microsoft YaHei"/>
              </a:rPr>
              <a:t>只要后续推理策略更强，就能解决 KGQA。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817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570"/>
                </a:solidFill>
                <a:latin typeface="Microsoft YaHei"/>
              </a:rPr>
              <a:t>实际：检索漏召回会直接截断答案路径，policy 无法恢复不存在的证据。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456432"/>
            <a:ext cx="5230368" cy="1874519"/>
          </a:xfrm>
          <a:prstGeom prst="rect">
            <a:avLst/>
          </a:prstGeom>
          <a:solidFill>
            <a:srgbClr val="E7F6ED"/>
          </a:solidFill>
          <a:ln w="1397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75887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77749"/>
                </a:solidFill>
                <a:latin typeface="Microsoft YaHei"/>
              </a:rPr>
              <a:t>得到的设计约束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059935"/>
            <a:ext cx="256032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77749"/>
                </a:solidFill>
                <a:latin typeface="Microsoft YaHe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050791"/>
            <a:ext cx="4297680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必须报告 candidate recall / answer visibility。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425696"/>
            <a:ext cx="256032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77749"/>
                </a:solidFill>
                <a:latin typeface="Microsoft YaHe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416552"/>
            <a:ext cx="4297680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推理改进必须与检索上限分开归因。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791455"/>
            <a:ext cx="256032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77749"/>
                </a:solidFill>
                <a:latin typeface="Microsoft YaHe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782312"/>
            <a:ext cx="4297680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gold subgraph 只能作为 oracle，不是公平主设定。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0.6B模型：SFT能学会动作格式，memory增益很小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Stage 6: Qwen3-0.6B, 256 training samples, 30 SFT steps; ablation evaluated on 60 examples.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2331720" cy="162763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57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73838"/>
                </a:solidFill>
                <a:latin typeface="Arial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8366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SFT前准确率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76272"/>
            <a:ext cx="20391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invalid output rate =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1636776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A000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188720"/>
            <a:ext cx="2331720" cy="1627632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298448"/>
            <a:ext cx="2057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77749"/>
                </a:solidFill>
                <a:latin typeface="Arial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88366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SFT后准确率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2176272"/>
            <a:ext cx="20391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invalid output rate = 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035808"/>
            <a:ext cx="523036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Microsoft YaHei"/>
              </a:rPr>
              <a:t>说明小模型可用于验证受控 action policy，但不能把格式学习误判为 memory 有效。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115568"/>
            <a:ext cx="5166360" cy="4224528"/>
          </a:xfrm>
          <a:prstGeom prst="rect">
            <a:avLst/>
          </a:prstGeom>
          <a:solidFill>
            <a:srgbClr val="F7F8FA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353312"/>
            <a:ext cx="45537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Microsoft YaHei"/>
              </a:rPr>
              <a:t>Memory ablation / Acc@1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1956816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No 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9328" y="1993392"/>
            <a:ext cx="2039112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9328" y="1993392"/>
            <a:ext cx="1826789" cy="182880"/>
          </a:xfrm>
          <a:prstGeom prst="rect">
            <a:avLst/>
          </a:prstGeom>
          <a:solidFill>
            <a:srgbClr val="5C6570"/>
          </a:solidFill>
          <a:ln>
            <a:solidFill>
              <a:srgbClr val="5C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33304" y="1956816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6570"/>
                </a:solidFill>
                <a:latin typeface="Arial"/>
              </a:rPr>
              <a:t>71.7%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2587752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Random memory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9328" y="2624328"/>
            <a:ext cx="2039112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9328" y="2624328"/>
            <a:ext cx="1826789" cy="182880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33304" y="258775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84B96"/>
                </a:solidFill>
                <a:latin typeface="Arial"/>
              </a:rPr>
              <a:t>71.7%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3218688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Verified 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9328" y="3255264"/>
            <a:ext cx="2039112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39328" y="3255264"/>
            <a:ext cx="1869101" cy="182880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33304" y="3218688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77749"/>
                </a:solidFill>
                <a:latin typeface="Arial"/>
              </a:rPr>
              <a:t>73.3%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05072"/>
            <a:ext cx="4434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77749"/>
                </a:solidFill>
                <a:latin typeface="Arial"/>
              </a:rPr>
              <a:t>+1 / 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98848"/>
            <a:ext cx="4434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570"/>
                </a:solidFill>
                <a:latin typeface="Microsoft YaHei"/>
              </a:rPr>
              <a:t>verified memory 相比 no-memory 只多答对 1 个样本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468112"/>
            <a:ext cx="10652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Microsoft YaHei"/>
              </a:rPr>
              <a:t>结论：直接拼接 memory 不是稳定创新点，真正的问题是选择、抑制与更新。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Memory不是单调增益：是否使用比有没有更关键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Stage 7 memory-gate validation on the same 60-example split.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52144"/>
            <a:ext cx="3657600" cy="4270248"/>
          </a:xfrm>
          <a:prstGeom prst="rect">
            <a:avLst/>
          </a:prstGeom>
          <a:solidFill>
            <a:srgbClr val="F7F8FA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30906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4F7E"/>
                </a:solidFill>
                <a:latin typeface="Microsoft YaHei"/>
              </a:rPr>
              <a:t>逐样本因果现象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1947672"/>
            <a:ext cx="1298448" cy="1325880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057400"/>
            <a:ext cx="1024127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7774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42615"/>
            <a:ext cx="1024127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helped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935224"/>
            <a:ext cx="10058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memory纠正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1947672"/>
            <a:ext cx="1298448" cy="1325880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6" y="2057400"/>
            <a:ext cx="1024127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73838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2642615"/>
            <a:ext cx="1024127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hurt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35224"/>
            <a:ext cx="10058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memory误导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3557016"/>
            <a:ext cx="1298448" cy="132588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3666744"/>
            <a:ext cx="1024127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4F7E"/>
                </a:solidFill>
                <a:latin typeface="Arial"/>
              </a:rP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4251960"/>
            <a:ext cx="1024127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both 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4544568"/>
            <a:ext cx="10058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是否注入均正确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557016"/>
            <a:ext cx="1298448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5C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4056" y="3666744"/>
            <a:ext cx="1024127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C6570"/>
                </a:solidFill>
                <a:latin typeface="Arial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4251960"/>
            <a:ext cx="1024127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both wrong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44568"/>
            <a:ext cx="100583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候选/能力上限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1152144"/>
            <a:ext cx="7022592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417320"/>
            <a:ext cx="6382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4F7E"/>
                </a:solidFill>
                <a:latin typeface="Microsoft YaHei"/>
              </a:rPr>
              <a:t>Gate策略 / Acc@1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1965960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Always verified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47104" y="2002536"/>
            <a:ext cx="3822191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47104" y="2002536"/>
            <a:ext cx="3114237" cy="182880"/>
          </a:xfrm>
          <a:prstGeom prst="rect">
            <a:avLst/>
          </a:prstGeom>
          <a:solidFill>
            <a:srgbClr val="5C6570"/>
          </a:solidFill>
          <a:ln>
            <a:solidFill>
              <a:srgbClr val="5C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965960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6570"/>
                </a:solidFill>
                <a:latin typeface="Arial"/>
              </a:rPr>
              <a:t>73.3%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78608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Heuristic 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47104" y="2615184"/>
            <a:ext cx="3822191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47104" y="2615184"/>
            <a:ext cx="3185159" cy="182880"/>
          </a:xfrm>
          <a:prstGeom prst="rect">
            <a:avLst/>
          </a:prstGeom>
          <a:solidFill>
            <a:srgbClr val="2D6AAA"/>
          </a:solidFill>
          <a:ln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2578608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D6AAA"/>
                </a:solidFill>
                <a:latin typeface="Arial"/>
              </a:rPr>
              <a:t>75.0%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3191256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GRM-lite (LOOCV)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47104" y="3227832"/>
            <a:ext cx="3822191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47104" y="3227832"/>
            <a:ext cx="2901893" cy="182880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3191256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73838"/>
                </a:solidFill>
                <a:latin typeface="Arial"/>
              </a:rPr>
              <a:t>68.3%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3803904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Oracle: no/verified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47104" y="3840480"/>
            <a:ext cx="3822191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47104" y="3840480"/>
            <a:ext cx="3468426" cy="182880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3803904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77749"/>
                </a:solidFill>
                <a:latin typeface="Arial"/>
              </a:rPr>
              <a:t>81.7%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4416552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Oracle: all three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47104" y="4453128"/>
            <a:ext cx="3822191" cy="182880"/>
          </a:xfrm>
          <a:prstGeom prst="rect">
            <a:avLst/>
          </a:prstGeom>
          <a:solidFill>
            <a:srgbClr val="E6E9EE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47104" y="4453128"/>
            <a:ext cx="3680770" cy="182880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60" y="441655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7E80"/>
                </a:solidFill>
                <a:latin typeface="Arial"/>
              </a:rPr>
              <a:t>86.7%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" y="5504688"/>
            <a:ext cx="10287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B73838"/>
                </a:solidFill>
                <a:latin typeface="Microsoft YaHei"/>
              </a:rPr>
              <a:t>Oracle gap 说明“选择性使用”有空间；GRM-lite 失败说明样本与状态表征不足。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排序奖励：pairwise学会比较，但尚未转化为Top-1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Stage 8 minimal loop: WebQSP first-hop candidate ranking, 100-example evaluation.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07008"/>
          <a:ext cx="6748271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950976"/>
                <a:gridCol w="950976"/>
                <a:gridCol w="950976"/>
                <a:gridCol w="950976"/>
                <a:gridCol w="1069848"/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anchor="ctr" marL="36576" marR="36576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Top-1</a:t>
                      </a:r>
                    </a:p>
                  </a:txBody>
                  <a:tcPr anchor="ctr" marL="36576" marR="36576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MRR</a:t>
                      </a:r>
                    </a:p>
                  </a:txBody>
                  <a:tcPr anchor="ctr" marL="36576" marR="36576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R@3</a:t>
                      </a:r>
                    </a:p>
                  </a:txBody>
                  <a:tcPr anchor="ctr" marL="36576" marR="36576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R@5</a:t>
                      </a:r>
                    </a:p>
                  </a:txBody>
                  <a:tcPr anchor="ctr" marL="36576" marR="36576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PrefAcc</a:t>
                      </a:r>
                    </a:p>
                  </a:txBody>
                  <a:tcPr anchor="ctr" marL="36576" marR="36576">
                    <a:solidFill>
                      <a:srgbClr val="234F7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Microsoft YaHei"/>
                        </a:rPr>
                        <a:t>rule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.193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.20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.30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.494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Microsoft YaHei"/>
                        </a:rPr>
                        <a:t>memory</a:t>
                      </a:r>
                    </a:p>
                  </a:txBody>
                  <a:tcPr anchor="ctr" marL="36576" marR="36576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.49</a:t>
                      </a:r>
                    </a:p>
                  </a:txBody>
                  <a:tcPr anchor="ctr" marL="36576" marR="36576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.606</a:t>
                      </a:r>
                    </a:p>
                  </a:txBody>
                  <a:tcPr anchor="ctr" marL="36576" marR="36576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.71</a:t>
                      </a:r>
                    </a:p>
                  </a:txBody>
                  <a:tcPr anchor="ctr" marL="36576" marR="36576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.73</a:t>
                      </a:r>
                    </a:p>
                  </a:txBody>
                  <a:tcPr anchor="ctr" marL="36576" marR="36576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.821</a:t>
                      </a:r>
                    </a:p>
                  </a:txBody>
                  <a:tcPr anchor="ctr" marL="36576" marR="36576">
                    <a:solidFill>
                      <a:srgbClr val="F7F8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Microsoft YaHei"/>
                        </a:rPr>
                        <a:t>pointwise LR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.47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.598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.72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.75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.881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pairwise LR</a:t>
                      </a:r>
                    </a:p>
                  </a:txBody>
                  <a:tcPr anchor="ctr" marL="36576" marR="36576">
                    <a:solidFill>
                      <a:srgbClr val="E7F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F24"/>
                          </a:solidFill>
                          <a:latin typeface="Arial"/>
                        </a:rPr>
                        <a:t>.40</a:t>
                      </a:r>
                    </a:p>
                  </a:txBody>
                  <a:tcPr anchor="ctr" marL="36576" marR="36576">
                    <a:solidFill>
                      <a:srgbClr val="E7F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F24"/>
                          </a:solidFill>
                          <a:latin typeface="Arial"/>
                        </a:rPr>
                        <a:t>.553</a:t>
                      </a:r>
                    </a:p>
                  </a:txBody>
                  <a:tcPr anchor="ctr" marL="36576" marR="36576">
                    <a:solidFill>
                      <a:srgbClr val="E7F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F24"/>
                          </a:solidFill>
                          <a:latin typeface="Arial"/>
                        </a:rPr>
                        <a:t>.70</a:t>
                      </a:r>
                    </a:p>
                  </a:txBody>
                  <a:tcPr anchor="ctr" marL="36576" marR="36576">
                    <a:solidFill>
                      <a:srgbClr val="E7F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F24"/>
                          </a:solidFill>
                          <a:latin typeface="Arial"/>
                        </a:rPr>
                        <a:t>.75</a:t>
                      </a:r>
                    </a:p>
                  </a:txBody>
                  <a:tcPr anchor="ctr" marL="36576" marR="36576">
                    <a:solidFill>
                      <a:srgbClr val="E7F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F24"/>
                          </a:solidFill>
                          <a:latin typeface="Arial"/>
                        </a:rPr>
                        <a:t>.911</a:t>
                      </a:r>
                    </a:p>
                  </a:txBody>
                  <a:tcPr anchor="ctr" marL="36576" marR="36576">
                    <a:solidFill>
                      <a:srgbClr val="E7F6E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Microsoft YaHei"/>
                        </a:rPr>
                        <a:t>listwise RRF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.33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.485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.59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.73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F24"/>
                          </a:solidFill>
                          <a:latin typeface="Arial"/>
                        </a:rPr>
                        <a:t>.842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35240" y="1207008"/>
            <a:ext cx="3931920" cy="1847088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6992" y="1444752"/>
            <a:ext cx="331012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77749"/>
                </a:solidFill>
                <a:latin typeface="Arial"/>
              </a:rPr>
              <a:t>.911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2148840"/>
            <a:ext cx="3310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Arial"/>
              </a:rPr>
              <a:t>Pairwise preference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523744"/>
            <a:ext cx="3310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570"/>
                </a:solidFill>
                <a:latin typeface="Microsoft YaHei"/>
              </a:rPr>
              <a:t>能区分 hard negative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383280"/>
            <a:ext cx="3931920" cy="1984248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3675887"/>
            <a:ext cx="33101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73838"/>
                </a:solidFill>
                <a:latin typeface="Microsoft YaHei"/>
              </a:rPr>
              <a:t>≠  Top-1提升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4306824"/>
            <a:ext cx="323697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Pairwise Top-1 = .40，低于 memory heuristic = .49；简单 listwise 融合继续下降。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559552"/>
            <a:ext cx="10561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34F7E"/>
                </a:solidFill>
                <a:latin typeface="Microsoft YaHei"/>
              </a:rPr>
              <a:t>排序信号适合作为过程奖励/诊断信号，但还需要 policy coupling 才能改进最终答案。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KGR实验给出的真实结论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Scope caveat: current experiments are WebQSP first-hop pilots, not official multi-hop CWQ evaluation.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376672" cy="190195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3502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B73838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1344168"/>
            <a:ext cx="42062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Arial"/>
              </a:rPr>
              <a:t>Retrieval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37943"/>
            <a:ext cx="4187952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答案不可见时，后续RL/GRPO无法补回证据；必须拆分检索与推理贡献。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170432"/>
            <a:ext cx="5376672" cy="190195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3502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684B96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44168"/>
            <a:ext cx="42062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84B96"/>
                </a:solidFill>
                <a:latin typeface="Arial"/>
              </a:rPr>
              <a:t>Non-monotonic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37943"/>
            <a:ext cx="4187952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memory 对不同样本既有帮助也会误导；平均分掩盖了 use/suppress 决策。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429000"/>
            <a:ext cx="5376672" cy="1901952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59359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77749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602736"/>
            <a:ext cx="42062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7749"/>
                </a:solidFill>
                <a:latin typeface="Arial"/>
              </a:rPr>
              <a:t>Gate learning is the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096512"/>
            <a:ext cx="4187952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oracle 0.8167，但轻量GRM只有0.6833；缺少可诊断的memory state supervision。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3429000"/>
            <a:ext cx="5376672" cy="190195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59359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34F7E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02736"/>
            <a:ext cx="42062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4F7E"/>
                </a:solidFill>
                <a:latin typeface="Arial"/>
              </a:rPr>
              <a:t>Ranking is not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96512"/>
            <a:ext cx="4187952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pairwise比较正确并不等于Top-1与答案正确；需要闭环状态、动作与后果。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614416"/>
            <a:ext cx="10607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Microsoft YaHei"/>
              </a:rPr>
              <a:t>研究转向：不再把 memory 当额外文本，而是把“状态、使用、抑制、修复”本身变成可测对象。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05856" y="2871216"/>
            <a:ext cx="5897880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Agent Memory Benchmarks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Agent Memory：评测对象不是长上下文本身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Conceptual framing: Hu et al., Memory in the Age of AI Agents, arXiv:2512.13564.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4F7E"/>
                </a:solidFill>
                <a:latin typeface="Microsoft YaHei"/>
              </a:rPr>
              <a:t>Agent memory = 跨交互持续存在、可被写入/检索/使用/更新，并影响未来行为的认知状态。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901952"/>
            <a:ext cx="2011680" cy="2331720"/>
          </a:xfrm>
          <a:prstGeom prst="rect">
            <a:avLst/>
          </a:prstGeom>
          <a:solidFill>
            <a:srgbClr val="E7F1FB"/>
          </a:solidFill>
          <a:ln w="1524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2075688"/>
            <a:ext cx="1316736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9696"/>
            <a:ext cx="124358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AA"/>
                </a:solidFill>
                <a:latin typeface="Microsoft YaHei"/>
              </a:rPr>
              <a:t>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578608"/>
            <a:ext cx="168249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6AAA"/>
                </a:solidFill>
                <a:latin typeface="Microsoft YaHei"/>
              </a:rPr>
              <a:t>形成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3127248"/>
            <a:ext cx="1682496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从history / tool / user feedback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抽取事实、经验与规则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50592" y="3044952"/>
            <a:ext cx="274320" cy="0"/>
          </a:xfrm>
          <a:prstGeom prst="line">
            <a:avLst/>
          </a:prstGeom>
          <a:ln w="22860">
            <a:solidFill>
              <a:srgbClr val="234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761488" y="1901952"/>
            <a:ext cx="2011680" cy="2331720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2075688"/>
            <a:ext cx="1316736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139696"/>
            <a:ext cx="124358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4B96"/>
                </a:solidFill>
                <a:latin typeface="Microsoft YaHei"/>
              </a:rPr>
              <a:t>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78608"/>
            <a:ext cx="168249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4B96"/>
                </a:solidFill>
                <a:latin typeface="Microsoft YaHei"/>
              </a:rPr>
              <a:t>持久化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27248"/>
            <a:ext cx="1682496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跨session保存内容、时间、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来源与authority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73168" y="3044952"/>
            <a:ext cx="274320" cy="0"/>
          </a:xfrm>
          <a:prstGeom prst="line">
            <a:avLst/>
          </a:prstGeom>
          <a:ln w="22860">
            <a:solidFill>
              <a:srgbClr val="234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84064" y="1901952"/>
            <a:ext cx="2011680" cy="2331720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31536" y="2075688"/>
            <a:ext cx="1316736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2139696"/>
            <a:ext cx="124358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7E80"/>
                </a:solidFill>
                <a:latin typeface="Microsoft YaHei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5" y="2578608"/>
            <a:ext cx="168249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7E80"/>
                </a:solidFill>
                <a:latin typeface="Microsoft YaHei"/>
              </a:rPr>
              <a:t>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5" y="3127248"/>
            <a:ext cx="1682496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按当前目标召回候选记忆，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处理更新与冲突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95744" y="3044952"/>
            <a:ext cx="274319" cy="0"/>
          </a:xfrm>
          <a:prstGeom prst="line">
            <a:avLst/>
          </a:prstGeom>
          <a:ln w="22860">
            <a:solidFill>
              <a:srgbClr val="234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406640" y="1901952"/>
            <a:ext cx="2011680" cy="2331720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54112" y="2075688"/>
            <a:ext cx="1316736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2139696"/>
            <a:ext cx="124358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749"/>
                </a:solidFill>
                <a:latin typeface="Microsoft YaHei"/>
              </a:rPr>
              <a:t>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2578608"/>
            <a:ext cx="168249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77749"/>
                </a:solidFill>
                <a:latin typeface="Microsoft YaHei"/>
              </a:rPr>
              <a:t>调控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3127248"/>
            <a:ext cx="1682496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选择、抑制、澄清或验证，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再决定是否行动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18320" y="3044952"/>
            <a:ext cx="274320" cy="0"/>
          </a:xfrm>
          <a:prstGeom prst="line">
            <a:avLst/>
          </a:prstGeom>
          <a:ln w="22860">
            <a:solidFill>
              <a:srgbClr val="234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29216" y="1901952"/>
            <a:ext cx="2011680" cy="2331720"/>
          </a:xfrm>
          <a:prstGeom prst="rect">
            <a:avLst/>
          </a:prstGeom>
          <a:solidFill>
            <a:srgbClr val="FFF5DC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76688" y="2075688"/>
            <a:ext cx="1316736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13264" y="2139696"/>
            <a:ext cx="124358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A000"/>
                </a:solidFill>
                <a:latin typeface="Microsoft YaHei"/>
              </a:rPr>
              <a:t>EVOLVE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2578608"/>
            <a:ext cx="168249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A000"/>
                </a:solidFill>
                <a:latin typeface="Microsoft YaHei"/>
              </a:rPr>
              <a:t>演化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3127248"/>
            <a:ext cx="1682496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根据世界反馈修正旧记忆，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支持未来session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617720"/>
            <a:ext cx="10460736" cy="850392"/>
          </a:xfrm>
          <a:prstGeom prst="rect">
            <a:avLst/>
          </a:prstGeom>
          <a:solidFill>
            <a:srgbClr val="F7F8FA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484632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区别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4773168"/>
            <a:ext cx="91257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B1F24"/>
                </a:solidFill>
                <a:latin typeface="Microsoft YaHei"/>
              </a:rPr>
              <a:t>RAG主要回答“从外部知识库检索什么”；长上下文主要回答“窗口内能放多少”；Agent Memory还必须回答“哪些状态可被未来行为信任、何时应被抑制或修复”。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经典Memory Benchmark的演进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Yang et al., NeurIPS 2024; Maharana et al., ACL 2024; Wu et al., ICLR 2025; Wu et al., ACL 2026; Shen et al., ACL 2026.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999232"/>
            <a:ext cx="10195560" cy="0"/>
          </a:xfrm>
          <a:prstGeom prst="line">
            <a:avLst/>
          </a:prstGeom>
          <a:ln w="25400">
            <a:solidFill>
              <a:srgbClr val="234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05840" y="1261872"/>
            <a:ext cx="1682496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389888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D6AAA"/>
                </a:solidFill>
                <a:latin typeface="Arial"/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00784"/>
            <a:ext cx="1499616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Arial"/>
              </a:rPr>
              <a:t>CRAG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48256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动态/长尾事实QA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RAG可靠性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47088" y="2468880"/>
            <a:ext cx="0" cy="530352"/>
          </a:xfrm>
          <a:prstGeom prst="line">
            <a:avLst/>
          </a:prstGeom>
          <a:ln w="15240">
            <a:solidFill>
              <a:srgbClr val="2D6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28216" y="2871216"/>
            <a:ext cx="237744" cy="237744"/>
          </a:xfrm>
          <a:prstGeom prst="ellipse">
            <a:avLst/>
          </a:prstGeom>
          <a:solidFill>
            <a:srgbClr val="2D6AAA"/>
          </a:solidFill>
          <a:ln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261872"/>
            <a:ext cx="1682496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1389888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84B96"/>
                </a:solidFill>
                <a:latin typeface="Arial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700784"/>
            <a:ext cx="1499616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Arial"/>
              </a:rPr>
              <a:t>LoCoMo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48256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跨session QA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事件总结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04488" y="2468880"/>
            <a:ext cx="0" cy="530352"/>
          </a:xfrm>
          <a:prstGeom prst="line">
            <a:avLst/>
          </a:prstGeom>
          <a:ln w="15240">
            <a:solidFill>
              <a:srgbClr val="684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785616" y="2871216"/>
            <a:ext cx="237744" cy="237744"/>
          </a:xfrm>
          <a:prstGeom prst="ellipse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1261872"/>
            <a:ext cx="1682496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1389888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7E80"/>
                </a:solidFill>
                <a:latin typeface="Arial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700784"/>
            <a:ext cx="1499616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Arial"/>
              </a:rPr>
              <a:t>LongMemEval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048256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检索 + 推理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更新 + abstention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7608" y="2468880"/>
            <a:ext cx="0" cy="530352"/>
          </a:xfrm>
          <a:prstGeom prst="line">
            <a:avLst/>
          </a:prstGeom>
          <a:ln w="15240">
            <a:solidFill>
              <a:srgbClr val="1F7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888736" y="2871216"/>
            <a:ext cx="237744" cy="237744"/>
          </a:xfrm>
          <a:prstGeom prst="ellipse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1261872"/>
            <a:ext cx="1682496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1389888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77749"/>
                </a:solidFill>
                <a:latin typeface="Arial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1700784"/>
            <a:ext cx="1499616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Arial"/>
              </a:rPr>
              <a:t>StratMem-Bench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048256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must / nice / irr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战略使用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02168" y="2468880"/>
            <a:ext cx="0" cy="530352"/>
          </a:xfrm>
          <a:prstGeom prst="line">
            <a:avLst/>
          </a:prstGeom>
          <a:ln w="15240">
            <a:solidFill>
              <a:srgbClr val="277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083296" y="2871216"/>
            <a:ext cx="237744" cy="237744"/>
          </a:xfrm>
          <a:prstGeom prst="ellipse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1261872"/>
            <a:ext cx="1682496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1389888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A000"/>
                </a:solidFill>
                <a:latin typeface="Arial"/>
              </a:rPr>
              <a:t>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700784"/>
            <a:ext cx="1499616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Arial"/>
              </a:rPr>
              <a:t>Mem2ActBench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048256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tool selection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parameter grounding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88168" y="2468880"/>
            <a:ext cx="0" cy="530352"/>
          </a:xfrm>
          <a:prstGeom prst="line">
            <a:avLst/>
          </a:prstGeom>
          <a:ln w="15240">
            <a:solidFill>
              <a:srgbClr val="F4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369296" y="2871216"/>
            <a:ext cx="237744" cy="237744"/>
          </a:xfrm>
          <a:prstGeom prst="ellipse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8992" y="3813048"/>
            <a:ext cx="1001268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53312" y="4114800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Microsoft YaHei"/>
              </a:rPr>
              <a:t>演进主线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0048" y="4050791"/>
            <a:ext cx="8028431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1F24"/>
                </a:solidFill>
                <a:latin typeface="Microsoft YaHei"/>
              </a:rPr>
              <a:t>检索到事实  →  跨会话记忆  →  多类型能力  →  战略选择  →  由记忆驱动工具行动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5257800"/>
            <a:ext cx="100584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73838"/>
                </a:solidFill>
                <a:latin typeface="Microsoft YaHei"/>
              </a:rPr>
              <a:t>仍缺少统一的、受控的 memory-state intervention：同一个任务仅改变 stale/conflicting/incomplete/verified memory 后，Agent 是否会改变行为？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经典工作对照：测到了什么，还没测什么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The first four works are explicitly discussed in the StratMem-Bench introduction/related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" y="1078992"/>
          <a:ext cx="11384279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874519"/>
                <a:gridCol w="2011680"/>
                <a:gridCol w="2240280"/>
                <a:gridCol w="3959352"/>
              </a:tblGrid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FFFFFF"/>
                          </a:solidFill>
                          <a:latin typeface="Arial"/>
                        </a:rPr>
                        <a:t>Benchmark</a:t>
                      </a:r>
                    </a:p>
                  </a:txBody>
                  <a:tcPr anchor="ctr" marL="45720" marR="45720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FFFFFF"/>
                          </a:solidFill>
                          <a:latin typeface="Microsoft YaHei"/>
                        </a:rPr>
                        <a:t>Memory source</a:t>
                      </a:r>
                    </a:p>
                  </a:txBody>
                  <a:tcPr anchor="ctr" marL="45720" marR="45720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FFFFFF"/>
                          </a:solidFill>
                          <a:latin typeface="Microsoft YaHei"/>
                        </a:rPr>
                        <a:t>Core task</a:t>
                      </a:r>
                    </a:p>
                  </a:txBody>
                  <a:tcPr anchor="ctr" marL="45720" marR="45720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FFFFFF"/>
                          </a:solidFill>
                          <a:latin typeface="Microsoft YaHei"/>
                        </a:rPr>
                        <a:t>Primary signal</a:t>
                      </a:r>
                    </a:p>
                  </a:txBody>
                  <a:tcPr anchor="ctr" marL="45720" marR="45720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FFFFFF"/>
                          </a:solidFill>
                          <a:latin typeface="Microsoft YaHei"/>
                        </a:rPr>
                        <a:t>Remaining gap</a:t>
                      </a:r>
                    </a:p>
                  </a:txBody>
                  <a:tcPr anchor="ctr" marL="45720" marR="45720">
                    <a:solidFill>
                      <a:srgbClr val="234F7E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Arial"/>
                        </a:rPr>
                        <a:t>CRAG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Web / KG API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factual QA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accuracy / hallucination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非持久memory lifecycle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Arial"/>
                        </a:rPr>
                        <a:t>LoCoMo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长对话事件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QA / summary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long-range recall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不控制memory状态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Arial"/>
                        </a:rPr>
                        <a:t>LongMemEval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历史会话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5类memory能力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QA accuracy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以回答为终点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Arial"/>
                        </a:rPr>
                        <a:t>StratMem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must/nice/irr池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条件响应生成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使用/抑制/整合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不执行环境动作</a:t>
                      </a:r>
                    </a:p>
                  </a:txBody>
                  <a:tcPr anchor="ctr" marL="45720" marR="45720">
                    <a:solidFill>
                      <a:srgbClr val="F7F8FA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Arial"/>
                        </a:rPr>
                        <a:t>Mem2Act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长期任务链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tool + parameters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tool-call accuracy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1B1F24"/>
                          </a:solidFill>
                          <a:latin typeface="Microsoft YaHei"/>
                        </a:rPr>
                        <a:t>缺少verify/repair闭环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724144"/>
            <a:ext cx="10899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73838"/>
                </a:solidFill>
                <a:latin typeface="Microsoft YaHei"/>
              </a:rPr>
              <a:t>共同盲区：aggregate accuracy 很难定位记忆到底在形成、检索、使用还是更新环节失败。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StratMem-Bench：从“记住事实”到“战略使用”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Wu et al., ACL 2026 Long Paper, 657 instances; transformed from LoCoMo with LLM annotation and human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097280"/>
            <a:ext cx="3730752" cy="4416552"/>
          </a:xfrm>
          <a:prstGeom prst="rect">
            <a:avLst/>
          </a:prstGeom>
          <a:solidFill>
            <a:srgbClr val="F7F8FA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7863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316736"/>
            <a:ext cx="2240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1F24"/>
                </a:solidFill>
                <a:latin typeface="Arial"/>
              </a:rPr>
              <a:t>xᵢ = (hᵢ, qᵢ, Pᵢ, Mᵢ)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11680"/>
            <a:ext cx="749808" cy="329184"/>
          </a:xfrm>
          <a:prstGeom prst="roundRect">
            <a:avLst/>
          </a:prstGeom>
          <a:solidFill>
            <a:srgbClr val="E7F1FB"/>
          </a:solidFill>
          <a:ln w="1016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75688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AA"/>
                </a:solidFill>
                <a:latin typeface="Microsoft YaHei"/>
              </a:rPr>
              <a:t>must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029968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保证事实正确，缺失会导致错误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889504"/>
            <a:ext cx="749808" cy="329184"/>
          </a:xfrm>
          <a:prstGeom prst="roundRect">
            <a:avLst/>
          </a:prstGeom>
          <a:solidFill>
            <a:srgbClr val="E7F6ED"/>
          </a:solidFill>
          <a:ln w="1016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53512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749"/>
                </a:solidFill>
                <a:latin typeface="Microsoft YaHei"/>
              </a:rPr>
              <a:t>nice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907792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非必需但可增加个性、共情与连贯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767328"/>
            <a:ext cx="749808" cy="329184"/>
          </a:xfrm>
          <a:prstGeom prst="roundRect">
            <a:avLst/>
          </a:prstGeom>
          <a:solidFill>
            <a:srgbClr val="FCEBEB"/>
          </a:solidFill>
          <a:ln w="1016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31336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73838"/>
                </a:solidFill>
                <a:latin typeface="Microsoft YaHei"/>
              </a:rPr>
              <a:t>irr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3785615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与当前目标无关，应主动抑制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782312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4727448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1F24"/>
                </a:solidFill>
                <a:latin typeface="Microsoft YaHei"/>
              </a:rPr>
              <a:t>角色一致且有策略的回复 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1097280"/>
            <a:ext cx="3694176" cy="4416552"/>
          </a:xfrm>
          <a:prstGeom prst="rect">
            <a:avLst/>
          </a:prstGeom>
          <a:solidFill>
            <a:srgbClr val="FFFFFF"/>
          </a:solidFill>
          <a:ln w="1397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1362456"/>
            <a:ext cx="30723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4F7E"/>
                </a:solidFill>
                <a:latin typeface="Microsoft YaHei"/>
              </a:rPr>
              <a:t>四个指标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1892807"/>
            <a:ext cx="256032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1883664"/>
            <a:ext cx="2798064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SMC：required memory 是否全部满足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2537460"/>
            <a:ext cx="256032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2528316"/>
            <a:ext cx="2798064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MIQ：使用后的整合质量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456" y="3182111"/>
            <a:ext cx="256032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3172968"/>
            <a:ext cx="2798064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PES：supportive memory 的增益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6" y="3826763"/>
            <a:ext cx="256032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3817620"/>
            <a:ext cx="2798064" cy="6263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CIR：无条件引入 irrelevant memory 的比例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85632" y="1097280"/>
            <a:ext cx="3246120" cy="4416552"/>
          </a:xfrm>
          <a:prstGeom prst="rect">
            <a:avLst/>
          </a:prstGeom>
          <a:solidFill>
            <a:srgbClr val="E7F6ED"/>
          </a:solidFill>
          <a:ln w="1397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9952" y="1362456"/>
            <a:ext cx="2697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77749"/>
                </a:solidFill>
                <a:latin typeface="Microsoft YaHei"/>
              </a:rPr>
              <a:t>关键发现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3104" y="1975104"/>
            <a:ext cx="254203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1F24"/>
                </a:solidFill>
                <a:latin typeface="Microsoft YaHei"/>
              </a:rPr>
              <a:t>模型通常能区分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1F24"/>
                </a:solidFill>
                <a:latin typeface="Microsoft YaHei"/>
              </a:rPr>
              <a:t>must 与 irr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971800"/>
            <a:ext cx="254203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Microsoft YaHei"/>
              </a:rPr>
              <a:t>但加入 nice 后，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Microsoft YaHei"/>
              </a:rPr>
              <a:t>“用多少、怎么用”显著变难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279392"/>
            <a:ext cx="26517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570"/>
                </a:solidFill>
                <a:latin typeface="Microsoft YaHei"/>
              </a:rPr>
              <a:t>启示：memory evaluation 要测 selective deployment，不只是 recall。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近邻工作把评测推向行动，但仍彼此割裂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Concurrent frontier: Mem2ActBench (ACL 2026), MemFail/AuthMem/SafeCommit (arXiv 2026), MobileMem (technical report, 2026).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78992"/>
            <a:ext cx="11082528" cy="832104"/>
          </a:xfrm>
          <a:prstGeom prst="rect">
            <a:avLst/>
          </a:prstGeom>
          <a:solidFill>
            <a:srgbClr val="E7F1FB"/>
          </a:solidFill>
          <a:ln w="1270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89304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D6AAA"/>
                </a:solidFill>
                <a:latin typeface="Arial"/>
              </a:rPr>
              <a:t>Mem2ActBench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1234439"/>
            <a:ext cx="314553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B1F24"/>
                </a:solidFill>
                <a:latin typeface="Microsoft YaHei"/>
              </a:rPr>
              <a:t>从长期记忆恢复 tool 与参数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207007"/>
            <a:ext cx="51206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5C6570"/>
                </a:solidFill>
                <a:latin typeface="Microsoft YaHei"/>
              </a:rPr>
              <a:t>离线 tool call；未纳入 verify / clarify / repair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020824"/>
            <a:ext cx="11082528" cy="832104"/>
          </a:xfrm>
          <a:prstGeom prst="rect">
            <a:avLst/>
          </a:prstGeom>
          <a:solidFill>
            <a:srgbClr val="F1ECF9"/>
          </a:solidFill>
          <a:ln w="1270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31136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Arial"/>
              </a:rPr>
              <a:t>MemFail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176272"/>
            <a:ext cx="314553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B1F24"/>
                </a:solidFill>
                <a:latin typeface="Microsoft YaHei"/>
              </a:rPr>
              <a:t>分解 summarization / storage /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148840"/>
            <a:ext cx="51206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5C6570"/>
                </a:solidFill>
                <a:latin typeface="Microsoft YaHei"/>
              </a:rPr>
              <a:t>诊断组件失败；未测行动时的memory regulation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962656"/>
            <a:ext cx="11082528" cy="832104"/>
          </a:xfrm>
          <a:prstGeom prst="rect">
            <a:avLst/>
          </a:prstGeom>
          <a:solidFill>
            <a:srgbClr val="FCEBEB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172968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3838"/>
                </a:solidFill>
                <a:latin typeface="Arial"/>
              </a:rPr>
              <a:t>AuthMem-Bench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118104"/>
            <a:ext cx="314553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B1F24"/>
                </a:solidFill>
                <a:latin typeface="Microsoft YaHei"/>
              </a:rPr>
              <a:t>测试 consolidation 后 authority collapse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090672"/>
            <a:ext cx="51206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5C6570"/>
                </a:solidFill>
                <a:latin typeface="Microsoft YaHei"/>
              </a:rPr>
              <a:t>聚焦来源权限；未统一覆盖read/use/repair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904488"/>
            <a:ext cx="11082528" cy="832104"/>
          </a:xfrm>
          <a:prstGeom prst="rect">
            <a:avLst/>
          </a:prstGeom>
          <a:solidFill>
            <a:srgbClr val="E7F6ED"/>
          </a:solidFill>
          <a:ln w="1270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14800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77749"/>
                </a:solidFill>
                <a:latin typeface="Arial"/>
              </a:rPr>
              <a:t>SafeCommit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059936"/>
            <a:ext cx="314553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B1F24"/>
                </a:solidFill>
                <a:latin typeface="Microsoft YaHei"/>
              </a:rPr>
              <a:t>commit / probe / fallback 下的安全证书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4032504"/>
            <a:ext cx="51206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5C6570"/>
                </a:solidFill>
                <a:latin typeface="Microsoft YaHei"/>
              </a:rPr>
              <a:t>proof-of-concept latent worlds；未接真实memory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4846320"/>
            <a:ext cx="11082528" cy="832104"/>
          </a:xfrm>
          <a:prstGeom prst="rect">
            <a:avLst/>
          </a:prstGeom>
          <a:solidFill>
            <a:srgbClr val="FFF5DC"/>
          </a:solidFill>
          <a:ln w="1270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056632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Arial"/>
              </a:rPr>
              <a:t>MobileMem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5001768"/>
            <a:ext cx="314553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B1F24"/>
                </a:solidFill>
                <a:latin typeface="Microsoft YaHei"/>
              </a:rPr>
              <a:t>一年尺度移动经历与多模态个人记忆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4974336"/>
            <a:ext cx="51206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5C6570"/>
                </a:solidFill>
                <a:latin typeface="Microsoft YaHei"/>
              </a:rPr>
              <a:t>覆盖更新/偏好，但不是受控matched intervention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806440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Microsoft YaHei"/>
              </a:rPr>
              <a:t>机会不是再拼一个更大的任务集合，而是用 matched memory-state family 连接 diagnosis → control → repair。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05856" y="2871216"/>
            <a:ext cx="5897880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MemReadyBench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核心问题：记忆状态何时足以支持下一步行动？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Canonical Stage-I proposal: docs/ideas/2026-09-03-memreadybench-unified-research-proposal.md.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078992"/>
            <a:ext cx="10954512" cy="859536"/>
          </a:xfrm>
          <a:prstGeom prst="rect">
            <a:avLst/>
          </a:prstGeom>
          <a:solidFill>
            <a:srgbClr val="E7F1FB"/>
          </a:solidFill>
          <a:ln w="1397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1046988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4F7E"/>
                </a:solidFill>
                <a:latin typeface="Microsoft YaHei"/>
              </a:rPr>
              <a:t>在持久记忆可能陈旧、冲突、不完整或受污染时，Agent 能否诊断其可用性、调控其影响，并在验证后修复记忆以支持未来会话？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395728"/>
            <a:ext cx="3401568" cy="2450592"/>
          </a:xfrm>
          <a:prstGeom prst="rect">
            <a:avLst/>
          </a:prstGeom>
          <a:solidFill>
            <a:srgbClr val="E7F1FB"/>
          </a:solidFill>
          <a:ln w="1524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633472"/>
            <a:ext cx="73152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97479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AA"/>
                </a:solidFill>
                <a:latin typeface="Microsoft YaHei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172968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6AAA"/>
                </a:solidFill>
                <a:latin typeface="Arial"/>
              </a:rPr>
              <a:t>Memory-state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721608"/>
            <a:ext cx="285292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Agent 能否识别当前记忆是 verified、stale、conflicting、incomplete 还是 corrupted？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2395728"/>
            <a:ext cx="3401568" cy="2450592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6864" y="2633472"/>
            <a:ext cx="73152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79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749"/>
                </a:solidFill>
                <a:latin typeface="Microsoft YaHei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72968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77749"/>
                </a:solidFill>
                <a:latin typeface="Arial"/>
              </a:rPr>
              <a:t>Memory-use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3721608"/>
            <a:ext cx="285292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在不同风险与证据状态下，能否选择 USE / SUPPRESS / CLARIFY / VERIFY / ABSTAIN？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2395728"/>
            <a:ext cx="3401568" cy="245059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57616" y="2633472"/>
            <a:ext cx="73152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697479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4B96"/>
                </a:solidFill>
                <a:latin typeface="Microsoft YaHei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72968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84B96"/>
                </a:solidFill>
                <a:latin typeface="Arial"/>
              </a:rPr>
              <a:t>Prospective repair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721608"/>
            <a:ext cx="285292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获得权威反馈后，能否修复持久记忆，并在下一session稳定复用？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367528"/>
            <a:ext cx="1053388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B73838"/>
                </a:solidFill>
                <a:latin typeface="Microsoft YaHei"/>
              </a:rPr>
              <a:t>与StratMem的边界：它测“给定memory池如何表达”；这里测“memory状态变化是否改变工具决策，并能否被修复”。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Stage-I Benchmark总体框架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Framework source: docs/figures/2026-09-03-memreadybench-stage1-benchmark-framework.png.</a:t>
            </a:r>
          </a:p>
        </p:txBody>
      </p:sp>
      <p:pic>
        <p:nvPicPr>
          <p:cNvPr id="6" name="Picture 5" descr="2026-09-03-memreadybench-stage1-benchmark-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96012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Benchmark输入、过程与输出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Stage-I contains evaluation tasks only; no training/RL module is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042415"/>
            <a:ext cx="10972800" cy="841248"/>
          </a:xfrm>
          <a:prstGeom prst="rect">
            <a:avLst/>
          </a:prstGeom>
          <a:solidFill>
            <a:srgbClr val="E7F1FB"/>
          </a:solidFill>
          <a:ln w="1270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5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D6AA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16151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D6AAA"/>
                </a:solidFill>
                <a:latin typeface="Arial"/>
              </a:rPr>
              <a:t>Canonical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1161288"/>
            <a:ext cx="7543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构造真实世界 w*、历史 H、用户目标 q 与允许动作集合 A。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993391"/>
            <a:ext cx="10972800" cy="841248"/>
          </a:xfrm>
          <a:prstGeom prst="rect">
            <a:avLst/>
          </a:prstGeom>
          <a:solidFill>
            <a:srgbClr val="F1ECF9"/>
          </a:solidFill>
          <a:ln w="1270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176272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84B96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67127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Arial"/>
              </a:rPr>
              <a:t>Matched memory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112263"/>
            <a:ext cx="7543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固定任务与世界，仅干预 M：verified / stale / conflict / incomplete / corrupted。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2944368"/>
            <a:ext cx="10972800" cy="841248"/>
          </a:xfrm>
          <a:prstGeom prst="rect">
            <a:avLst/>
          </a:prstGeom>
          <a:solidFill>
            <a:srgbClr val="E6F6F6"/>
          </a:solidFill>
          <a:ln w="1270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127248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7E8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18103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Arial"/>
              </a:rPr>
              <a:t>Black-box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063239"/>
            <a:ext cx="7543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接入被测 memory backend + LLM agent；不泄露memory标签。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3895344"/>
            <a:ext cx="10972800" cy="841248"/>
          </a:xfrm>
          <a:prstGeom prst="rect">
            <a:avLst/>
          </a:prstGeom>
          <a:solidFill>
            <a:srgbClr val="E7F6ED"/>
          </a:solidFill>
          <a:ln w="1270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07822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77749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69080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77749"/>
                </a:solidFill>
                <a:latin typeface="Arial"/>
              </a:rPr>
              <a:t>Action trajectory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4014215"/>
            <a:ext cx="7543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记录 retrieve、use/suppress、clarify/verify、commit/abstain 与tool结果。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" y="4846320"/>
            <a:ext cx="10972800" cy="841248"/>
          </a:xfrm>
          <a:prstGeom prst="rect">
            <a:avLst/>
          </a:prstGeom>
          <a:solidFill>
            <a:srgbClr val="FFF5DC"/>
          </a:solidFill>
          <a:ln w="1270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029200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A000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20056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Arial"/>
              </a:rPr>
              <a:t>Session-C probe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4965192"/>
            <a:ext cx="7543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权威反馈后进入新会话，检查修复后的memory能否稳定影响未来行动。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833872"/>
            <a:ext cx="106619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Microsoft YaHei"/>
              </a:rPr>
              <a:t>核心控制变量：同一实例族只改变 memory state，因此能把行为变化归因于记忆，而不是任务难度。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四类任务：同一实例族中的诊断、控制与修复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Task design follows the benchmark-only Stage-I specification.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43000"/>
            <a:ext cx="5394960" cy="1920240"/>
          </a:xfrm>
          <a:prstGeom prst="rect">
            <a:avLst/>
          </a:prstGeom>
          <a:solidFill>
            <a:srgbClr val="E7F1FB"/>
          </a:solidFill>
          <a:ln w="1524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362456"/>
            <a:ext cx="69494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26464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AA"/>
                </a:solidFill>
                <a:latin typeface="Microsoft YaHei"/>
              </a:rPr>
              <a:t>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7" y="1353312"/>
            <a:ext cx="3886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6AAA"/>
                </a:solidFill>
                <a:latin typeface="Arial"/>
              </a:rPr>
              <a:t>Memory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02536"/>
            <a:ext cx="4773168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判断每条memory的状态、来源与缺失证据；输出结构化标签。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394960" cy="1920240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1362456"/>
            <a:ext cx="69494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26464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749"/>
                </a:solidFill>
                <a:latin typeface="Microsoft YaHei"/>
              </a:rPr>
              <a:t>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353312"/>
            <a:ext cx="3886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7749"/>
                </a:solidFill>
                <a:latin typeface="Arial"/>
              </a:rPr>
              <a:t>Memory-Use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02536"/>
            <a:ext cx="4773168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在matched states下选择 USE / SUPPRESS / CLARIFY / VERIFY / ABSTAIN。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74720"/>
            <a:ext cx="5394960" cy="1920240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694176"/>
            <a:ext cx="69494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58184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73838"/>
                </a:solidFill>
                <a:latin typeface="Microsoft YaHei"/>
              </a:rPr>
              <a:t>T3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3685032"/>
            <a:ext cx="3886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Arial"/>
              </a:rPr>
              <a:t>Closure &amp;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34256"/>
            <a:ext cx="4773168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证据充分时才提交带副作用的动作；否则执行低风险信息获取。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474720"/>
            <a:ext cx="5394960" cy="1920240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55664" y="3694176"/>
            <a:ext cx="69494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58184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4B96"/>
                </a:solidFill>
                <a:latin typeface="Microsoft YaHei"/>
              </a:rPr>
              <a:t>T4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3685032"/>
            <a:ext cx="3886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84B96"/>
                </a:solidFill>
                <a:latin typeface="Arial"/>
              </a:rPr>
              <a:t>Memory Repair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34256"/>
            <a:ext cx="4773168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验证世界后更新/删除/降权旧memory，并在Session C测试未来复用。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715000"/>
            <a:ext cx="103875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4F7E"/>
                </a:solidFill>
                <a:latin typeface="Microsoft YaHei"/>
              </a:rPr>
              <a:t>四类任务不是四个互不相关的数据集，而是同一memory episode上的逐层探针。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五个主指标：同时看状态、行为与未来收益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Metric definitions are pre-registered in the Stage-I benchmark specification.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33271"/>
            <a:ext cx="11045952" cy="859536"/>
          </a:xfrm>
          <a:prstGeom prst="rect">
            <a:avLst/>
          </a:prstGeom>
          <a:solidFill>
            <a:srgbClr val="E7F1FB"/>
          </a:solidFill>
          <a:ln w="12700">
            <a:solidFill>
              <a:srgbClr val="2D6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97863"/>
            <a:ext cx="960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6AAA"/>
                </a:solidFill>
                <a:latin typeface="Arial"/>
              </a:rPr>
              <a:t>MSFA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216151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D6AAA"/>
                </a:solidFill>
                <a:latin typeface="Arial"/>
              </a:rPr>
              <a:t>Memory-State Factor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1152143"/>
            <a:ext cx="6181344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对memory状态因子的宏平均准确率；避免多数类掩盖stale/conflict失败。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84248"/>
            <a:ext cx="11045952" cy="859536"/>
          </a:xfrm>
          <a:prstGeom prst="rect">
            <a:avLst/>
          </a:prstGeom>
          <a:solidFill>
            <a:srgbClr val="E7F6ED"/>
          </a:solidFill>
          <a:ln w="1270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48840"/>
            <a:ext cx="960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77749"/>
                </a:solidFill>
                <a:latin typeface="Arial"/>
              </a:rPr>
              <a:t>VCS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167128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77749"/>
                </a:solidFill>
                <a:latin typeface="Arial"/>
              </a:rPr>
              <a:t>Verified Closure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103120"/>
            <a:ext cx="6181344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只有在证据充分且行动正确时得分；惩罚premature commit。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35224"/>
            <a:ext cx="11045952" cy="859536"/>
          </a:xfrm>
          <a:prstGeom prst="rect">
            <a:avLst/>
          </a:prstGeom>
          <a:solidFill>
            <a:srgbClr val="F1ECF9"/>
          </a:solidFill>
          <a:ln w="1270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99816"/>
            <a:ext cx="960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84B96"/>
                </a:solidFill>
                <a:latin typeface="Arial"/>
              </a:rPr>
              <a:t>PMCR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3118104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84B96"/>
                </a:solidFill>
                <a:latin typeface="Arial"/>
              </a:rPr>
              <a:t>Paired Memory Causal Responsiveness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3054096"/>
            <a:ext cx="6181344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同一实例不同memory state下，策略是否按预期改变。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86200"/>
            <a:ext cx="11045952" cy="859536"/>
          </a:xfrm>
          <a:prstGeom prst="rect">
            <a:avLst/>
          </a:prstGeom>
          <a:solidFill>
            <a:srgbClr val="FFF5DC"/>
          </a:solidFill>
          <a:ln w="1270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0791"/>
            <a:ext cx="960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A000"/>
                </a:solidFill>
                <a:latin typeface="Arial"/>
              </a:rPr>
              <a:t>LRU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069080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4A000"/>
                </a:solidFill>
                <a:latin typeface="Arial"/>
              </a:rPr>
              <a:t>Lifecycle Repair Utility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4005072"/>
            <a:ext cx="6181344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修复前后在Session C的未来任务收益差。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837176"/>
            <a:ext cx="11045952" cy="859536"/>
          </a:xfrm>
          <a:prstGeom prst="rect">
            <a:avLst/>
          </a:prstGeom>
          <a:solidFill>
            <a:srgbClr val="FCEBEB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001768"/>
            <a:ext cx="960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73838"/>
                </a:solidFill>
                <a:latin typeface="Arial"/>
              </a:rPr>
              <a:t>NAR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5020056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73838"/>
                </a:solidFill>
                <a:latin typeface="Arial"/>
              </a:rPr>
              <a:t>Negative-memory Avoidance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4956048"/>
            <a:ext cx="6181344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面对错误/污染记忆时，成功抑制其影响的比例。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33872"/>
            <a:ext cx="106801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34F7E"/>
                </a:solidFill>
                <a:latin typeface="Microsoft YaHei"/>
              </a:rPr>
              <a:t>主张成立的最低条件：不仅总体分下降，还要在 matched pairs 上出现方向正确、统计稳定的策略变化。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最小可行实验与Go / No-Go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Pilot goal: validate the benchmark's diagnostic signal before scaling data or proposing a training method.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097280"/>
            <a:ext cx="5486400" cy="4480560"/>
          </a:xfrm>
          <a:prstGeom prst="rect">
            <a:avLst/>
          </a:prstGeom>
          <a:solidFill>
            <a:srgbClr val="F7F8FA"/>
          </a:solidFill>
          <a:ln w="1270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62456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4F7E"/>
                </a:solidFill>
                <a:latin typeface="Microsoft YaHei"/>
              </a:rPr>
              <a:t>Pilot配置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256032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20240"/>
            <a:ext cx="4517136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1B1F24"/>
                </a:solidFill>
                <a:latin typeface="Microsoft YaHei"/>
              </a:rPr>
              <a:t>200-300个canonical episodes，每个生成3-5种matched memory states。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9765"/>
            <a:ext cx="256032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690622"/>
            <a:ext cx="4517136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1B1F24"/>
                </a:solidFill>
                <a:latin typeface="Microsoft YaHei"/>
              </a:rPr>
              <a:t>3类领域：日程/沟通、文件与知识工作、受约束的工具调用。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70148"/>
            <a:ext cx="256032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461004"/>
            <a:ext cx="4517136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1B1F24"/>
                </a:solidFill>
                <a:latin typeface="Microsoft YaHei"/>
              </a:rPr>
              <a:t>Baselines：long-context、RAG、直接memory reader、StratMem-style selector、SafeCommit wrapper。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40529"/>
            <a:ext cx="256032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34F7E"/>
                </a:solidFill>
                <a:latin typeface="Microsoft YaHe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31386"/>
            <a:ext cx="4517136" cy="75209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1B1F24"/>
                </a:solidFill>
                <a:latin typeface="Microsoft YaHei"/>
              </a:rPr>
              <a:t>至少3个backbone + 2个memory backend；报告效果、成本、延迟与拒答率。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4224" y="1097280"/>
            <a:ext cx="5230368" cy="1993392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371600"/>
            <a:ext cx="822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77749"/>
                </a:solidFill>
                <a:latin typeface="Arial"/>
              </a:rPr>
              <a:t>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335024"/>
            <a:ext cx="362102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memory-state intervention 产生显著、可复现的PMCR；错误能被归因到diagnosis/control/repair中的具体环节。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3584448"/>
            <a:ext cx="5230368" cy="199339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877056"/>
            <a:ext cx="1097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73838"/>
                </a:solidFill>
                <a:latin typeface="Arial"/>
              </a:rPr>
              <a:t>NO-GO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758184"/>
            <a:ext cx="3493008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1B1F24"/>
                </a:solidFill>
                <a:latin typeface="Microsoft YaHei"/>
              </a:rPr>
              <a:t>模型对memory state不敏感、指标主要复刻最终准确率，或自动标注无法被人工稳定复核；此时先收缩问题而不是扩数据。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24728"/>
            <a:ext cx="107167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34F7E"/>
                </a:solidFill>
                <a:latin typeface="Microsoft YaHei"/>
              </a:rPr>
              <a:t>Stage II训练暂不进入框架图：只有Stage I证明存在稳定诊断信号后，才设计memory controller或RL。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参考文献：LLM-based KGR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Pan, S. et al. (2024). Unifying Large Language Models and Knowledge Graphs: A Roadmap. IEEE TKDE. doi:10.1109/TKDE.2024.3352100.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Sun, J. et al. (2024). Think-on-Graph: Deep and Responsible Reasoning of Large Language Model on Knowledge Graph. ICLR 2024. openreview.net/forum?id=nnVO1PvbTv.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Luo, L., Li, Y.-F., Haffari, G., &amp; Pan, S. (2024). Reasoning on Graphs: Faithful and Interpretable Large Language Model Reasoning. ICLR 2024. openreview.net/forum?id=ZGNWW7xZ6Q.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Jiang, J. et al. (2025). KG-Agent: An Efficient Autonomous Agent Framework for Complex Reasoning over Knowledge Graph. ACL 2025, 9505-9523. doi:10.18653/v1/2025.acl-long.468.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Wu, J., Zhu, J., Liu, Y., Xu, M., &amp; Jin, Y. (2025). Agentic Reasoning: A Streamlined Framework for Enhancing LLM Reasoning with Agentic Tools. ACL 2025, 28489-28503. doi:10.18653/v1/2025.acl-long.1383.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Liu, Y. et al. (2026). PathMind: A Retrieve-Prioritize-Reason Framework for Knowledge Graph Reasoning with Large Language Models. AAAI 40(18), 15386-15393. doi:10.1609/aaai.v40i18.38565.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Yan, S. et al. (2026). Explore-on-Graph: Incentivizing Autonomous Exploration of LLMs on KGs with Path-refined Reward Modeling. ICLR 2026. arXiv:2602.21728.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Zhang, Y. et al. (2026). Backjump-on-Graph: Empowering LLMs with Reinforced Retrospective Exploration for Agentic KGR. ICML 2026, PMLR 306.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All venue/status metadata verified against official proceedings, ACL Anthology, OpenReview, or arXiv on 2026-09-03.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参考文献：Agent Memory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Yang, X. et al. (2024). CRAG - Comprehensive RAG Benchmark. NeurIPS 2024 Datasets and Benchmarks Track, 10470-10490. doi:10.52202/079017-0335.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Maharana, A. et al. (2024). Evaluating Very Long-Term Conversational Memory of LLM Agents. ACL 2024, 13851-13870. doi:10.18653/v1/2024.acl-long.747.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Wu, D. et al. (2025). LongMemEval: Benchmarking Chat Assistants on Long-Term Interactive Memory. ICLR 2025. arXiv:2410.10813.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He, J. et al. (2025). MADial-Bench: Towards Real-World Evaluation of Memory-Augmented Dialogue Generation. NAACL 2025, 9902-9921.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Hu, Y. et al. (2025). Memory in the Age of AI Agents. arXiv:2512.13564.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Wu, Y., Wu, T., Zhu, M., Sha, H., &amp; Wang, H. (2026). StratMem-Bench: Evaluating Strategic Memory Use in Virtual Character Conversation Beyond Factual Recall. ACL 2026, 32309-32328. doi:10.18653/v1/2026.acl-long.1491.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Shen, Y., Li, K., Zhou, W., &amp; Hu, S. (2026). Mem2ActBench: Evaluating Long-Term Memory Utilization in Task-Oriented Autonomous Agents. ACL 2026. aclanthology.org/2026.acl-long.370.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Garg, I., Kolhe, N., Song, D., &amp; Zhao, X. (2026). MemFail: Stress-Testing Failure Modes of LLM Memory Systems. arXiv:2605.26667.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Zhan, Q. et al. (2026). When Memory Becomes Authority: Benchmarking Authority Collapse at the Memory Consolidation Boundary. arXiv:2608.01679.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Akewar, M., &amp; Ranjan, R. (2026). SafeCommit: Certifying When Memory-Grounded Agents May Safely Act. arXiv:2608.04289.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199632"/>
            <a:ext cx="960120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208776"/>
            <a:ext cx="9528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Classic-work selection follows the StratMem-Bench introduction/related work; concurrent references are labeled as arXiv where applicable.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ZlYzRlNjdkZTEzZTk5OTgwNjY5OTIyODZkM2FhNTk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</a:spPr>
      <a:bodyPr wrap="square" lIns="45719" rIns="45719">
        <a:spAutoFit/>
      </a:bodyPr>
      <a:lstStyle>
        <a:defPPr algn="l">
          <a:defRPr sz="2000" b="1" dirty="0">
            <a:solidFill>
              <a:schemeClr val="tx1"/>
            </a:solidFill>
            <a:latin typeface="Adobe 黑体 Std R"/>
            <a:ea typeface="Adobe 黑体 Std R"/>
            <a:cs typeface="Adobe 黑体 Std R"/>
            <a:sym typeface="Adobe 黑体 Std R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896</Words>
  <Application>Microsoft Office PowerPoint</Application>
  <PresentationFormat>宽屏</PresentationFormat>
  <Paragraphs>70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Adobe 黑体 Std R</vt:lpstr>
      <vt:lpstr>等线</vt:lpstr>
      <vt:lpstr>等线 Light</vt:lpstr>
      <vt:lpstr>黑体</vt:lpstr>
      <vt:lpstr>楷体</vt:lpstr>
      <vt:lpstr>宋体</vt:lpstr>
      <vt:lpstr>Arial</vt:lpstr>
      <vt:lpstr>Calibri</vt:lpstr>
      <vt:lpstr>Impact</vt:lpstr>
      <vt:lpstr>Times New Roman</vt:lpstr>
      <vt:lpstr>Wingdings</vt:lpstr>
      <vt:lpstr>1_Office 主题</vt:lpstr>
      <vt:lpstr>20260321进展汇报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熙润 魏</cp:lastModifiedBy>
  <cp:revision>778</cp:revision>
  <cp:lastPrinted>2022-07-23T06:32:00Z</cp:lastPrinted>
  <dcterms:created xsi:type="dcterms:W3CDTF">2024-10-10T02:06:00Z</dcterms:created>
  <dcterms:modified xsi:type="dcterms:W3CDTF">2026-09-03T15:38:22Z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C63D499CBFA8412BBFD94993171443F4_13</vt:lpwstr>
  </property>
  <property fmtid="{D5CDD505-2E9C-101B-9397-08002B2CF9AE}" pid="3" name="KSOProductBuildVer">
    <vt:lpwstr>2052-12.1.0.24657</vt:lpwstr>
  </property>
</Properties>
</file>