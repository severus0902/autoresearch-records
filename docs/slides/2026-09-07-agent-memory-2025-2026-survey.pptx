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9"/>
    <p:sldId id="264" r:id="rId8"/>
    <p:sldId id="265" r:id="rId7"/>
    <p:sldId id="266" r:id="rId6"/>
    <p:sldId id="267" r:id="rId5"/>
    <p:sldId id="268" r:id="rId4"/>
    <p:sldId id="269" r:id="rId3"/>
    <p:sldId id="270" r:id="rId2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</p:sldIdLst>
  <p:sldSz cx="12192000" cy="6858000"/>
  <p:notesSz cx="7104063" cy="10234613"/>
  <p:custDataLst>
    <p:tags r:id="rId19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 SQ" initials="ZS" lastIdx="20" clrIdx="0"/>
  <p:cmAuthor id="2" name="Administrator" initials="A" lastIdx="2" clrIdx="1"/>
  <p:cmAuthor id="3" name="吴 亦珂" initials="吴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1F497D"/>
    <a:srgbClr val="FFF2CC"/>
    <a:srgbClr val="C9E6F1"/>
    <a:srgbClr val="DBF1CE"/>
    <a:srgbClr val="D4E0F9"/>
    <a:srgbClr val="071F65"/>
    <a:srgbClr val="F6BB00"/>
    <a:srgbClr val="BDD3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9" autoAdjust="0"/>
    <p:restoredTop sz="92805" autoAdjust="0"/>
  </p:normalViewPr>
  <p:slideViewPr>
    <p:cSldViewPr showGuides="1">
      <p:cViewPr varScale="1">
        <p:scale>
          <a:sx n="74" d="100"/>
          <a:sy n="74" d="100"/>
        </p:scale>
        <p:origin x="82" y="22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682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3" d="100"/>
          <a:sy n="63" d="100"/>
        </p:scale>
        <p:origin x="3354" y="6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5.xml"/><Relationship Id="rId3" Type="http://schemas.openxmlformats.org/officeDocument/2006/relationships/slide" Target="slides/slide14.xml"/><Relationship Id="rId4" Type="http://schemas.openxmlformats.org/officeDocument/2006/relationships/slide" Target="slides/slide13.xml"/><Relationship Id="rId5" Type="http://schemas.openxmlformats.org/officeDocument/2006/relationships/slide" Target="slides/slide12.xml"/><Relationship Id="rId6" Type="http://schemas.openxmlformats.org/officeDocument/2006/relationships/slide" Target="slides/slide11.xml"/><Relationship Id="rId7" Type="http://schemas.openxmlformats.org/officeDocument/2006/relationships/slide" Target="slides/slide10.xml"/><Relationship Id="rId8" Type="http://schemas.openxmlformats.org/officeDocument/2006/relationships/slide" Target="slides/slide9.xml"/><Relationship Id="rId9" Type="http://schemas.openxmlformats.org/officeDocument/2006/relationships/slide" Target="slides/slide8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18" Type="http://schemas.openxmlformats.org/officeDocument/2006/relationships/handoutMaster" Target="handoutMasters/handoutMaster1.xml"/><Relationship Id="rId19" Type="http://schemas.openxmlformats.org/officeDocument/2006/relationships/tags" Target="tags/tag1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Relationship Id="rId33" Type="http://schemas.openxmlformats.org/officeDocument/2006/relationships/slide" Target="slides/slide24.xml"/><Relationship Id="rId34" Type="http://schemas.openxmlformats.org/officeDocument/2006/relationships/slide" Target="slides/slide25.xml"/><Relationship Id="rId35" Type="http://schemas.openxmlformats.org/officeDocument/2006/relationships/slide" Target="slides/slide26.xml"/><Relationship Id="rId36" Type="http://schemas.openxmlformats.org/officeDocument/2006/relationships/slide" Target="slides/slide27.xml"/><Relationship Id="rId37" Type="http://schemas.openxmlformats.org/officeDocument/2006/relationships/slide" Target="slides/slide28.xml"/><Relationship Id="rId38" Type="http://schemas.openxmlformats.org/officeDocument/2006/relationships/slide" Target="slides/slide29.xml"/><Relationship Id="rId39" Type="http://schemas.openxmlformats.org/officeDocument/2006/relationships/slide" Target="slides/slide30.xml"/><Relationship Id="rId40" Type="http://schemas.openxmlformats.org/officeDocument/2006/relationships/slide" Target="slides/slide31.xml"/><Relationship Id="rId41" Type="http://schemas.openxmlformats.org/officeDocument/2006/relationships/slide" Target="slides/slide32.xml"/><Relationship Id="rId42" Type="http://schemas.openxmlformats.org/officeDocument/2006/relationships/slide" Target="slides/slide33.xml"/><Relationship Id="rId43" Type="http://schemas.openxmlformats.org/officeDocument/2006/relationships/slide" Target="slides/slide34.xml"/><Relationship Id="rId44" Type="http://schemas.openxmlformats.org/officeDocument/2006/relationships/slide" Target="slides/slide35.xml"/><Relationship Id="rId45" Type="http://schemas.openxmlformats.org/officeDocument/2006/relationships/slide" Target="slides/slide36.xml"/><Relationship Id="rId46" Type="http://schemas.openxmlformats.org/officeDocument/2006/relationships/slide" Target="slides/slide3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78427" cy="513508"/>
          </a:xfrm>
          <a:prstGeom prst="rect">
            <a:avLst/>
          </a:prstGeom>
        </p:spPr>
        <p:txBody>
          <a:bodyPr vert="horz" lIns="99064" tIns="49532" rIns="99064" bIns="49532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993" y="1"/>
            <a:ext cx="3078427" cy="513508"/>
          </a:xfrm>
          <a:prstGeom prst="rect">
            <a:avLst/>
          </a:prstGeom>
        </p:spPr>
        <p:txBody>
          <a:bodyPr vert="horz" lIns="99064" tIns="49532" rIns="99064" bIns="49532" rtlCol="0"/>
          <a:lstStyle>
            <a:lvl1pPr algn="r">
              <a:defRPr sz="1300"/>
            </a:lvl1pPr>
          </a:lstStyle>
          <a:p>
            <a:fld id="{9917FF82-BF6E-4CF3-9BC5-B117A23C0B8B}" type="datetimeFigureOut">
              <a:rPr lang="zh-CN" altLang="en-US" smtClean="0"/>
              <a:t>2026-09-03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9064" tIns="49532" rIns="99064" bIns="49532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9064" tIns="49532" rIns="99064" bIns="49532" rtlCol="0" anchor="b"/>
          <a:lstStyle>
            <a:lvl1pPr algn="r">
              <a:defRPr sz="1300"/>
            </a:lvl1pPr>
          </a:lstStyle>
          <a:p>
            <a:fld id="{C1F7C08F-D52A-499E-A227-BAB2A2F122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139700" y="768350"/>
            <a:ext cx="6824663" cy="3838575"/>
          </a:xfrm>
          <a:prstGeom prst="rect">
            <a:avLst/>
          </a:prstGeom>
        </p:spPr>
        <p:txBody>
          <a:bodyPr lIns="99064" tIns="49532" rIns="99064" bIns="49532"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47210" y="4861442"/>
            <a:ext cx="5209646" cy="4605575"/>
          </a:xfrm>
          <a:prstGeom prst="rect">
            <a:avLst/>
          </a:prstGeom>
        </p:spPr>
        <p:txBody>
          <a:bodyPr lIns="99064" tIns="49532" rIns="99064" bIns="49532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 panose="020F0502020204030204"/>
      </a:defRPr>
    </a:lvl1pPr>
    <a:lvl2pPr indent="228600" latinLnBrk="0">
      <a:defRPr sz="1200">
        <a:latin typeface="+mj-lt"/>
        <a:ea typeface="+mj-ea"/>
        <a:cs typeface="+mj-cs"/>
        <a:sym typeface="Calibri" panose="020F0502020204030204"/>
      </a:defRPr>
    </a:lvl2pPr>
    <a:lvl3pPr indent="457200" latinLnBrk="0">
      <a:defRPr sz="1200">
        <a:latin typeface="+mj-lt"/>
        <a:ea typeface="+mj-ea"/>
        <a:cs typeface="+mj-cs"/>
        <a:sym typeface="Calibri" panose="020F0502020204030204"/>
      </a:defRPr>
    </a:lvl3pPr>
    <a:lvl4pPr indent="685800" latinLnBrk="0">
      <a:defRPr sz="1200">
        <a:latin typeface="+mj-lt"/>
        <a:ea typeface="+mj-ea"/>
        <a:cs typeface="+mj-cs"/>
        <a:sym typeface="Calibri" panose="020F0502020204030204"/>
      </a:defRPr>
    </a:lvl4pPr>
    <a:lvl5pPr indent="914400" latinLnBrk="0">
      <a:defRPr sz="1200">
        <a:latin typeface="+mj-lt"/>
        <a:ea typeface="+mj-ea"/>
        <a:cs typeface="+mj-cs"/>
        <a:sym typeface="Calibri" panose="020F0502020204030204"/>
      </a:defRPr>
    </a:lvl5pPr>
    <a:lvl6pPr indent="1143000" latinLnBrk="0">
      <a:defRPr sz="1200">
        <a:latin typeface="+mj-lt"/>
        <a:ea typeface="+mj-ea"/>
        <a:cs typeface="+mj-cs"/>
        <a:sym typeface="Calibri" panose="020F0502020204030204"/>
      </a:defRPr>
    </a:lvl6pPr>
    <a:lvl7pPr indent="1371600" latinLnBrk="0">
      <a:defRPr sz="1200">
        <a:latin typeface="+mj-lt"/>
        <a:ea typeface="+mj-ea"/>
        <a:cs typeface="+mj-cs"/>
        <a:sym typeface="Calibri" panose="020F0502020204030204"/>
      </a:defRPr>
    </a:lvl7pPr>
    <a:lvl8pPr indent="1600200" latinLnBrk="0">
      <a:defRPr sz="1200">
        <a:latin typeface="+mj-lt"/>
        <a:ea typeface="+mj-ea"/>
        <a:cs typeface="+mj-cs"/>
        <a:sym typeface="Calibri" panose="020F0502020204030204"/>
      </a:defRPr>
    </a:lvl8pPr>
    <a:lvl9pPr indent="1828800" latinLnBrk="0">
      <a:defRPr sz="1200">
        <a:latin typeface="+mj-lt"/>
        <a:ea typeface="+mj-ea"/>
        <a:cs typeface="+mj-cs"/>
        <a:sym typeface="Calibri" panose="020F0502020204030204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376102" y="1844823"/>
            <a:ext cx="9144000" cy="1548173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4548336" y="3933056"/>
            <a:ext cx="4427984" cy="576064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汇报人：</a:t>
            </a:r>
          </a:p>
        </p:txBody>
      </p:sp>
      <p:sp>
        <p:nvSpPr>
          <p:cNvPr id="23" name="直接连接符 16"/>
          <p:cNvSpPr/>
          <p:nvPr userDrawn="1"/>
        </p:nvSpPr>
        <p:spPr>
          <a:xfrm>
            <a:off x="1376102" y="3573016"/>
            <a:ext cx="9171588" cy="0"/>
          </a:xfrm>
          <a:prstGeom prst="line">
            <a:avLst/>
          </a:prstGeom>
          <a:ln w="28575">
            <a:solidFill>
              <a:srgbClr val="3B3838"/>
            </a:solidFill>
            <a:miter/>
          </a:ln>
        </p:spPr>
        <p:txBody>
          <a:bodyPr lIns="45719" rIns="45719"/>
          <a:lstStyle/>
          <a:p>
            <a:endParaRPr dirty="0">
              <a:ea typeface="楷体" panose="02010609060101010101" pitchFamily="49" charset="-122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911424" y="674380"/>
            <a:ext cx="10988093" cy="45719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1814820" y="821851"/>
            <a:ext cx="10377180" cy="45719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3499776" y="6237312"/>
            <a:ext cx="5192447" cy="400110"/>
          </a:xfrm>
          <a:prstGeom prst="rect">
            <a:avLst/>
          </a:prstGeom>
          <a:noFill/>
          <a:effectLst>
            <a:outerShdw dist="25400" dir="2700000" algn="tl" rotWithShape="0">
              <a:srgbClr val="030A8F">
                <a:alpha val="10000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F6BB00"/>
                </a:solidFill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Knowledge Science and Engineering Laboratory</a:t>
            </a:r>
          </a:p>
        </p:txBody>
      </p:sp>
      <p:pic>
        <p:nvPicPr>
          <p:cNvPr id="20" name="图片 3" descr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759"/>
          <a:stretch>
            <a:fillRect/>
          </a:stretch>
        </p:blipFill>
        <p:spPr>
          <a:xfrm>
            <a:off x="278349" y="271432"/>
            <a:ext cx="1210787" cy="121335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  <a:headEnd/>
            <a:tailEnd/>
          </a:ln>
        </p:spPr>
      </p:pic>
      <p:sp>
        <p:nvSpPr>
          <p:cNvPr id="21" name="平行四边形 20"/>
          <p:cNvSpPr/>
          <p:nvPr userDrawn="1"/>
        </p:nvSpPr>
        <p:spPr>
          <a:xfrm>
            <a:off x="9959911" y="1383388"/>
            <a:ext cx="660854" cy="57444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22" name="椭圆 21"/>
          <p:cNvSpPr/>
          <p:nvPr userDrawn="1"/>
        </p:nvSpPr>
        <p:spPr>
          <a:xfrm>
            <a:off x="9568735" y="1223108"/>
            <a:ext cx="324723" cy="95741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4" name="椭圆 23"/>
          <p:cNvSpPr/>
          <p:nvPr userDrawn="1"/>
        </p:nvSpPr>
        <p:spPr>
          <a:xfrm>
            <a:off x="9634158" y="240164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5" name="椭圆 24"/>
          <p:cNvSpPr/>
          <p:nvPr userDrawn="1"/>
        </p:nvSpPr>
        <p:spPr>
          <a:xfrm flipH="1">
            <a:off x="9926169" y="327129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6" name="矩形 25"/>
          <p:cNvSpPr/>
          <p:nvPr userDrawn="1"/>
        </p:nvSpPr>
        <p:spPr>
          <a:xfrm rot="2100000">
            <a:off x="9776972" y="649458"/>
            <a:ext cx="828960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7" name="椭圆 26"/>
          <p:cNvSpPr/>
          <p:nvPr userDrawn="1"/>
        </p:nvSpPr>
        <p:spPr>
          <a:xfrm>
            <a:off x="9408368" y="923917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8" name="椭圆 27"/>
          <p:cNvSpPr/>
          <p:nvPr userDrawn="1"/>
        </p:nvSpPr>
        <p:spPr>
          <a:xfrm flipH="1">
            <a:off x="9700379" y="1010882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9" name="矩形 28"/>
          <p:cNvSpPr/>
          <p:nvPr userDrawn="1"/>
        </p:nvSpPr>
        <p:spPr>
          <a:xfrm rot="17160000">
            <a:off x="9482134" y="729367"/>
            <a:ext cx="497553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30" name="文本框 29"/>
          <p:cNvSpPr txBox="1"/>
          <p:nvPr userDrawn="1"/>
        </p:nvSpPr>
        <p:spPr>
          <a:xfrm>
            <a:off x="9908946" y="977141"/>
            <a:ext cx="1037503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4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31" name="椭圆 30"/>
          <p:cNvSpPr/>
          <p:nvPr userDrawn="1"/>
        </p:nvSpPr>
        <p:spPr>
          <a:xfrm>
            <a:off x="10255679" y="663819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32" name="椭圆 31"/>
          <p:cNvSpPr/>
          <p:nvPr userDrawn="1"/>
        </p:nvSpPr>
        <p:spPr>
          <a:xfrm flipH="1">
            <a:off x="10547690" y="750784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33" name="矩形 32"/>
          <p:cNvSpPr/>
          <p:nvPr userDrawn="1"/>
        </p:nvSpPr>
        <p:spPr>
          <a:xfrm rot="20520000">
            <a:off x="9761327" y="949176"/>
            <a:ext cx="588018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18402" y="836712"/>
            <a:ext cx="1755195" cy="648072"/>
          </a:xfrm>
          <a:prstGeom prst="rect">
            <a:avLst/>
          </a:prstGeom>
        </p:spPr>
        <p:txBody>
          <a:bodyPr anchor="b"/>
          <a:lstStyle>
            <a:lvl1pPr algn="l">
              <a:defRPr sz="4000"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目  录</a:t>
            </a:r>
          </a:p>
        </p:txBody>
      </p:sp>
      <p:sp>
        <p:nvSpPr>
          <p:cNvPr id="50" name="矩形 49"/>
          <p:cNvSpPr/>
          <p:nvPr/>
        </p:nvSpPr>
        <p:spPr>
          <a:xfrm>
            <a:off x="1099517" y="531922"/>
            <a:ext cx="10800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1" name="平行四边形 50"/>
          <p:cNvSpPr/>
          <p:nvPr/>
        </p:nvSpPr>
        <p:spPr>
          <a:xfrm>
            <a:off x="10150783" y="1080026"/>
            <a:ext cx="525970" cy="45719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52" name="椭圆 51"/>
          <p:cNvSpPr/>
          <p:nvPr/>
        </p:nvSpPr>
        <p:spPr>
          <a:xfrm>
            <a:off x="9840927" y="898952"/>
            <a:ext cx="258445" cy="762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3" name="椭圆 52"/>
          <p:cNvSpPr/>
          <p:nvPr/>
        </p:nvSpPr>
        <p:spPr>
          <a:xfrm>
            <a:off x="9892997" y="116632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4" name="椭圆 53"/>
          <p:cNvSpPr/>
          <p:nvPr/>
        </p:nvSpPr>
        <p:spPr>
          <a:xfrm flipH="1">
            <a:off x="10125407" y="185847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5" name="矩形 54"/>
          <p:cNvSpPr/>
          <p:nvPr/>
        </p:nvSpPr>
        <p:spPr>
          <a:xfrm rot="2100000">
            <a:off x="10006662" y="442387"/>
            <a:ext cx="659765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9713292" y="660827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7" name="椭圆 56"/>
          <p:cNvSpPr/>
          <p:nvPr/>
        </p:nvSpPr>
        <p:spPr>
          <a:xfrm flipH="1">
            <a:off x="9945702" y="730042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8" name="矩形 57"/>
          <p:cNvSpPr/>
          <p:nvPr/>
        </p:nvSpPr>
        <p:spPr>
          <a:xfrm rot="17160000">
            <a:off x="9772002" y="505986"/>
            <a:ext cx="396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10076577" y="726166"/>
            <a:ext cx="825743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0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60" name="矩形 59"/>
          <p:cNvSpPr/>
          <p:nvPr/>
        </p:nvSpPr>
        <p:spPr>
          <a:xfrm>
            <a:off x="1219953" y="601648"/>
            <a:ext cx="10800000" cy="468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1" name="椭圆 60"/>
          <p:cNvSpPr/>
          <p:nvPr/>
        </p:nvSpPr>
        <p:spPr>
          <a:xfrm>
            <a:off x="10387662" y="453817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2" name="椭圆 61"/>
          <p:cNvSpPr/>
          <p:nvPr/>
        </p:nvSpPr>
        <p:spPr>
          <a:xfrm flipH="1">
            <a:off x="10620072" y="523032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3" name="矩形 62"/>
          <p:cNvSpPr/>
          <p:nvPr/>
        </p:nvSpPr>
        <p:spPr>
          <a:xfrm rot="20520000">
            <a:off x="9994210" y="680931"/>
            <a:ext cx="468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3774440" y="6298981"/>
            <a:ext cx="4689104" cy="369332"/>
          </a:xfrm>
          <a:prstGeom prst="rect">
            <a:avLst/>
          </a:prstGeom>
          <a:noFill/>
          <a:effectLst>
            <a:outerShdw dist="25400" dir="2700000" algn="tl" rotWithShape="0">
              <a:srgbClr val="030A8F">
                <a:alpha val="10000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6BB00"/>
                </a:solidFill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Knowledge Science and Engineering Laboratory</a:t>
            </a:r>
          </a:p>
        </p:txBody>
      </p:sp>
      <p:pic>
        <p:nvPicPr>
          <p:cNvPr id="65" name="图片 3" descr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759"/>
          <a:stretch>
            <a:fillRect/>
          </a:stretch>
        </p:blipFill>
        <p:spPr>
          <a:xfrm>
            <a:off x="119336" y="48853"/>
            <a:ext cx="1010797" cy="101293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子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梯形 7"/>
          <p:cNvSpPr/>
          <p:nvPr userDrawn="1"/>
        </p:nvSpPr>
        <p:spPr>
          <a:xfrm rot="16200000">
            <a:off x="7305290" y="-190466"/>
            <a:ext cx="2534492" cy="72389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4502" y="0"/>
                </a:lnTo>
                <a:lnTo>
                  <a:pt x="17098" y="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1F497D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sp>
        <p:nvSpPr>
          <p:cNvPr id="5" name="任意多边形 5"/>
          <p:cNvSpPr/>
          <p:nvPr userDrawn="1"/>
        </p:nvSpPr>
        <p:spPr>
          <a:xfrm>
            <a:off x="-101744" y="2276872"/>
            <a:ext cx="5054814" cy="22828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17897"/>
                </a:lnTo>
                <a:lnTo>
                  <a:pt x="21600" y="3879"/>
                </a:lnTo>
                <a:lnTo>
                  <a:pt x="0" y="0"/>
                </a:lnTo>
                <a:close/>
              </a:path>
            </a:pathLst>
          </a:custGeom>
          <a:solidFill>
            <a:srgbClr val="F6BB00">
              <a:alpha val="6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pic>
        <p:nvPicPr>
          <p:cNvPr id="8" name="图片 1" descr="图片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507" y="1948519"/>
            <a:ext cx="2215952" cy="2191517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" name="矩形 8"/>
          <p:cNvSpPr/>
          <p:nvPr userDrawn="1"/>
        </p:nvSpPr>
        <p:spPr>
          <a:xfrm>
            <a:off x="46800" y="618926"/>
            <a:ext cx="11852717" cy="5569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551384" y="728664"/>
            <a:ext cx="11565785" cy="45719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0" name="平行四边形 9"/>
          <p:cNvSpPr/>
          <p:nvPr userDrawn="1"/>
        </p:nvSpPr>
        <p:spPr>
          <a:xfrm>
            <a:off x="9959911" y="1283324"/>
            <a:ext cx="660854" cy="57444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9568735" y="1123044"/>
            <a:ext cx="324723" cy="95741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2" name="椭圆 11"/>
          <p:cNvSpPr/>
          <p:nvPr userDrawn="1"/>
        </p:nvSpPr>
        <p:spPr>
          <a:xfrm>
            <a:off x="9634158" y="140100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3" name="椭圆 12"/>
          <p:cNvSpPr/>
          <p:nvPr userDrawn="1"/>
        </p:nvSpPr>
        <p:spPr>
          <a:xfrm flipH="1">
            <a:off x="9926169" y="227065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 rot="2100000">
            <a:off x="9776972" y="549394"/>
            <a:ext cx="828960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5" name="椭圆 14"/>
          <p:cNvSpPr/>
          <p:nvPr userDrawn="1"/>
        </p:nvSpPr>
        <p:spPr>
          <a:xfrm>
            <a:off x="9408368" y="823853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6" name="椭圆 15"/>
          <p:cNvSpPr/>
          <p:nvPr userDrawn="1"/>
        </p:nvSpPr>
        <p:spPr>
          <a:xfrm flipH="1">
            <a:off x="9700379" y="910818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 rot="17160000">
            <a:off x="9482134" y="629303"/>
            <a:ext cx="497553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8" name="文本框 17"/>
          <p:cNvSpPr txBox="1"/>
          <p:nvPr userDrawn="1"/>
        </p:nvSpPr>
        <p:spPr>
          <a:xfrm>
            <a:off x="9908946" y="877077"/>
            <a:ext cx="1037503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4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20" name="椭圆 19"/>
          <p:cNvSpPr/>
          <p:nvPr userDrawn="1"/>
        </p:nvSpPr>
        <p:spPr>
          <a:xfrm>
            <a:off x="10255679" y="563755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1" name="椭圆 20"/>
          <p:cNvSpPr/>
          <p:nvPr userDrawn="1"/>
        </p:nvSpPr>
        <p:spPr>
          <a:xfrm flipH="1">
            <a:off x="10547690" y="650720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2" name="矩形 21"/>
          <p:cNvSpPr/>
          <p:nvPr userDrawn="1"/>
        </p:nvSpPr>
        <p:spPr>
          <a:xfrm rot="20520000">
            <a:off x="9761327" y="849112"/>
            <a:ext cx="588018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3000441" y="6198735"/>
            <a:ext cx="6191118" cy="461665"/>
          </a:xfrm>
          <a:prstGeom prst="rect">
            <a:avLst/>
          </a:prstGeom>
          <a:noFill/>
          <a:effectLst>
            <a:outerShdw dist="25400" dir="2700000" algn="tl" rotWithShape="0">
              <a:srgbClr val="030A8F">
                <a:alpha val="10000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6BB00"/>
                </a:solidFill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Knowledge Science and Engineering Laboratory</a:t>
            </a:r>
          </a:p>
        </p:txBody>
      </p:sp>
      <p:sp>
        <p:nvSpPr>
          <p:cNvPr id="29" name="文本占位符 28"/>
          <p:cNvSpPr>
            <a:spLocks noGrp="1"/>
          </p:cNvSpPr>
          <p:nvPr>
            <p:ph type="body" sz="quarter" idx="10" hasCustomPrompt="1"/>
          </p:nvPr>
        </p:nvSpPr>
        <p:spPr>
          <a:xfrm>
            <a:off x="3055062" y="3523960"/>
            <a:ext cx="1366044" cy="437851"/>
          </a:xfrm>
          <a:prstGeom prst="rect">
            <a:avLst/>
          </a:prstGeom>
        </p:spPr>
        <p:txBody>
          <a:bodyPr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 b="1">
                <a:solidFill>
                  <a:srgbClr val="FFFFFF"/>
                </a:solidFill>
                <a:latin typeface="Adobe 黑体 Std R"/>
                <a:ea typeface="Adobe 黑体 Std R"/>
                <a:cs typeface="Adobe 黑体 Std R"/>
                <a:sym typeface="Adobe 黑体 Std R"/>
              </a:defRPr>
            </a:pPr>
            <a:r>
              <a:rPr kumimoji="0" lang="en-US" altLang="zh-CN" sz="2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obe 黑体 Std R"/>
                <a:ea typeface="Adobe 黑体 Std R"/>
                <a:sym typeface="Adobe 黑体 Std R"/>
              </a:rPr>
              <a:t>Part</a:t>
            </a:r>
            <a:endParaRPr kumimoji="0" lang="en-US" altLang="zh-CN" sz="66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dobe 黑体 Std R"/>
              <a:ea typeface="Adobe 黑体 Std R"/>
              <a:sym typeface="Adobe 黑体 Std R"/>
            </a:endParaRPr>
          </a:p>
        </p:txBody>
      </p:sp>
      <p:sp>
        <p:nvSpPr>
          <p:cNvPr id="30" name="文本占位符 28"/>
          <p:cNvSpPr>
            <a:spLocks noGrp="1"/>
          </p:cNvSpPr>
          <p:nvPr>
            <p:ph type="body" sz="quarter" idx="11" hasCustomPrompt="1"/>
          </p:nvPr>
        </p:nvSpPr>
        <p:spPr>
          <a:xfrm>
            <a:off x="3689796" y="3066760"/>
            <a:ext cx="1366044" cy="914400"/>
          </a:xfrm>
          <a:prstGeom prst="rect">
            <a:avLst/>
          </a:prstGeom>
        </p:spPr>
        <p:txBody>
          <a:bodyPr/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000" b="1">
                <a:solidFill>
                  <a:srgbClr val="FFFFFF"/>
                </a:solidFill>
                <a:latin typeface="Adobe 黑体 Std R"/>
                <a:ea typeface="Adobe 黑体 Std R"/>
                <a:cs typeface="Adobe 黑体 Std R"/>
                <a:sym typeface="Adobe 黑体 Std R"/>
              </a:defRPr>
            </a:pPr>
            <a:r>
              <a:rPr kumimoji="0" lang="en-US" altLang="zh-CN" sz="66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obe 黑体 Std R"/>
                <a:ea typeface="Adobe 黑体 Std R"/>
                <a:sym typeface="Adobe 黑体 Std R"/>
              </a:rPr>
              <a:t>1</a:t>
            </a:r>
          </a:p>
        </p:txBody>
      </p:sp>
      <p:sp>
        <p:nvSpPr>
          <p:cNvPr id="33" name="文本占位符 32"/>
          <p:cNvSpPr>
            <a:spLocks noGrp="1"/>
          </p:cNvSpPr>
          <p:nvPr>
            <p:ph type="body" sz="quarter" idx="13" hasCustomPrompt="1"/>
          </p:nvPr>
        </p:nvSpPr>
        <p:spPr>
          <a:xfrm>
            <a:off x="6035338" y="3220594"/>
            <a:ext cx="1750685" cy="5222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pPr lvl="0"/>
            <a:r>
              <a:rPr lang="zh-CN" altLang="en-US" dirty="0"/>
              <a:t>标题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占位符 1"/>
          <p:cNvSpPr>
            <a:spLocks noGrp="1"/>
          </p:cNvSpPr>
          <p:nvPr>
            <p:ph type="title"/>
          </p:nvPr>
        </p:nvSpPr>
        <p:spPr>
          <a:xfrm>
            <a:off x="911424" y="9932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楷体" panose="02010609060101010101" pitchFamily="49" charset="-122"/>
                <a:ea typeface="楷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文本占位符 2"/>
          <p:cNvSpPr>
            <a:spLocks noGrp="1"/>
          </p:cNvSpPr>
          <p:nvPr>
            <p:ph idx="1"/>
          </p:nvPr>
        </p:nvSpPr>
        <p:spPr>
          <a:xfrm>
            <a:off x="911424" y="2438900"/>
            <a:ext cx="10515600" cy="38754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矩形 3"/>
          <p:cNvSpPr/>
          <p:nvPr userDrawn="1"/>
        </p:nvSpPr>
        <p:spPr>
          <a:xfrm>
            <a:off x="1099517" y="531922"/>
            <a:ext cx="10800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7" name="平行四边形 6"/>
          <p:cNvSpPr/>
          <p:nvPr userDrawn="1"/>
        </p:nvSpPr>
        <p:spPr>
          <a:xfrm>
            <a:off x="10150783" y="1080026"/>
            <a:ext cx="525970" cy="45719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8" name="椭圆 7"/>
          <p:cNvSpPr/>
          <p:nvPr userDrawn="1"/>
        </p:nvSpPr>
        <p:spPr>
          <a:xfrm>
            <a:off x="9840927" y="898952"/>
            <a:ext cx="258445" cy="762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9" name="椭圆 8"/>
          <p:cNvSpPr/>
          <p:nvPr userDrawn="1"/>
        </p:nvSpPr>
        <p:spPr>
          <a:xfrm>
            <a:off x="9892997" y="116632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0" name="椭圆 9"/>
          <p:cNvSpPr/>
          <p:nvPr userDrawn="1"/>
        </p:nvSpPr>
        <p:spPr>
          <a:xfrm flipH="1">
            <a:off x="10125407" y="185847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1" name="矩形 10"/>
          <p:cNvSpPr/>
          <p:nvPr userDrawn="1"/>
        </p:nvSpPr>
        <p:spPr>
          <a:xfrm rot="2100000">
            <a:off x="10006662" y="442387"/>
            <a:ext cx="659765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2" name="椭圆 11"/>
          <p:cNvSpPr/>
          <p:nvPr userDrawn="1"/>
        </p:nvSpPr>
        <p:spPr>
          <a:xfrm>
            <a:off x="9713292" y="660827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3" name="椭圆 12"/>
          <p:cNvSpPr/>
          <p:nvPr userDrawn="1"/>
        </p:nvSpPr>
        <p:spPr>
          <a:xfrm flipH="1">
            <a:off x="9945702" y="730042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4" name="矩形 13"/>
          <p:cNvSpPr/>
          <p:nvPr userDrawn="1"/>
        </p:nvSpPr>
        <p:spPr>
          <a:xfrm rot="17160000">
            <a:off x="9772002" y="505986"/>
            <a:ext cx="396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5" name="文本框 14"/>
          <p:cNvSpPr txBox="1"/>
          <p:nvPr userDrawn="1"/>
        </p:nvSpPr>
        <p:spPr>
          <a:xfrm>
            <a:off x="10076577" y="726166"/>
            <a:ext cx="825743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0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16" name="矩形 15"/>
          <p:cNvSpPr/>
          <p:nvPr userDrawn="1"/>
        </p:nvSpPr>
        <p:spPr>
          <a:xfrm>
            <a:off x="1219953" y="601648"/>
            <a:ext cx="10800000" cy="468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7" name="椭圆 16"/>
          <p:cNvSpPr/>
          <p:nvPr userDrawn="1"/>
        </p:nvSpPr>
        <p:spPr>
          <a:xfrm>
            <a:off x="10387662" y="453817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8" name="椭圆 17"/>
          <p:cNvSpPr/>
          <p:nvPr userDrawn="1"/>
        </p:nvSpPr>
        <p:spPr>
          <a:xfrm flipH="1">
            <a:off x="10620072" y="523032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9" name="矩形 18"/>
          <p:cNvSpPr/>
          <p:nvPr userDrawn="1"/>
        </p:nvSpPr>
        <p:spPr>
          <a:xfrm rot="20520000">
            <a:off x="9994210" y="680931"/>
            <a:ext cx="468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3774440" y="6445076"/>
            <a:ext cx="4689104" cy="369332"/>
          </a:xfrm>
          <a:prstGeom prst="rect">
            <a:avLst/>
          </a:prstGeom>
          <a:noFill/>
          <a:effectLst>
            <a:outerShdw dist="25400" dir="2700000" algn="tl" rotWithShape="0">
              <a:srgbClr val="030A8F">
                <a:alpha val="10000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6BB00"/>
                </a:solidFill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Knowledge Science and Engineering Laboratory</a:t>
            </a:r>
          </a:p>
        </p:txBody>
      </p:sp>
      <p:pic>
        <p:nvPicPr>
          <p:cNvPr id="21" name="图片 3" descr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759"/>
          <a:stretch>
            <a:fillRect/>
          </a:stretch>
        </p:blipFill>
        <p:spPr>
          <a:xfrm>
            <a:off x="119336" y="48853"/>
            <a:ext cx="1010797" cy="101293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无标题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099517" y="458382"/>
            <a:ext cx="10800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8" name="平行四边形 7"/>
          <p:cNvSpPr/>
          <p:nvPr userDrawn="1"/>
        </p:nvSpPr>
        <p:spPr>
          <a:xfrm>
            <a:off x="11105103" y="1008018"/>
            <a:ext cx="525970" cy="45719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9" name="椭圆 8"/>
          <p:cNvSpPr/>
          <p:nvPr userDrawn="1"/>
        </p:nvSpPr>
        <p:spPr>
          <a:xfrm>
            <a:off x="10795247" y="826944"/>
            <a:ext cx="258445" cy="762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0" name="椭圆 9"/>
          <p:cNvSpPr/>
          <p:nvPr userDrawn="1"/>
        </p:nvSpPr>
        <p:spPr>
          <a:xfrm>
            <a:off x="10847317" y="44624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 flipH="1">
            <a:off x="11079727" y="113839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 rot="2100000">
            <a:off x="10960982" y="370379"/>
            <a:ext cx="659765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3" name="椭圆 12"/>
          <p:cNvSpPr/>
          <p:nvPr userDrawn="1"/>
        </p:nvSpPr>
        <p:spPr>
          <a:xfrm>
            <a:off x="10667612" y="588819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4" name="椭圆 13"/>
          <p:cNvSpPr/>
          <p:nvPr userDrawn="1"/>
        </p:nvSpPr>
        <p:spPr>
          <a:xfrm flipH="1">
            <a:off x="10900022" y="658034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 rot="17160000">
            <a:off x="10726322" y="433978"/>
            <a:ext cx="396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1030897" y="654158"/>
            <a:ext cx="825743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0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20" name="矩形 19"/>
          <p:cNvSpPr/>
          <p:nvPr userDrawn="1"/>
        </p:nvSpPr>
        <p:spPr>
          <a:xfrm rot="20520000">
            <a:off x="10948530" y="608923"/>
            <a:ext cx="468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pic>
        <p:nvPicPr>
          <p:cNvPr id="22" name="图片 3" descr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759"/>
          <a:stretch>
            <a:fillRect/>
          </a:stretch>
        </p:blipFill>
        <p:spPr>
          <a:xfrm>
            <a:off x="119336" y="116632"/>
            <a:ext cx="1010797" cy="101293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7" name="矩形 16"/>
          <p:cNvSpPr/>
          <p:nvPr userDrawn="1"/>
        </p:nvSpPr>
        <p:spPr>
          <a:xfrm>
            <a:off x="1219953" y="528108"/>
            <a:ext cx="10800000" cy="468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8" name="椭圆 17"/>
          <p:cNvSpPr/>
          <p:nvPr userDrawn="1"/>
        </p:nvSpPr>
        <p:spPr>
          <a:xfrm>
            <a:off x="11341982" y="381809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 flipH="1">
            <a:off x="11574392" y="451024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099517" y="746414"/>
            <a:ext cx="10800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8" name="平行四边形 7"/>
          <p:cNvSpPr/>
          <p:nvPr userDrawn="1"/>
        </p:nvSpPr>
        <p:spPr>
          <a:xfrm>
            <a:off x="10150783" y="1294518"/>
            <a:ext cx="525970" cy="45719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9" name="椭圆 8"/>
          <p:cNvSpPr/>
          <p:nvPr userDrawn="1"/>
        </p:nvSpPr>
        <p:spPr>
          <a:xfrm>
            <a:off x="9840927" y="1113444"/>
            <a:ext cx="258445" cy="762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0" name="椭圆 9"/>
          <p:cNvSpPr/>
          <p:nvPr userDrawn="1"/>
        </p:nvSpPr>
        <p:spPr>
          <a:xfrm>
            <a:off x="9892997" y="331124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 flipH="1">
            <a:off x="10125407" y="400339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 rot="2100000">
            <a:off x="10006662" y="656879"/>
            <a:ext cx="659765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3" name="椭圆 12"/>
          <p:cNvSpPr/>
          <p:nvPr userDrawn="1"/>
        </p:nvSpPr>
        <p:spPr>
          <a:xfrm>
            <a:off x="9713292" y="875319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4" name="椭圆 13"/>
          <p:cNvSpPr/>
          <p:nvPr userDrawn="1"/>
        </p:nvSpPr>
        <p:spPr>
          <a:xfrm flipH="1">
            <a:off x="9945702" y="944534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 rot="17160000">
            <a:off x="9772002" y="720478"/>
            <a:ext cx="396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0076577" y="940658"/>
            <a:ext cx="825743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0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17" name="矩形 16"/>
          <p:cNvSpPr/>
          <p:nvPr userDrawn="1"/>
        </p:nvSpPr>
        <p:spPr>
          <a:xfrm>
            <a:off x="1219953" y="816140"/>
            <a:ext cx="10800000" cy="468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8" name="椭圆 17"/>
          <p:cNvSpPr/>
          <p:nvPr userDrawn="1"/>
        </p:nvSpPr>
        <p:spPr>
          <a:xfrm>
            <a:off x="10387662" y="668309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 flipH="1">
            <a:off x="10620072" y="737524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0" name="矩形 19"/>
          <p:cNvSpPr/>
          <p:nvPr userDrawn="1"/>
        </p:nvSpPr>
        <p:spPr>
          <a:xfrm rot="20520000">
            <a:off x="9994210" y="895423"/>
            <a:ext cx="468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pic>
        <p:nvPicPr>
          <p:cNvPr id="22" name="图片 3" descr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759"/>
          <a:stretch>
            <a:fillRect/>
          </a:stretch>
        </p:blipFill>
        <p:spPr>
          <a:xfrm>
            <a:off x="119336" y="116632"/>
            <a:ext cx="1010797" cy="101293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有标题栏-大面积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099517" y="746414"/>
            <a:ext cx="10800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8" name="平行四边形 7"/>
          <p:cNvSpPr/>
          <p:nvPr userDrawn="1"/>
        </p:nvSpPr>
        <p:spPr>
          <a:xfrm>
            <a:off x="11069995" y="1294518"/>
            <a:ext cx="525970" cy="45719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9" name="椭圆 8"/>
          <p:cNvSpPr/>
          <p:nvPr userDrawn="1"/>
        </p:nvSpPr>
        <p:spPr>
          <a:xfrm>
            <a:off x="10760139" y="1113444"/>
            <a:ext cx="258445" cy="76200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0" name="椭圆 9"/>
          <p:cNvSpPr/>
          <p:nvPr userDrawn="1"/>
        </p:nvSpPr>
        <p:spPr>
          <a:xfrm>
            <a:off x="10812209" y="331124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1" name="椭圆 10"/>
          <p:cNvSpPr/>
          <p:nvPr userDrawn="1"/>
        </p:nvSpPr>
        <p:spPr>
          <a:xfrm flipH="1">
            <a:off x="11044619" y="400339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 rot="2100000">
            <a:off x="10925874" y="656879"/>
            <a:ext cx="659765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3" name="椭圆 12"/>
          <p:cNvSpPr/>
          <p:nvPr userDrawn="1"/>
        </p:nvSpPr>
        <p:spPr>
          <a:xfrm>
            <a:off x="10632504" y="875319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4" name="椭圆 13"/>
          <p:cNvSpPr/>
          <p:nvPr userDrawn="1"/>
        </p:nvSpPr>
        <p:spPr>
          <a:xfrm flipH="1">
            <a:off x="10864914" y="944534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5" name="矩形 14"/>
          <p:cNvSpPr/>
          <p:nvPr userDrawn="1"/>
        </p:nvSpPr>
        <p:spPr>
          <a:xfrm rot="17160000">
            <a:off x="10691214" y="720478"/>
            <a:ext cx="396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10995789" y="940658"/>
            <a:ext cx="825743" cy="40011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0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17" name="矩形 16"/>
          <p:cNvSpPr/>
          <p:nvPr userDrawn="1"/>
        </p:nvSpPr>
        <p:spPr>
          <a:xfrm>
            <a:off x="1219953" y="816140"/>
            <a:ext cx="10800000" cy="46800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8" name="椭圆 17"/>
          <p:cNvSpPr/>
          <p:nvPr userDrawn="1"/>
        </p:nvSpPr>
        <p:spPr>
          <a:xfrm>
            <a:off x="11306874" y="668309"/>
            <a:ext cx="310515" cy="310515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19" name="椭圆 18"/>
          <p:cNvSpPr/>
          <p:nvPr userDrawn="1"/>
        </p:nvSpPr>
        <p:spPr>
          <a:xfrm flipH="1">
            <a:off x="11539284" y="737524"/>
            <a:ext cx="46800" cy="72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20" name="矩形 19"/>
          <p:cNvSpPr/>
          <p:nvPr userDrawn="1"/>
        </p:nvSpPr>
        <p:spPr>
          <a:xfrm rot="20520000">
            <a:off x="10913422" y="895423"/>
            <a:ext cx="468000" cy="46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pic>
        <p:nvPicPr>
          <p:cNvPr id="22" name="图片 3" descr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759"/>
          <a:stretch>
            <a:fillRect/>
          </a:stretch>
        </p:blipFill>
        <p:spPr>
          <a:xfrm>
            <a:off x="119336" y="116632"/>
            <a:ext cx="1010797" cy="101293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 userDrawn="1"/>
        </p:nvSpPr>
        <p:spPr>
          <a:xfrm>
            <a:off x="3651598" y="6289238"/>
            <a:ext cx="4689104" cy="369332"/>
          </a:xfrm>
          <a:prstGeom prst="rect">
            <a:avLst/>
          </a:prstGeom>
          <a:noFill/>
          <a:effectLst>
            <a:outerShdw dist="25400" dir="2700000" algn="tl" rotWithShape="0">
              <a:srgbClr val="030A8F">
                <a:alpha val="10000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6BB00"/>
                </a:solidFill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Knowledge Science and Engineering Laboratory</a:t>
            </a:r>
          </a:p>
        </p:txBody>
      </p:sp>
      <p:sp>
        <p:nvSpPr>
          <p:cNvPr id="40" name="任意多边形 6"/>
          <p:cNvSpPr/>
          <p:nvPr/>
        </p:nvSpPr>
        <p:spPr>
          <a:xfrm>
            <a:off x="8147909" y="1716433"/>
            <a:ext cx="4122553" cy="41845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257" y="11120"/>
                </a:moveTo>
                <a:lnTo>
                  <a:pt x="9095" y="11200"/>
                </a:lnTo>
                <a:lnTo>
                  <a:pt x="21600" y="0"/>
                </a:lnTo>
                <a:lnTo>
                  <a:pt x="21356" y="18080"/>
                </a:lnTo>
                <a:lnTo>
                  <a:pt x="0" y="21600"/>
                </a:lnTo>
                <a:lnTo>
                  <a:pt x="1056" y="17200"/>
                </a:lnTo>
                <a:lnTo>
                  <a:pt x="9338" y="10880"/>
                </a:lnTo>
                <a:lnTo>
                  <a:pt x="9257" y="11120"/>
                </a:lnTo>
                <a:close/>
              </a:path>
            </a:pathLst>
          </a:custGeom>
          <a:solidFill>
            <a:srgbClr val="1F497D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sp>
        <p:nvSpPr>
          <p:cNvPr id="41" name="矩形 13"/>
          <p:cNvSpPr/>
          <p:nvPr/>
        </p:nvSpPr>
        <p:spPr>
          <a:xfrm rot="15778716">
            <a:off x="9553773" y="4299863"/>
            <a:ext cx="1405177" cy="174441"/>
          </a:xfrm>
          <a:prstGeom prst="rect">
            <a:avLst/>
          </a:prstGeom>
          <a:gradFill flip="none" rotWithShape="1">
            <a:gsLst>
              <a:gs pos="0">
                <a:srgbClr val="04133E">
                  <a:alpha val="71000"/>
                </a:srgbClr>
              </a:gs>
              <a:gs pos="98000">
                <a:srgbClr val="04133E">
                  <a:alpha val="0"/>
                </a:srgbClr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sp>
        <p:nvSpPr>
          <p:cNvPr id="42" name="矩形 14"/>
          <p:cNvSpPr/>
          <p:nvPr/>
        </p:nvSpPr>
        <p:spPr>
          <a:xfrm rot="20391046">
            <a:off x="8563822" y="5408665"/>
            <a:ext cx="1807308" cy="104850"/>
          </a:xfrm>
          <a:prstGeom prst="rect">
            <a:avLst/>
          </a:prstGeom>
          <a:gradFill flip="none" rotWithShape="1">
            <a:gsLst>
              <a:gs pos="0">
                <a:srgbClr val="04133E">
                  <a:alpha val="71000"/>
                </a:srgbClr>
              </a:gs>
              <a:gs pos="98000">
                <a:srgbClr val="04133E">
                  <a:alpha val="0"/>
                </a:srgbClr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sp>
        <p:nvSpPr>
          <p:cNvPr id="43" name="任意多边形 8"/>
          <p:cNvSpPr/>
          <p:nvPr userDrawn="1"/>
        </p:nvSpPr>
        <p:spPr>
          <a:xfrm>
            <a:off x="8147909" y="5095065"/>
            <a:ext cx="2107770" cy="8059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88" y="0"/>
                </a:moveTo>
                <a:lnTo>
                  <a:pt x="0" y="21600"/>
                </a:lnTo>
                <a:lnTo>
                  <a:pt x="21600" y="0"/>
                </a:lnTo>
                <a:lnTo>
                  <a:pt x="1588" y="0"/>
                </a:lnTo>
                <a:close/>
              </a:path>
            </a:pathLst>
          </a:custGeom>
          <a:solidFill>
            <a:srgbClr val="F6BB00">
              <a:alpha val="90000"/>
            </a:srgbClr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sp>
        <p:nvSpPr>
          <p:cNvPr id="50" name="Line"/>
          <p:cNvSpPr/>
          <p:nvPr/>
        </p:nvSpPr>
        <p:spPr>
          <a:xfrm>
            <a:off x="-298672" y="1762930"/>
            <a:ext cx="10554351" cy="3332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6978" y="1005"/>
                </a:lnTo>
                <a:lnTo>
                  <a:pt x="6978" y="3215"/>
                </a:lnTo>
                <a:lnTo>
                  <a:pt x="21093" y="3215"/>
                </a:lnTo>
                <a:lnTo>
                  <a:pt x="21600" y="21600"/>
                </a:lnTo>
                <a:lnTo>
                  <a:pt x="4314" y="21299"/>
                </a:lnTo>
                <a:lnTo>
                  <a:pt x="4314" y="19792"/>
                </a:lnTo>
                <a:lnTo>
                  <a:pt x="127" y="18988"/>
                </a:lnTo>
              </a:path>
            </a:pathLst>
          </a:custGeom>
          <a:solidFill>
            <a:srgbClr val="1F497D"/>
          </a:solidFill>
          <a:ln w="12700" cap="flat">
            <a:solidFill>
              <a:srgbClr val="42719B"/>
            </a:solidFill>
            <a:prstDash val="solid"/>
            <a:miter lim="8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sp>
        <p:nvSpPr>
          <p:cNvPr id="51" name="Text"/>
          <p:cNvSpPr txBox="1"/>
          <p:nvPr/>
        </p:nvSpPr>
        <p:spPr>
          <a:xfrm>
            <a:off x="-298672" y="3244333"/>
            <a:ext cx="1055435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spAutoFit/>
          </a:bodyPr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r>
              <a:rPr dirty="0">
                <a:ea typeface="楷体" panose="02010609060101010101" pitchFamily="49" charset="-122"/>
              </a:rPr>
              <a:t>   </a:t>
            </a:r>
          </a:p>
        </p:txBody>
      </p:sp>
      <p:sp>
        <p:nvSpPr>
          <p:cNvPr id="48" name="矩形 12"/>
          <p:cNvSpPr/>
          <p:nvPr/>
        </p:nvSpPr>
        <p:spPr>
          <a:xfrm rot="16200000">
            <a:off x="1950003" y="3453336"/>
            <a:ext cx="2573116" cy="266703"/>
          </a:xfrm>
          <a:prstGeom prst="rect">
            <a:avLst/>
          </a:prstGeom>
          <a:gradFill flip="none" rotWithShape="1">
            <a:gsLst>
              <a:gs pos="0">
                <a:srgbClr val="04133E">
                  <a:alpha val="71000"/>
                </a:srgbClr>
              </a:gs>
              <a:gs pos="98000">
                <a:srgbClr val="04133E">
                  <a:alpha val="0"/>
                </a:srgbClr>
              </a:gs>
            </a:gsLst>
            <a:lin ang="5400000" scaled="0"/>
          </a:gra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pic>
        <p:nvPicPr>
          <p:cNvPr id="49" name="图片 1" descr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04" y="2350228"/>
            <a:ext cx="1867031" cy="1861853"/>
          </a:xfrm>
          <a:prstGeom prst="rect">
            <a:avLst/>
          </a:prstGeom>
          <a:ln w="12700" cap="flat">
            <a:noFill/>
            <a:miter lim="400000"/>
            <a:headEnd/>
            <a:tailEnd/>
          </a:ln>
          <a:effectLst/>
        </p:spPr>
      </p:pic>
      <p:sp>
        <p:nvSpPr>
          <p:cNvPr id="46" name="任意多边形 9"/>
          <p:cNvSpPr/>
          <p:nvPr/>
        </p:nvSpPr>
        <p:spPr>
          <a:xfrm>
            <a:off x="1794391" y="4816095"/>
            <a:ext cx="1308818" cy="2503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4387"/>
                </a:lnTo>
                <a:lnTo>
                  <a:pt x="341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6BB00"/>
          </a:solidFill>
          <a:ln w="12700" cap="flat">
            <a:noFill/>
            <a:miter lim="400000"/>
          </a:ln>
          <a:effectLst/>
        </p:spPr>
        <p:txBody>
          <a:bodyPr wrap="square" lIns="45719" tIns="45719" rIns="45719" bIns="45719" numCol="1" anchor="ctr">
            <a:noAutofit/>
          </a:bodyPr>
          <a:lstStyle/>
          <a:p>
            <a:pPr algn="ctr">
              <a:defRPr>
                <a:solidFill>
                  <a:srgbClr val="FFFFFF"/>
                </a:solidFill>
              </a:defRPr>
            </a:pPr>
            <a:endParaRPr dirty="0">
              <a:ea typeface="楷体" panose="02010609060101010101" pitchFamily="49" charset="-122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46800" y="667466"/>
            <a:ext cx="11852717" cy="5569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551384" y="777204"/>
            <a:ext cx="11565785" cy="45719"/>
          </a:xfrm>
          <a:prstGeom prst="rect">
            <a:avLst/>
          </a:prstGeom>
          <a:solidFill>
            <a:srgbClr val="F6BB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5" name="平行四边形 54"/>
          <p:cNvSpPr/>
          <p:nvPr/>
        </p:nvSpPr>
        <p:spPr>
          <a:xfrm>
            <a:off x="9959911" y="1331864"/>
            <a:ext cx="660854" cy="57444"/>
          </a:xfrm>
          <a:prstGeom prst="parallelogram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BFBFBF"/>
              </a:solidFill>
              <a:ea typeface="楷体" panose="02010609060101010101" pitchFamily="49" charset="-122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9568735" y="1171584"/>
            <a:ext cx="324723" cy="95741"/>
          </a:xfrm>
          <a:prstGeom prst="ellipse">
            <a:avLst/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7" name="椭圆 56"/>
          <p:cNvSpPr/>
          <p:nvPr/>
        </p:nvSpPr>
        <p:spPr>
          <a:xfrm>
            <a:off x="9634158" y="188640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8" name="椭圆 57"/>
          <p:cNvSpPr/>
          <p:nvPr/>
        </p:nvSpPr>
        <p:spPr>
          <a:xfrm flipH="1">
            <a:off x="9926169" y="275605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59" name="矩形 58"/>
          <p:cNvSpPr/>
          <p:nvPr/>
        </p:nvSpPr>
        <p:spPr>
          <a:xfrm rot="2100000">
            <a:off x="9776972" y="597934"/>
            <a:ext cx="828960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0" name="椭圆 59"/>
          <p:cNvSpPr/>
          <p:nvPr/>
        </p:nvSpPr>
        <p:spPr>
          <a:xfrm>
            <a:off x="9408368" y="872393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1" name="椭圆 60"/>
          <p:cNvSpPr/>
          <p:nvPr/>
        </p:nvSpPr>
        <p:spPr>
          <a:xfrm flipH="1">
            <a:off x="9700379" y="959358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2" name="矩形 61"/>
          <p:cNvSpPr/>
          <p:nvPr/>
        </p:nvSpPr>
        <p:spPr>
          <a:xfrm rot="17160000">
            <a:off x="9482134" y="677843"/>
            <a:ext cx="497553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9908946" y="925617"/>
            <a:ext cx="1037503" cy="46166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2400" b="1" kern="1200" spc="0" baseline="0" dirty="0">
                <a:solidFill>
                  <a:srgbClr val="1F497D"/>
                </a:solidFill>
                <a:effectLst/>
                <a:latin typeface="Impact" panose="020B0806030902050204" pitchFamily="34" charset="0"/>
                <a:ea typeface="楷体" panose="02010609060101010101" pitchFamily="49" charset="-122"/>
                <a:cs typeface="Impact" panose="020B0806030902050204" pitchFamily="34" charset="0"/>
              </a:rPr>
              <a:t>KSE</a:t>
            </a:r>
          </a:p>
        </p:txBody>
      </p:sp>
      <p:sp>
        <p:nvSpPr>
          <p:cNvPr id="64" name="椭圆 63"/>
          <p:cNvSpPr/>
          <p:nvPr/>
        </p:nvSpPr>
        <p:spPr>
          <a:xfrm>
            <a:off x="10255679" y="612295"/>
            <a:ext cx="390146" cy="390146"/>
          </a:xfrm>
          <a:prstGeom prst="ellipse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5" name="椭圆 64"/>
          <p:cNvSpPr/>
          <p:nvPr/>
        </p:nvSpPr>
        <p:spPr>
          <a:xfrm flipH="1">
            <a:off x="10547690" y="699260"/>
            <a:ext cx="58802" cy="90464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6" name="矩形 65"/>
          <p:cNvSpPr/>
          <p:nvPr/>
        </p:nvSpPr>
        <p:spPr>
          <a:xfrm rot="20520000">
            <a:off x="9761327" y="897652"/>
            <a:ext cx="588018" cy="58802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楷体" panose="02010609060101010101" pitchFamily="49" charset="-122"/>
            </a:endParaRPr>
          </a:p>
        </p:txBody>
      </p:sp>
      <p:sp>
        <p:nvSpPr>
          <p:cNvPr id="67" name="文本框 10"/>
          <p:cNvSpPr txBox="1"/>
          <p:nvPr userDrawn="1"/>
        </p:nvSpPr>
        <p:spPr>
          <a:xfrm>
            <a:off x="3752206" y="3248797"/>
            <a:ext cx="5881870" cy="810478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indent="71755">
              <a:defRPr sz="5400" b="1" spc="75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pPr algn="ctr">
              <a:lnSpc>
                <a:spcPts val="5600"/>
              </a:lnSpc>
              <a:spcAft>
                <a:spcPts val="600"/>
              </a:spcAft>
            </a:pPr>
            <a:r>
              <a:rPr lang="zh-CN" altLang="en-US" sz="4800" b="1" dirty="0">
                <a:latin typeface="楷体" panose="02010609060101010101" pitchFamily="49" charset="-122"/>
                <a:ea typeface="楷体" panose="02010609060101010101" pitchFamily="49" charset="-122"/>
              </a:rPr>
              <a:t>请各位批评指正！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2026-09-03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3EB0-0993-4C23-A09B-08DFC7C375F0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fld id="{B9123EB0-0993-4C23-A09B-08DFC7C375F0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黑体" panose="02010609060101010101" charset="-122"/>
          <a:ea typeface="黑体" panose="02010609060101010101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23560" y="2578608"/>
            <a:ext cx="598932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Agent Memory 文献综述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3401568"/>
            <a:ext cx="566928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</a:rPr>
              <a:t>2025-2026 顶会方法、评测与未来趋势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3931920"/>
            <a:ext cx="562356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从长期召回到可学习、可验证的记忆生命周期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4599432"/>
            <a:ext cx="5623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Microsoft YaHei"/>
              </a:rPr>
              <a:t>文献状态核验截止：2026-09-07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综述范围与检索口径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官方会议论文页、ACL Anthology、ICLR/ICML/NeurIPS Proceedings；核验截止 2026-09-07。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078992"/>
            <a:ext cx="3429000" cy="1874519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078992"/>
            <a:ext cx="3429000" cy="38404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143000"/>
            <a:ext cx="320954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时间与会议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1609343"/>
            <a:ext cx="3099816" cy="121615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2025-01 至 2026-09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ACL / EMNLP / NAACL / COLM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NeurIPS / ICLR / ICML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078992"/>
            <a:ext cx="3429000" cy="1874519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078992"/>
            <a:ext cx="3429000" cy="38404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143000"/>
            <a:ext cx="320954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纳入标准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1609343"/>
            <a:ext cx="3099816" cy="121615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Memory 是主要研究对象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覆盖形成、组织、使用或演化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影响 Agent 后续回答或行动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3" y="1078992"/>
            <a:ext cx="3429000" cy="1874519"/>
          </a:xfrm>
          <a:prstGeom prst="rect">
            <a:avLst/>
          </a:prstGeom>
          <a:solidFill>
            <a:srgbClr val="F1ECF9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01583" y="1078992"/>
            <a:ext cx="3429000" cy="384048"/>
          </a:xfrm>
          <a:prstGeom prst="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1" y="1143000"/>
            <a:ext cx="320954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状态分层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1609343"/>
            <a:ext cx="3099816" cy="1216151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主会论文单独标注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Findings / Industry 不混称主会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arXiv 只用于前沿撞题审计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355848"/>
            <a:ext cx="297180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4F7E"/>
                </a:solidFill>
                <a:latin typeface="Microsoft YaHei"/>
              </a:rPr>
              <a:t>人工编码的正式会议核心地图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9808" y="3730752"/>
            <a:ext cx="2148840" cy="1481328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840480"/>
            <a:ext cx="18745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234F7E"/>
                </a:solidFill>
                <a:latin typeface="Arial"/>
              </a:rPr>
              <a:t>68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4425696"/>
            <a:ext cx="1874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核心正式论文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4718304"/>
            <a:ext cx="1856232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570"/>
                </a:solidFill>
                <a:latin typeface="Microsoft YaHei"/>
              </a:rPr>
              <a:t>19 篇（2025）+ 49 篇（2026）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36392" y="3730752"/>
            <a:ext cx="2148840" cy="1481328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73552" y="3840480"/>
            <a:ext cx="18745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F7E80"/>
                </a:solidFill>
                <a:latin typeface="Arial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4425696"/>
            <a:ext cx="1874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会议系列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82696" y="4718304"/>
            <a:ext cx="1856232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570"/>
                </a:solidFill>
                <a:latin typeface="Microsoft YaHei"/>
              </a:rPr>
              <a:t>NLP + ML 核心会议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522976" y="3730752"/>
            <a:ext cx="2148840" cy="1481328"/>
          </a:xfrm>
          <a:prstGeom prst="rect">
            <a:avLst/>
          </a:prstGeom>
          <a:solidFill>
            <a:srgbClr val="F1ECF9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0136" y="3840480"/>
            <a:ext cx="18745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684B96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0136" y="4425696"/>
            <a:ext cx="1874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生命周期阶段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4718304"/>
            <a:ext cx="1856232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570"/>
                </a:solidFill>
                <a:latin typeface="Microsoft YaHei"/>
              </a:rPr>
              <a:t>Form 到 Re-evaluate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09560" y="3730752"/>
            <a:ext cx="2148840" cy="1481328"/>
          </a:xfrm>
          <a:prstGeom prst="rect">
            <a:avLst/>
          </a:prstGeom>
          <a:solidFill>
            <a:srgbClr val="F7F8FA"/>
          </a:solidFill>
          <a:ln w="1524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0" y="3840480"/>
            <a:ext cx="187452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F4A000"/>
                </a:solidFill>
                <a:latin typeface="Arial"/>
              </a:rPr>
              <a:t>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4425696"/>
            <a:ext cx="18745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B1F24"/>
                </a:solidFill>
                <a:latin typeface="Microsoft YaHei"/>
              </a:rPr>
              <a:t>前沿预印本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55864" y="4718304"/>
            <a:ext cx="1856232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C6570"/>
                </a:solidFill>
                <a:latin typeface="Microsoft YaHei"/>
              </a:rPr>
              <a:t>只作趋势与撞题审计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5413248"/>
            <a:ext cx="1033272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C6570"/>
                </a:solidFill>
                <a:latin typeface="Microsoft YaHei"/>
              </a:rPr>
              <a:t>“所有”指上述可复核口径内的语料集，不包含 KV cache、GPU memory、参数记忆和仅附带 memory 模块的应用论文。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审稿式总判断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78992"/>
            <a:ext cx="3493008" cy="1901952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078992"/>
            <a:ext cx="3493008" cy="38404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32735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研究对象变了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609343"/>
            <a:ext cx="3163824" cy="12435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从“长历史中找事实”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到“形成、选择、使用、修复状态”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Memory 成为 Agent 的一等状态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1078992"/>
            <a:ext cx="3493008" cy="1901952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61688" y="1078992"/>
            <a:ext cx="3493008" cy="38404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71416" y="1143000"/>
            <a:ext cx="32735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方法范式变了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1609343"/>
            <a:ext cx="3163824" cy="12435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平坦检索 → 分层/图/事件/latent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启发式 → 主动操作与 learned policy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结果优化 → 成本、风险、长期效用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1583" y="1078992"/>
            <a:ext cx="3493008" cy="1901952"/>
          </a:xfrm>
          <a:prstGeom prst="rect">
            <a:avLst/>
          </a:prstGeom>
          <a:solidFill>
            <a:srgbClr val="F1ECF9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01583" y="1078992"/>
            <a:ext cx="3493008" cy="384048"/>
          </a:xfrm>
          <a:prstGeom prst="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1" y="1143000"/>
            <a:ext cx="32735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评测问题变了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66175" y="1609343"/>
            <a:ext cx="3163824" cy="12435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Recall → update / forgetting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Response → action / on-policy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Accuracy → 诊断、修复、未来副作用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3374136"/>
            <a:ext cx="10844784" cy="475488"/>
          </a:xfrm>
          <a:prstGeom prst="rect">
            <a:avLst/>
          </a:prstGeom>
          <a:solidFill>
            <a:srgbClr val="FCEBEB"/>
          </a:solidFill>
          <a:ln w="1270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56432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B73838"/>
                </a:solidFill>
                <a:latin typeface="Microsoft YaHei"/>
              </a:rPr>
              <a:t>核心共识：Retrieved ≠ Admissible to Use ≠ Sufficient to 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187952"/>
            <a:ext cx="214884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4F7E"/>
                </a:solidFill>
                <a:latin typeface="Microsoft YaHei"/>
              </a:rPr>
              <a:t>最明显的未决问题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90288"/>
            <a:ext cx="10561320" cy="7589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1F24"/>
                </a:solidFill>
                <a:latin typeface="Microsoft YaHei"/>
              </a:rPr>
              <a:t>在同一任务中只改变持久记忆的完整、过期、冲突、压缩或授权状态时，Agent 是否会调整行动；获得新证据后，能否修复记忆并改善未来任务？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Agent Memory：工作定义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Hu et al., Memory in the Age of AI Agents, arXiv:2512.13564；Luo et al., ACL Findings 2026。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" y="1024128"/>
            <a:ext cx="10844784" cy="1005840"/>
          </a:xfrm>
          <a:prstGeom prst="rect">
            <a:avLst/>
          </a:prstGeom>
          <a:solidFill>
            <a:srgbClr val="E7F1FB"/>
          </a:solidFill>
          <a:ln w="1651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243584"/>
            <a:ext cx="10332720" cy="5760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34F7E"/>
                </a:solidFill>
                <a:latin typeface="Microsoft YaHei"/>
              </a:rPr>
              <a:t>由 Agent 与用户、工具或环境的历史交互形成，能够跨当前上下文、时间或会话持续存在，并在后续感知、推理、规划、行动或自我改进中被选择性读写和更新的状态。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523744"/>
            <a:ext cx="3246120" cy="1956816"/>
          </a:xfrm>
          <a:prstGeom prst="rect">
            <a:avLst/>
          </a:prstGeom>
          <a:solidFill>
            <a:srgbClr val="FFFFFF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2523744"/>
            <a:ext cx="3246120" cy="38404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587751"/>
            <a:ext cx="3026663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持久性 Persistence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054096"/>
            <a:ext cx="2916936" cy="1298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跨 turn / episode / session 保留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不只存在于当前 prompt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形成可持续的 M_t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60" y="2523744"/>
            <a:ext cx="3246120" cy="1956816"/>
          </a:xfrm>
          <a:prstGeom prst="rect">
            <a:avLst/>
          </a:prstGeom>
          <a:solidFill>
            <a:srgbClr val="FFFFFF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0" y="2523744"/>
            <a:ext cx="3246120" cy="38404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2587751"/>
            <a:ext cx="3026663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能动性 Agency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3054096"/>
            <a:ext cx="2916936" cy="1298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决定写、读、验证、更新、遗忘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规则、LLM 或 learned policy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memory operation 是决策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9872" y="2523744"/>
            <a:ext cx="3246120" cy="1956816"/>
          </a:xfrm>
          <a:prstGeom prst="rect">
            <a:avLst/>
          </a:prstGeom>
          <a:solidFill>
            <a:srgbClr val="FFFFFF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9872" y="2523744"/>
            <a:ext cx="3246120" cy="384048"/>
          </a:xfrm>
          <a:prstGeom prst="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2587751"/>
            <a:ext cx="3026663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行为后果 Behavior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3054096"/>
            <a:ext cx="2916936" cy="1298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改变回答与计划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改变工具调用与环境动作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影响未来状态与交互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4965192"/>
            <a:ext cx="10844784" cy="475488"/>
          </a:xfrm>
          <a:prstGeom prst="rect">
            <a:avLst/>
          </a:prstGeom>
          <a:solidFill>
            <a:srgbClr val="F7F8FA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047488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判别句：删除当前 query 后，这些信息是否仍因过去交互而存在，并会在未来继续被访问、修改或失效？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与 LLM Memory、RAG、Agentic RAG 的边界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Hu et al., 2025/2026；本文按 persistence、agency、behavioral consequence 重整。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3504" y="1143000"/>
          <a:ext cx="10991088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377440"/>
                <a:gridCol w="2103120"/>
                <a:gridCol w="5138928"/>
              </a:tblGrid>
              <a:tr h="71628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概念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核心对象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时间尺度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</a:rPr>
                        <a:t>与 Agent Memory 的边界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1F24"/>
                          </a:solidFill>
                          <a:latin typeface="Microsoft YaHei"/>
                        </a:rPr>
                        <a:t>LLM Memory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1F24"/>
                          </a:solidFill>
                          <a:latin typeface="Microsoft YaHei"/>
                        </a:rPr>
                        <a:t>参数 / 激活 / KV cache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1F24"/>
                          </a:solidFill>
                          <a:latin typeface="Microsoft YaHei"/>
                        </a:rPr>
                        <a:t>单次推理到模型生命周期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1F24"/>
                          </a:solidFill>
                          <a:latin typeface="Microsoft YaHei"/>
                        </a:rPr>
                        <a:t>不必包含 Agent 决策与跨会话状态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1F24"/>
                          </a:solidFill>
                          <a:latin typeface="Microsoft YaHei"/>
                        </a:rPr>
                        <a:t>RAG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1F24"/>
                          </a:solidFill>
                          <a:latin typeface="Microsoft YaHei"/>
                        </a:rPr>
                        <a:t>静态外部文档库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1F24"/>
                          </a:solidFill>
                          <a:latin typeface="Microsoft YaHei"/>
                        </a:rPr>
                        <a:t>通常单次 query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1F24"/>
                          </a:solidFill>
                          <a:latin typeface="Microsoft YaHei"/>
                        </a:rPr>
                        <a:t>文档不一定由历史交互形成或持续演化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1F24"/>
                          </a:solidFill>
                          <a:latin typeface="Microsoft YaHei"/>
                        </a:rPr>
                        <a:t>Agentic RAG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1F24"/>
                          </a:solidFill>
                          <a:latin typeface="Microsoft YaHei"/>
                        </a:rPr>
                        <a:t>多步搜索与证据获取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1F24"/>
                          </a:solidFill>
                          <a:latin typeface="Microsoft YaHei"/>
                        </a:rPr>
                        <a:t>单任务、多步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1F24"/>
                          </a:solidFill>
                          <a:latin typeface="Microsoft YaHei"/>
                        </a:rPr>
                        <a:t>共用检索控制，但不必维护未来会话状态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1F24"/>
                          </a:solidFill>
                          <a:latin typeface="Microsoft YaHei"/>
                        </a:rPr>
                        <a:t>Context Engineering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1F24"/>
                          </a:solidFill>
                          <a:latin typeface="Microsoft YaHei"/>
                        </a:rPr>
                        <a:t>当前上下文编排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1F24"/>
                          </a:solidFill>
                          <a:latin typeface="Microsoft YaHei"/>
                        </a:rPr>
                        <a:t>当前任务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1F24"/>
                          </a:solidFill>
                          <a:latin typeface="Microsoft YaHei"/>
                        </a:rPr>
                        <a:t>管理瞬时资源；memory 只是信息源之一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</a:tr>
              <a:tr h="71628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1F24"/>
                          </a:solidFill>
                          <a:latin typeface="Microsoft YaHei"/>
                        </a:rPr>
                        <a:t>Agent Memory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1F24"/>
                          </a:solidFill>
                          <a:latin typeface="Microsoft YaHei"/>
                        </a:rPr>
                        <a:t>事实、事件、经验、状态、技能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1F24"/>
                          </a:solidFill>
                          <a:latin typeface="Microsoft YaHei"/>
                        </a:rPr>
                        <a:t>跨轮 / 会话 / 任务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B1F24"/>
                          </a:solidFill>
                          <a:latin typeface="Microsoft YaHei"/>
                        </a:rPr>
                        <a:t>强调形成、演化、使用、修复和行为后果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58368" y="5605272"/>
            <a:ext cx="10844784" cy="475488"/>
          </a:xfrm>
          <a:prstGeom prst="rect">
            <a:avLst/>
          </a:prstGeom>
          <a:solidFill>
            <a:srgbClr val="FCEBEB"/>
          </a:solidFill>
          <a:ln w="1270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5687568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73838"/>
                </a:solidFill>
                <a:latin typeface="Microsoft YaHei"/>
              </a:rPr>
              <a:t>若没有跨 session 的形成、写回与未来复用，问题容易退化为 Agentic RAG。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统一分类：形式 × 功能 × 动态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Memory in the Age of AI Agents: forms, functions and dynamics。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85216" y="1051560"/>
            <a:ext cx="3529584" cy="4370832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5216" y="1051560"/>
            <a:ext cx="3529584" cy="38404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115568"/>
            <a:ext cx="331012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形式 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581912"/>
            <a:ext cx="3200400" cy="3712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Token / text memory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Structured external memory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Parametric memory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Latent memory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Hybrid memory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回答：存在哪里、怎样表示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4256" y="1051560"/>
            <a:ext cx="3529584" cy="4370832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4256" y="1051560"/>
            <a:ext cx="3529584" cy="38404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43984" y="1115568"/>
            <a:ext cx="331012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功能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1581912"/>
            <a:ext cx="3200400" cy="3712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事实 / 语义记忆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情景记忆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经验记忆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程序性记忆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工作记忆 / 前瞻记忆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回答：记忆用于什么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83296" y="1051560"/>
            <a:ext cx="3529584" cy="4370832"/>
          </a:xfrm>
          <a:prstGeom prst="rect">
            <a:avLst/>
          </a:prstGeom>
          <a:solidFill>
            <a:srgbClr val="F1ECF9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83296" y="1051560"/>
            <a:ext cx="3529584" cy="384048"/>
          </a:xfrm>
          <a:prstGeom prst="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3023" y="1115568"/>
            <a:ext cx="3310128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动态 Dynamics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581912"/>
            <a:ext cx="3200400" cy="3712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Formation / Organization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Retrieval / Consumption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Evolution / Forgetting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Governance / Repair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多时间尺度更新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1F24"/>
                </a:solidFill>
                <a:latin typeface="Microsoft YaHei"/>
              </a:rPr>
              <a:t>• 回答：记忆怎样变化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5596128"/>
            <a:ext cx="10844784" cy="475488"/>
          </a:xfrm>
          <a:prstGeom prst="rect">
            <a:avLst/>
          </a:prstGeom>
          <a:solidFill>
            <a:srgbClr val="F7F8FA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678424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long-term / short-term 只描述时间层级，无法覆盖现代 Agent Memory 的结构、用途和操作。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可评测的 Agent Memory 生命周期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1874519"/>
            <a:ext cx="1673352" cy="1874519"/>
          </a:xfrm>
          <a:prstGeom prst="rect">
            <a:avLst/>
          </a:prstGeom>
          <a:solidFill>
            <a:srgbClr val="E7F1FB"/>
          </a:solidFill>
          <a:ln w="1778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02536"/>
            <a:ext cx="1527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4F7E"/>
                </a:solidFill>
                <a:latin typeface="Microsoft YaHei"/>
              </a:rPr>
              <a:t>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" y="2386584"/>
            <a:ext cx="1508760" cy="12527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形成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抽取 / 写入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57984" y="2569463"/>
            <a:ext cx="2103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1874519"/>
            <a:ext cx="1673352" cy="1874519"/>
          </a:xfrm>
          <a:prstGeom prst="rect">
            <a:avLst/>
          </a:prstGeom>
          <a:solidFill>
            <a:srgbClr val="E6F6F6"/>
          </a:solidFill>
          <a:ln w="1778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0592" y="2002536"/>
            <a:ext cx="1527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7E80"/>
                </a:solidFill>
                <a:latin typeface="Microsoft YaHei"/>
              </a:rPr>
              <a:t>Diagnose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9736" y="2386584"/>
            <a:ext cx="1508760" cy="12527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诊断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完整 / 时效 / 权限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9935" y="2569463"/>
            <a:ext cx="2103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79392" y="1874519"/>
            <a:ext cx="1673352" cy="1874519"/>
          </a:xfrm>
          <a:prstGeom prst="rect">
            <a:avLst/>
          </a:prstGeom>
          <a:solidFill>
            <a:srgbClr val="F1ECF9"/>
          </a:solidFill>
          <a:ln w="1778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52544" y="2002536"/>
            <a:ext cx="1527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84B96"/>
                </a:solidFill>
                <a:latin typeface="Microsoft YaHei"/>
              </a:rPr>
              <a:t>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8" y="2386584"/>
            <a:ext cx="1508760" cy="12527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控制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用 / 查 / 验 / 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2569463"/>
            <a:ext cx="2103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1344" y="1874519"/>
            <a:ext cx="1673352" cy="1874519"/>
          </a:xfrm>
          <a:prstGeom prst="rect">
            <a:avLst/>
          </a:prstGeom>
          <a:solidFill>
            <a:srgbClr val="F7F8FA"/>
          </a:solidFill>
          <a:ln w="1778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4496" y="2002536"/>
            <a:ext cx="1527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A000"/>
                </a:solidFill>
                <a:latin typeface="Microsoft YaHei"/>
              </a:rPr>
              <a:t>Commit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386584"/>
            <a:ext cx="1508760" cy="12527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行动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回答 / 工具 / 拒绝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569463"/>
            <a:ext cx="2103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83296" y="1874519"/>
            <a:ext cx="1673352" cy="1874519"/>
          </a:xfrm>
          <a:prstGeom prst="rect">
            <a:avLst/>
          </a:prstGeom>
          <a:solidFill>
            <a:srgbClr val="FCEBEB"/>
          </a:solidFill>
          <a:ln w="1778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56448" y="2002536"/>
            <a:ext cx="1527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B73838"/>
                </a:solidFill>
                <a:latin typeface="Microsoft YaHei"/>
              </a:rPr>
              <a:t>Repair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5592" y="2386584"/>
            <a:ext cx="1508760" cy="12527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修复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更新 / 失效 / 合并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2" y="2569463"/>
            <a:ext cx="210312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85248" y="1874519"/>
            <a:ext cx="1673352" cy="1874519"/>
          </a:xfrm>
          <a:prstGeom prst="rect">
            <a:avLst/>
          </a:prstGeom>
          <a:solidFill>
            <a:srgbClr val="E7F6ED"/>
          </a:solidFill>
          <a:ln w="17780"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2002536"/>
            <a:ext cx="152704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77749"/>
                </a:solidFill>
                <a:latin typeface="Microsoft YaHei"/>
              </a:rPr>
              <a:t>Re-evaluate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67544" y="2386584"/>
            <a:ext cx="1508760" cy="1252727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再评测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未来收益 / 污染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1170432"/>
            <a:ext cx="19202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C6570"/>
                </a:solidFill>
                <a:latin typeface="Microsoft YaHei"/>
              </a:rPr>
              <a:t>历史交互 H₁:ₜ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65776" y="1170432"/>
            <a:ext cx="19202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C6570"/>
                </a:solidFill>
                <a:latin typeface="Microsoft YaHei"/>
              </a:rPr>
              <a:t>持久状态 Mₜ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19488" y="1170432"/>
            <a:ext cx="192024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C6570"/>
                </a:solidFill>
                <a:latin typeface="Microsoft YaHei"/>
              </a:rPr>
              <a:t>未来状态 Mₜ₊₁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361688"/>
            <a:ext cx="10844784" cy="475488"/>
          </a:xfrm>
          <a:prstGeom prst="rect">
            <a:avLst/>
          </a:prstGeom>
          <a:solidFill>
            <a:srgbClr val="E7F1FB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443983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4F7E"/>
                </a:solidFill>
                <a:latin typeface="Microsoft YaHei"/>
              </a:rPr>
              <a:t>关键变化：评价对象从 memory content 扩展到 memory policy 与 longitudinal consequence。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发展时间线：从存储到经验，再到可信状态控制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77824" y="3072384"/>
            <a:ext cx="10351008" cy="0"/>
          </a:xfrm>
          <a:prstGeom prst="line">
            <a:avLst/>
          </a:prstGeom>
          <a:ln w="22860">
            <a:solidFill>
              <a:srgbClr val="1B1F2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1051560" y="2953512"/>
            <a:ext cx="237744" cy="23774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3337560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4F7E"/>
                </a:solidFill>
                <a:latin typeface="Arial"/>
              </a:rPr>
              <a:t>2023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1" y="1124712"/>
            <a:ext cx="2057400" cy="1572768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01751" y="1124712"/>
            <a:ext cx="2057400" cy="38404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79" y="1188720"/>
            <a:ext cx="1837943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外部记忆成型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" y="1655064"/>
            <a:ext cx="1728216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• Generative Agents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• Reflexion / Voyager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• MemGPT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30752" y="2953512"/>
            <a:ext cx="237744" cy="23774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6704" y="3337560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7E80"/>
                </a:solidFill>
                <a:latin typeface="Arial"/>
              </a:rPr>
              <a:t>2024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80944" y="1124712"/>
            <a:ext cx="2057400" cy="1572768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80944" y="1124712"/>
            <a:ext cx="2057400" cy="38404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90672" y="1188720"/>
            <a:ext cx="1837943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长期对话与关联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45536" y="1655064"/>
            <a:ext cx="1728216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• LoCoMo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• HippoRAG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• MemoryBank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19088" y="2953512"/>
            <a:ext cx="237744" cy="23774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3337560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84B96"/>
                </a:solidFill>
                <a:latin typeface="Arial"/>
              </a:rPr>
              <a:t>2025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79" y="1124712"/>
            <a:ext cx="2057400" cy="1572768"/>
          </a:xfrm>
          <a:prstGeom prst="rect">
            <a:avLst/>
          </a:prstGeom>
          <a:solidFill>
            <a:srgbClr val="F1ECF9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79" y="1124712"/>
            <a:ext cx="2057400" cy="384048"/>
          </a:xfrm>
          <a:prstGeom prst="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79007" y="1188720"/>
            <a:ext cx="1837943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组织与经验复用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1" y="1655064"/>
            <a:ext cx="1728216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• LongMemEval / A-MEM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• AWM / HiAgent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• MemoryOS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07424" y="2953512"/>
            <a:ext cx="237744" cy="23774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23376" y="3337560"/>
            <a:ext cx="1005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4A000"/>
                </a:solidFill>
                <a:latin typeface="Arial"/>
              </a:rPr>
              <a:t>2026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57616" y="1124712"/>
            <a:ext cx="2057400" cy="1572768"/>
          </a:xfrm>
          <a:prstGeom prst="rect">
            <a:avLst/>
          </a:prstGeom>
          <a:solidFill>
            <a:srgbClr val="F7F8FA"/>
          </a:solidFill>
          <a:ln w="1524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57616" y="1124712"/>
            <a:ext cx="2057400" cy="384048"/>
          </a:xfrm>
          <a:prstGeom prst="rect">
            <a:avLst/>
          </a:prstGeom>
          <a:solidFill>
            <a:srgbClr val="F4A000"/>
          </a:solidFill>
          <a:ln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67344" y="1188720"/>
            <a:ext cx="1837943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</a:rPr>
              <a:t>策略、RL 与行动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1655064"/>
            <a:ext cx="1728216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• AgeMem / Memory-R1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• AMemGym / Mem2Act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• MEM1 / AdaMEM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709160"/>
            <a:ext cx="10844784" cy="475488"/>
          </a:xfrm>
          <a:prstGeom prst="rect">
            <a:avLst/>
          </a:prstGeom>
          <a:solidFill>
            <a:srgbClr val="F7F8FA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791456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4F7E"/>
                </a:solidFill>
                <a:latin typeface="Microsoft YaHei"/>
              </a:rPr>
              <a:t>领域主线：Storage → Reflection → Experience → State diagnosis / control / repair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2025：结构化组织、经验复用与系统评测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9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LongMemEval (ICLR); A-MEM/Plan Caching (NeurIPS); AWM (ICML); ACL/NAACL/EMNLP 2025。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060704"/>
            <a:ext cx="2578608" cy="4242816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1060704"/>
            <a:ext cx="2578608" cy="38404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124712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组织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591055"/>
            <a:ext cx="2249424" cy="3584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A-MEM：动态链接 note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THEANINE：时间线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CDMem：上下文图索引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Graph Personal Memory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060704"/>
            <a:ext cx="2578608" cy="4242816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0128" y="1060704"/>
            <a:ext cx="2578608" cy="38404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1124712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经验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591055"/>
            <a:ext cx="2249424" cy="3584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AWM：workflow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R2D2：web map + reflection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CER：experience replay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RMM / CFGM：反思与技巧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060704"/>
            <a:ext cx="2578608" cy="4242816"/>
          </a:xfrm>
          <a:prstGeom prst="rect">
            <a:avLst/>
          </a:prstGeom>
          <a:solidFill>
            <a:srgbClr val="F1ECF9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16752" y="1060704"/>
            <a:ext cx="2578608" cy="384048"/>
          </a:xfrm>
          <a:prstGeom prst="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124712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层次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344" y="1591055"/>
            <a:ext cx="2249424" cy="3584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HiAgent：working memory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MemoryOS：STM/MTM/LTM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M2PA：多记忆规划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动态写入与在线更新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23376" y="1060704"/>
            <a:ext cx="2578608" cy="4242816"/>
          </a:xfrm>
          <a:prstGeom prst="rect">
            <a:avLst/>
          </a:prstGeom>
          <a:solidFill>
            <a:srgbClr val="F7F8FA"/>
          </a:solidFill>
          <a:ln w="1524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23376" y="1060704"/>
            <a:ext cx="2578608" cy="384048"/>
          </a:xfrm>
          <a:prstGeom prst="rect">
            <a:avLst/>
          </a:prstGeom>
          <a:solidFill>
            <a:srgbClr val="F4A000"/>
          </a:solidFill>
          <a:ln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33103" y="1124712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评测与安全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7" y="1591055"/>
            <a:ext cx="2249424" cy="3584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LongMemEval：五类能力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MemBench：事实/反思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PersonaMem：动态画像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MEXTRA：隐私提取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532120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614416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2025 的共识：记忆不只是容量问题，组织方式、经验粒度和成本同样决定表现。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2026：主动操作、RL、行动与可信治理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ACL/ICLR/ICML 2026 正式论文；前沿 arXiv 仅作趋势补充。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060704"/>
            <a:ext cx="2578608" cy="4242816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1060704"/>
            <a:ext cx="2578608" cy="38404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124712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主动操作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591055"/>
            <a:ext cx="2249424" cy="3584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Memory-R1 / AgeMem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MemSearcher / MemAct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Sculptor / StateLM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写、删、搜、摘要、恢复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060704"/>
            <a:ext cx="2578608" cy="4242816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0128" y="1060704"/>
            <a:ext cx="2578608" cy="38404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1124712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学习策略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591055"/>
            <a:ext cx="2249424" cy="3584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PPO / GRPO / DAPO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DPO preference learning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multi-turn / stepwise reward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cost-aware memory policy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060704"/>
            <a:ext cx="2578608" cy="4242816"/>
          </a:xfrm>
          <a:prstGeom prst="rect">
            <a:avLst/>
          </a:prstGeom>
          <a:solidFill>
            <a:srgbClr val="F1ECF9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16752" y="1060704"/>
            <a:ext cx="2578608" cy="384048"/>
          </a:xfrm>
          <a:prstGeom prst="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124712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行动耦合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344" y="1591055"/>
            <a:ext cx="2249424" cy="3584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Mem2Act：工具与参数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PersonaAgent：个性化行动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MemoPilot：序列决策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on-policy 反馈回路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23376" y="1060704"/>
            <a:ext cx="2578608" cy="4242816"/>
          </a:xfrm>
          <a:prstGeom prst="rect">
            <a:avLst/>
          </a:prstGeom>
          <a:solidFill>
            <a:srgbClr val="FCEBEB"/>
          </a:solidFill>
          <a:ln w="1524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23376" y="1060704"/>
            <a:ext cx="2578608" cy="384048"/>
          </a:xfrm>
          <a:prstGeom prst="rect">
            <a:avLst/>
          </a:prstGeom>
          <a:solidFill>
            <a:srgbClr val="B73838"/>
          </a:solidFill>
          <a:ln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33103" y="1124712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可信状态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7" y="1591055"/>
            <a:ext cx="2249424" cy="35844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Memora：stale / forgetting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Topology：传播泄露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authority / conflict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safe commitment / repair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532120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614416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2026 的转折：Memory 从被动数据库变成 Agent policy 可操作、可训练、也会累积风险的状态。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23560" y="2578608"/>
            <a:ext cx="598932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方法发展趋势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3401568"/>
            <a:ext cx="566928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</a:rPr>
              <a:t>结构、功能、检索、学习与资源约束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趋势一：平坦检索走向多尺度混合结构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76072" y="1865376"/>
            <a:ext cx="1993392" cy="2048256"/>
          </a:xfrm>
          <a:prstGeom prst="rect">
            <a:avLst/>
          </a:prstGeom>
          <a:solidFill>
            <a:srgbClr val="F7F8FA"/>
          </a:solidFill>
          <a:ln w="17780">
            <a:solidFill>
              <a:srgbClr val="5C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1993392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5C6570"/>
                </a:solidFill>
                <a:latin typeface="Microsoft YaHei"/>
              </a:rPr>
              <a:t>Flat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377440"/>
            <a:ext cx="1828800" cy="1426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chunks + embedding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Top-k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78608" y="2642616"/>
            <a:ext cx="2743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843784" y="1865376"/>
            <a:ext cx="1993392" cy="2048256"/>
          </a:xfrm>
          <a:prstGeom prst="rect">
            <a:avLst/>
          </a:prstGeom>
          <a:solidFill>
            <a:srgbClr val="E7F1FB"/>
          </a:solidFill>
          <a:ln w="1778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16936" y="1993392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4F7E"/>
                </a:solidFill>
                <a:latin typeface="Microsoft YaHei"/>
              </a:rPr>
              <a:t>Hierarchical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79" y="2377440"/>
            <a:ext cx="1828800" cy="1426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STM / MTM / LTM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event → raw turn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642616"/>
            <a:ext cx="2743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11496" y="1865376"/>
            <a:ext cx="1993392" cy="2048256"/>
          </a:xfrm>
          <a:prstGeom prst="rect">
            <a:avLst/>
          </a:prstGeom>
          <a:solidFill>
            <a:srgbClr val="E6F6F6"/>
          </a:solidFill>
          <a:ln w="1778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4648" y="1993392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7E80"/>
                </a:solidFill>
                <a:latin typeface="Microsoft YaHei"/>
              </a:rPr>
              <a:t>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2377440"/>
            <a:ext cx="1828800" cy="1426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semantic / temporal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causal / entity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4031" y="2642616"/>
            <a:ext cx="2743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79208" y="1865376"/>
            <a:ext cx="1993392" cy="2048256"/>
          </a:xfrm>
          <a:prstGeom prst="rect">
            <a:avLst/>
          </a:prstGeom>
          <a:solidFill>
            <a:srgbClr val="F1ECF9"/>
          </a:solidFill>
          <a:ln w="1778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52360" y="1993392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84B96"/>
                </a:solidFill>
                <a:latin typeface="Microsoft YaHei"/>
              </a:rPr>
              <a:t>Compact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61504" y="2377440"/>
            <a:ext cx="1828800" cy="1426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overwrite state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memory token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1744" y="2642616"/>
            <a:ext cx="27432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646920" y="1865376"/>
            <a:ext cx="1993392" cy="2048256"/>
          </a:xfrm>
          <a:prstGeom prst="rect">
            <a:avLst/>
          </a:prstGeom>
          <a:solidFill>
            <a:srgbClr val="F7F8FA"/>
          </a:solidFill>
          <a:ln w="1778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20072" y="1993392"/>
            <a:ext cx="1847088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4A000"/>
                </a:solidFill>
                <a:latin typeface="Microsoft YaHei"/>
              </a:rPr>
              <a:t>Hybrid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29216" y="2377440"/>
            <a:ext cx="1828800" cy="1426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raw evidence + index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1B1F24"/>
                </a:solidFill>
                <a:latin typeface="Microsoft YaHei"/>
              </a:rPr>
              <a:t>summary + policy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315968"/>
            <a:ext cx="1097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代表工作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9344" y="4306824"/>
            <a:ext cx="97657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C6570"/>
                </a:solidFill>
                <a:latin typeface="Microsoft YaHei"/>
              </a:rPr>
              <a:t>BM25 / dense retrieval    MemoryOS / LightMem / TiMem    A-MEM / MAGMA / MRAgent    MEM1 / MemAgent    APEX-MEM / REMem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029200"/>
            <a:ext cx="10844784" cy="475488"/>
          </a:xfrm>
          <a:prstGeom prst="rect">
            <a:avLst/>
          </a:prstGeom>
          <a:solidFill>
            <a:srgbClr val="E7F1FB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111496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更可能的终局不是单一路线胜出，而是：紧凑状态负责推理，原始证据层负责验证、恢复与治理。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趋势二：从事实记忆到经验与程序性记忆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115568"/>
            <a:ext cx="3410712" cy="4187952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115568"/>
            <a:ext cx="3410712" cy="38404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79576"/>
            <a:ext cx="319125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事实 / 情景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645919"/>
            <a:ext cx="3081528" cy="35295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保存用户事实与具体事件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目标：准确、时效、可追溯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基准：LoCoMo / LongMemEval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风险：旧值残留、事件混淆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115568"/>
            <a:ext cx="3410712" cy="4187952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115568"/>
            <a:ext cx="3410712" cy="38404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179576"/>
            <a:ext cx="319125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经验 / 反思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1645919"/>
            <a:ext cx="3081528" cy="35295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从成功与失败轨迹归纳策略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目标：跨任务改进与少犯旧错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方法：R2D2 / RMM / ReasoningBank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风险：错误归因、过度泛化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56448" y="1115568"/>
            <a:ext cx="3410712" cy="4187952"/>
          </a:xfrm>
          <a:prstGeom prst="rect">
            <a:avLst/>
          </a:prstGeom>
          <a:solidFill>
            <a:srgbClr val="F1ECF9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56448" y="1115568"/>
            <a:ext cx="3410712" cy="384048"/>
          </a:xfrm>
          <a:prstGeom prst="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5" y="1179576"/>
            <a:ext cx="319125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程序 / 技能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645919"/>
            <a:ext cx="3081528" cy="35295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保存 workflow、计划、工具链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目标：直接复用可执行过程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方法：AWM / Mem^p / AdaMEM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风险：环境变化、false reuse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513832"/>
            <a:ext cx="10844784" cy="475488"/>
          </a:xfrm>
          <a:prstGeom prst="rect">
            <a:avLst/>
          </a:prstGeom>
          <a:solidFill>
            <a:srgbClr val="FCEBEB"/>
          </a:solidFill>
          <a:ln w="1270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596128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73838"/>
                </a:solidFill>
                <a:latin typeface="Microsoft YaHei"/>
              </a:rPr>
              <a:t>新的评测重点：经验是否有证据、策略适用到哪里、复用是否提高成功率而不压缩探索。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趋势三：从语义相似到意图、时间、权威与重构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STITCH/CAME-Bench; Memory-T1; REMem; MRAgent。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088" y="1124712"/>
            <a:ext cx="18288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5C6570"/>
                </a:solidFill>
                <a:latin typeface="Microsoft YaHei"/>
              </a:rPr>
              <a:t>传统相关性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" y="1572768"/>
            <a:ext cx="28803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5C6570"/>
                </a:solidFill>
                <a:latin typeface="Microsoft YaHei"/>
              </a:rPr>
              <a:t>s = semantic similarity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03320" y="1572768"/>
            <a:ext cx="4572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34F7E"/>
                </a:solidFill>
                <a:latin typeface="Microsoft YaHei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0248" y="1124712"/>
            <a:ext cx="2194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34F7E"/>
                </a:solidFill>
                <a:latin typeface="Microsoft YaHei"/>
              </a:rPr>
              <a:t>条件化可用性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42816" y="1554480"/>
            <a:ext cx="7040880" cy="1005840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3984" y="1819656"/>
            <a:ext cx="6638544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4F7E"/>
                </a:solidFill>
                <a:latin typeface="Arial"/>
              </a:rPr>
              <a:t>s(m,q)= α·semantic + β·intent + γ·time + δ·authority + η·scope − λ·conflict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4944" y="3017520"/>
            <a:ext cx="2514600" cy="1929384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94944" y="3017520"/>
            <a:ext cx="2514600" cy="38404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081527"/>
            <a:ext cx="229514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Contextual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3547872"/>
            <a:ext cx="2185416" cy="1271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同实体不同事件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同主题不同目标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47288" y="3017520"/>
            <a:ext cx="2514600" cy="1929384"/>
          </a:xfrm>
          <a:prstGeom prst="rect">
            <a:avLst/>
          </a:prstGeom>
          <a:solidFill>
            <a:srgbClr val="F1ECF9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47288" y="3017520"/>
            <a:ext cx="2514600" cy="384048"/>
          </a:xfrm>
          <a:prstGeom prst="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57016" y="3081527"/>
            <a:ext cx="229514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Temporal validity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547872"/>
            <a:ext cx="2185416" cy="1271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旧版本 vs 新版本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发生时间 vs 有效时间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99632" y="3017520"/>
            <a:ext cx="2514600" cy="1929384"/>
          </a:xfrm>
          <a:prstGeom prst="rect">
            <a:avLst/>
          </a:prstGeom>
          <a:solidFill>
            <a:srgbClr val="F7F8FA"/>
          </a:solidFill>
          <a:ln w="1524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99632" y="3017520"/>
            <a:ext cx="2514600" cy="384048"/>
          </a:xfrm>
          <a:prstGeom prst="rect">
            <a:avLst/>
          </a:prstGeom>
          <a:solidFill>
            <a:srgbClr val="F4A000"/>
          </a:solidFill>
          <a:ln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3081527"/>
            <a:ext cx="229514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Authority /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64224" y="3547872"/>
            <a:ext cx="2185416" cy="1271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来源可信度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权限与用途边界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51976" y="3017520"/>
            <a:ext cx="2514600" cy="1929384"/>
          </a:xfrm>
          <a:prstGeom prst="rect">
            <a:avLst/>
          </a:prstGeom>
          <a:solidFill>
            <a:srgbClr val="FCEBEB"/>
          </a:solidFill>
          <a:ln w="1524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51976" y="3017520"/>
            <a:ext cx="2514600" cy="384048"/>
          </a:xfrm>
          <a:prstGeom prst="rect">
            <a:avLst/>
          </a:prstGeom>
          <a:solidFill>
            <a:srgbClr val="B73838"/>
          </a:solidFill>
          <a:ln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61703" y="3081527"/>
            <a:ext cx="229514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Reconstruction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16567" y="3547872"/>
            <a:ext cx="2185416" cy="12710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由 cue 主动重组经历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按需恢复原始证据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312664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检索的目标正在从“找最像的文本”变成“找当前任务中可合法使用、足以行动的证据集合”。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趋势四：Memory operations 成为可学习动作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060704"/>
          <a:ext cx="1104595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255264"/>
                <a:gridCol w="1874519"/>
                <a:gridCol w="4041648"/>
              </a:tblGrid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1060" b="1">
                          <a:solidFill>
                            <a:srgbClr val="FFFFFF"/>
                          </a:solidFill>
                          <a:latin typeface="Microsoft YaHei"/>
                        </a:rPr>
                        <a:t>方法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1">
                          <a:solidFill>
                            <a:srgbClr val="FFFFFF"/>
                          </a:solidFill>
                          <a:latin typeface="Microsoft YaHei"/>
                        </a:rPr>
                        <a:t>Memory 动作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1">
                          <a:solidFill>
                            <a:srgbClr val="FFFFFF"/>
                          </a:solidFill>
                          <a:latin typeface="Microsoft YaHei"/>
                        </a:rPr>
                        <a:t>训练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1">
                          <a:solidFill>
                            <a:srgbClr val="FFFFFF"/>
                          </a:solidFill>
                          <a:latin typeface="Microsoft YaHei"/>
                        </a:rPr>
                        <a:t>主要意义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Memory-R1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ADD / UPDATE / DELETE / NOOP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PPO / GRPO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学习管理与使用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AgeMem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store / retrieve / summarize / discard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stepwise GRPO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统一 STM / LTM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MemSearcher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search / reason / overwrite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multi-context GRPO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固定 token 联合优化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MCMA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抽象粒度与复用策略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DPO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跨任务可迁移经验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MemAgent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分段读取 / 重写状态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DAPO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超长输入状态压缩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Sculptor / MemAct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hide / restore / delete / insert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GSPO / RL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主动管理 working context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MemoPilot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memory copilot across turns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multi-turn GRPO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优化序列行动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BudgetMem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模块预算档位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cost-aware PPO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60" b="0">
                          <a:solidFill>
                            <a:srgbClr val="1B1F24"/>
                          </a:solidFill>
                          <a:latin typeface="Microsoft YaHei"/>
                        </a:rPr>
                        <a:t>质量-成本联合优化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58368" y="5852160"/>
            <a:ext cx="10844784" cy="475488"/>
          </a:xfrm>
          <a:prstGeom prst="rect">
            <a:avLst/>
          </a:prstGeom>
          <a:solidFill>
            <a:srgbClr val="FCEBEB"/>
          </a:solidFill>
          <a:ln w="1270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934456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73838"/>
                </a:solidFill>
                <a:latin typeface="Microsoft YaHei"/>
              </a:rPr>
              <a:t>算法名称不是贡献：贡献来自 state、action、verifier、credit assignment 与可证伪的长期假设。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何时用 SFT、DPO、GRPO、GSPO 或 DAPO？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16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078992"/>
            <a:ext cx="2578608" cy="4334256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078992"/>
            <a:ext cx="2578608" cy="38404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SFT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1609343"/>
            <a:ext cx="2249424" cy="3675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动作标签清楚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可生成 oracle trace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适合冷启动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风险：继承 teacher 偏差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078992"/>
            <a:ext cx="2578608" cy="4334256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10128" y="1078992"/>
            <a:ext cx="2578608" cy="38404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9856" y="1143000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DPO / 排序学习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609343"/>
            <a:ext cx="2249424" cy="3675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同一状态有优劣动作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pairwise/listwise 信号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适合候选记忆与控制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风险：离线分布偏移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98464" y="1078992"/>
            <a:ext cx="2578608" cy="4334256"/>
          </a:xfrm>
          <a:prstGeom prst="rect">
            <a:avLst/>
          </a:prstGeom>
          <a:solidFill>
            <a:srgbClr val="F1ECF9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98464" y="1078992"/>
            <a:ext cx="2578608" cy="384048"/>
          </a:xfrm>
          <a:prstGeom prst="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08192" y="1143000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GRPO / GSPO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3055" y="1609343"/>
            <a:ext cx="2249424" cy="3675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需要采样多条策略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有可验证结果/过程奖励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适合长程 memory policy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风险：组内退化、稀疏奖励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078992"/>
            <a:ext cx="2578608" cy="4334256"/>
          </a:xfrm>
          <a:prstGeom prst="rect">
            <a:avLst/>
          </a:prstGeom>
          <a:solidFill>
            <a:srgbClr val="F7F8FA"/>
          </a:solidFill>
          <a:ln w="1524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0" y="1078992"/>
            <a:ext cx="2578608" cy="384048"/>
          </a:xfrm>
          <a:prstGeom prst="rect">
            <a:avLst/>
          </a:prstGeom>
          <a:solidFill>
            <a:srgbClr val="F4A000"/>
          </a:solidFill>
          <a:ln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96528" y="1143000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DAPO / On-policy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392" y="1609343"/>
            <a:ext cx="2249424" cy="3675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超长序列或持续交互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行为改变未来状态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适合压缩与在线控制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风险：成本和稳定性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5577840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660136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先证明 prompting 与偏好学习不足，再引入 RL；否则训练范式会遮住真正的 memory failure。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趋势五：在线/离线解耦与质量-成本 Pareto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17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143000"/>
            <a:ext cx="5102352" cy="3493008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143000"/>
            <a:ext cx="5102352" cy="38404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8096" y="1207008"/>
            <a:ext cx="488289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在线路径：低延迟、固定预算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1673352"/>
            <a:ext cx="4773168" cy="28346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query rewriting / intent detection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coarse retrieval + candidate verification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incremental writing / local update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工具前的 evidence check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代表：LightMem、BudgetMem</a:t>
            </a:r>
          </a:p>
        </p:txBody>
      </p:sp>
      <p:sp>
        <p:nvSpPr>
          <p:cNvPr id="8" name="Rectangle 7"/>
          <p:cNvSpPr/>
          <p:nvPr/>
        </p:nvSpPr>
        <p:spPr>
          <a:xfrm>
            <a:off x="6419088" y="1143000"/>
            <a:ext cx="5102352" cy="3493008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19088" y="1143000"/>
            <a:ext cx="5102352" cy="38404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8816" y="1207008"/>
            <a:ext cx="4882896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离线路径：重计算、慢演化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9" y="1673352"/>
            <a:ext cx="4773168" cy="283463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clustering / graph linking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reflection / consolidation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version cleanup / provenance repair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cross-trajectory abstraction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代表：A-MEM、AdaMEM、MCMA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919472"/>
            <a:ext cx="1078992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共同报告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01952" y="4882896"/>
            <a:ext cx="1335024" cy="347472"/>
          </a:xfrm>
          <a:prstGeom prst="roundRect">
            <a:avLst/>
          </a:prstGeom>
          <a:solidFill>
            <a:srgbClr val="E7F1FB"/>
          </a:solidFill>
          <a:ln w="1016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38528" y="4946904"/>
            <a:ext cx="126187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34F7E"/>
                </a:solidFill>
                <a:latin typeface="Microsoft YaHei"/>
              </a:rPr>
              <a:t>Answer / Success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8144" y="4882896"/>
            <a:ext cx="1335024" cy="347472"/>
          </a:xfrm>
          <a:prstGeom prst="roundRect">
            <a:avLst/>
          </a:prstGeom>
          <a:solidFill>
            <a:srgbClr val="E6F6F6"/>
          </a:solidFill>
          <a:ln w="1016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4946904"/>
            <a:ext cx="126187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F7E80"/>
                </a:solidFill>
                <a:latin typeface="Microsoft YaHei"/>
              </a:rPr>
              <a:t>Token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74336" y="4882896"/>
            <a:ext cx="1335024" cy="347472"/>
          </a:xfrm>
          <a:prstGeom prst="roundRect">
            <a:avLst/>
          </a:prstGeom>
          <a:solidFill>
            <a:srgbClr val="F1ECF9"/>
          </a:solidFill>
          <a:ln w="1016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10912" y="4946904"/>
            <a:ext cx="126187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84B96"/>
                </a:solidFill>
                <a:latin typeface="Microsoft YaHei"/>
              </a:rPr>
              <a:t>Latency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10528" y="4882896"/>
            <a:ext cx="1335024" cy="347472"/>
          </a:xfrm>
          <a:prstGeom prst="roundRect">
            <a:avLst/>
          </a:prstGeom>
          <a:solidFill>
            <a:srgbClr val="F7F8FA"/>
          </a:solidFill>
          <a:ln w="1016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4946904"/>
            <a:ext cx="126187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4A000"/>
                </a:solidFill>
                <a:latin typeface="Microsoft YaHei"/>
              </a:rPr>
              <a:t>LLM Calls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882896"/>
            <a:ext cx="1335024" cy="347472"/>
          </a:xfrm>
          <a:prstGeom prst="roundRect">
            <a:avLst/>
          </a:prstGeom>
          <a:solidFill>
            <a:srgbClr val="E7F6ED"/>
          </a:solidFill>
          <a:ln w="10160"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83296" y="4946904"/>
            <a:ext cx="126187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77749"/>
                </a:solidFill>
                <a:latin typeface="Microsoft YaHei"/>
              </a:rPr>
              <a:t>Storage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82912" y="4882896"/>
            <a:ext cx="1335024" cy="347472"/>
          </a:xfrm>
          <a:prstGeom prst="roundRect">
            <a:avLst/>
          </a:prstGeom>
          <a:solidFill>
            <a:srgbClr val="FCEBEB"/>
          </a:solidFill>
          <a:ln w="1016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19488" y="4946904"/>
            <a:ext cx="126187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73838"/>
                </a:solidFill>
                <a:latin typeface="Microsoft YaHei"/>
              </a:rPr>
              <a:t>Risk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541264"/>
            <a:ext cx="10844784" cy="475488"/>
          </a:xfrm>
          <a:prstGeom prst="rect">
            <a:avLst/>
          </a:prstGeom>
          <a:solidFill>
            <a:srgbClr val="FCEBEB"/>
          </a:solidFill>
          <a:ln w="1270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5623559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73838"/>
                </a:solidFill>
                <a:latin typeface="Microsoft YaHei"/>
              </a:rPr>
              <a:t>精度提升若来自数量级更高的调用成本，就必须在同预算下重新比较。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趋势六：可信记忆成为系统边界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18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MEXTRA, ACL 2025；Topology Matters, ACL Findings 2026；前沿 authority/conflict/safe-commit 工作。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" y="1069848"/>
            <a:ext cx="2578608" cy="4370832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" y="1069848"/>
            <a:ext cx="2578608" cy="38404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133856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来源 Provenance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1600200"/>
            <a:ext cx="2249424" cy="3712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谁产生了这条记忆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能否回到原始证据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压缩是否保留引用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0128" y="1069848"/>
            <a:ext cx="2578608" cy="4370832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10128" y="1069848"/>
            <a:ext cx="2578608" cy="38404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1133856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权限 Authority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600200"/>
            <a:ext cx="2249424" cy="3712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谁有权写入/读取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是否允许用于当前行动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授权是否已经过期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16752" y="1069848"/>
            <a:ext cx="2578608" cy="4370832"/>
          </a:xfrm>
          <a:prstGeom prst="rect">
            <a:avLst/>
          </a:prstGeom>
          <a:solidFill>
            <a:srgbClr val="F1ECF9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16752" y="1069848"/>
            <a:ext cx="2578608" cy="384048"/>
          </a:xfrm>
          <a:prstGeom prst="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133856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冲突 Conflict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344" y="1600200"/>
            <a:ext cx="2249424" cy="3712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多来源无法裁决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保留不确定而非强行合并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必要时澄清或拒绝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23376" y="1069848"/>
            <a:ext cx="2578608" cy="4370832"/>
          </a:xfrm>
          <a:prstGeom prst="rect">
            <a:avLst/>
          </a:prstGeom>
          <a:solidFill>
            <a:srgbClr val="FCEBEB"/>
          </a:solidFill>
          <a:ln w="1524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23376" y="1069848"/>
            <a:ext cx="2578608" cy="384048"/>
          </a:xfrm>
          <a:prstGeom prst="rect">
            <a:avLst/>
          </a:prstGeom>
          <a:solidFill>
            <a:srgbClr val="B73838"/>
          </a:solidFill>
          <a:ln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33103" y="1133856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传播与隐私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7967" y="1600200"/>
            <a:ext cx="2249424" cy="3712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跨用户、跨 Agent 泄露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污染会持久复用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1F24"/>
                </a:solidFill>
                <a:latin typeface="Microsoft YaHei"/>
              </a:rPr>
              <a:t>• 删除与审计保证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596128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678424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73838"/>
                </a:solidFill>
                <a:latin typeface="Microsoft YaHei"/>
              </a:rPr>
              <a:t>一次 hallucination 是局部错误；被写入 memory 的 hallucination 会变成可重复、可传播的长期状态错误。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23560" y="2578608"/>
            <a:ext cx="598932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评测发展趋势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3401568"/>
            <a:ext cx="566928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</a:rPr>
              <a:t>从召回正确率到行动、诊断与长期修复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Benchmark 演进：五代评价对象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20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225296"/>
            <a:ext cx="2029968" cy="3602736"/>
          </a:xfrm>
          <a:prstGeom prst="rect">
            <a:avLst/>
          </a:prstGeom>
          <a:solidFill>
            <a:srgbClr val="E7F1FB"/>
          </a:solidFill>
          <a:ln w="1651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1435608"/>
            <a:ext cx="1847088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234F7E"/>
                </a:solidFill>
                <a:latin typeface="Microsoft YaHei"/>
              </a:rPr>
              <a:t>1 长程召回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" y="2103120"/>
            <a:ext cx="175564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1F24"/>
                </a:solidFill>
                <a:latin typeface="Microsoft YaHei"/>
              </a:rPr>
              <a:t>LoCoMo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1F24"/>
                </a:solidFill>
                <a:latin typeface="Microsoft YaHei"/>
              </a:rPr>
              <a:t>LongMemEval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86384" y="3017520"/>
            <a:ext cx="1481328" cy="0"/>
          </a:xfrm>
          <a:prstGeom prst="line">
            <a:avLst/>
          </a:prstGeom>
          <a:ln w="12700">
            <a:solidFill>
              <a:srgbClr val="234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9224" y="3310128"/>
            <a:ext cx="175564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C6570"/>
                </a:solidFill>
                <a:latin typeface="Microsoft YaHei"/>
              </a:rPr>
              <a:t>事实 / 多跳 / 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3744" y="2752344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79776" y="1225296"/>
            <a:ext cx="2029968" cy="3602736"/>
          </a:xfrm>
          <a:prstGeom prst="rect">
            <a:avLst/>
          </a:prstGeom>
          <a:solidFill>
            <a:srgbClr val="E6F6F6"/>
          </a:solidFill>
          <a:ln w="1651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71216" y="1435608"/>
            <a:ext cx="1847088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1F7E80"/>
                </a:solidFill>
                <a:latin typeface="Microsoft YaHei"/>
              </a:rPr>
              <a:t>2 动态状态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6936" y="2103120"/>
            <a:ext cx="175564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1F24"/>
                </a:solidFill>
                <a:latin typeface="Microsoft YaHei"/>
              </a:rPr>
              <a:t>PersonaMem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1F24"/>
                </a:solidFill>
                <a:latin typeface="Microsoft YaHei"/>
              </a:rPr>
              <a:t>Memora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054096" y="3017520"/>
            <a:ext cx="1481328" cy="0"/>
          </a:xfrm>
          <a:prstGeom prst="line">
            <a:avLst/>
          </a:prstGeom>
          <a:ln w="12700">
            <a:solidFill>
              <a:srgbClr val="1F7E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916936" y="3310128"/>
            <a:ext cx="175564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C6570"/>
                </a:solidFill>
                <a:latin typeface="Microsoft YaHei"/>
              </a:rPr>
              <a:t>更新 / 遗忘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91456" y="2752344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47488" y="1225296"/>
            <a:ext cx="2029968" cy="3602736"/>
          </a:xfrm>
          <a:prstGeom prst="rect">
            <a:avLst/>
          </a:prstGeom>
          <a:solidFill>
            <a:srgbClr val="F1ECF9"/>
          </a:solidFill>
          <a:ln w="1651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8927" y="1435608"/>
            <a:ext cx="1847088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684B96"/>
                </a:solidFill>
                <a:latin typeface="Microsoft YaHei"/>
              </a:rPr>
              <a:t>3 战略与行动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4648" y="2103120"/>
            <a:ext cx="175564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1F24"/>
                </a:solidFill>
                <a:latin typeface="Microsoft YaHei"/>
              </a:rPr>
              <a:t>StratMem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1F24"/>
                </a:solidFill>
                <a:latin typeface="Microsoft YaHei"/>
              </a:rPr>
              <a:t>Mem2Act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321807" y="3017520"/>
            <a:ext cx="1481329" cy="0"/>
          </a:xfrm>
          <a:prstGeom prst="line">
            <a:avLst/>
          </a:prstGeom>
          <a:ln w="12700">
            <a:solidFill>
              <a:srgbClr val="684B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184648" y="3310128"/>
            <a:ext cx="175564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C6570"/>
                </a:solidFill>
                <a:latin typeface="Microsoft YaHei"/>
              </a:rPr>
              <a:t>选择 / 工具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9168" y="2752344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1225296"/>
            <a:ext cx="2029968" cy="3602736"/>
          </a:xfrm>
          <a:prstGeom prst="rect">
            <a:avLst/>
          </a:prstGeom>
          <a:solidFill>
            <a:srgbClr val="F7F8FA"/>
          </a:solidFill>
          <a:ln w="1651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1435608"/>
            <a:ext cx="1847088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F4A000"/>
                </a:solidFill>
                <a:latin typeface="Microsoft YaHei"/>
              </a:rPr>
              <a:t>4 交互诊断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103120"/>
            <a:ext cx="175564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1F24"/>
                </a:solidFill>
                <a:latin typeface="Microsoft YaHei"/>
              </a:rPr>
              <a:t>AMemGym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1F24"/>
                </a:solidFill>
                <a:latin typeface="Microsoft YaHei"/>
              </a:rPr>
              <a:t>MemoryAgentBench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589520" y="3017520"/>
            <a:ext cx="1481328" cy="0"/>
          </a:xfrm>
          <a:prstGeom prst="line">
            <a:avLst/>
          </a:prstGeom>
          <a:ln w="12700">
            <a:solidFill>
              <a:srgbClr val="F4A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452360" y="3310128"/>
            <a:ext cx="175564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C6570"/>
                </a:solidFill>
                <a:latin typeface="Microsoft YaHei"/>
              </a:rPr>
              <a:t>on-policy / stages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2752344"/>
            <a:ext cx="2743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82912" y="1225296"/>
            <a:ext cx="2029968" cy="3602736"/>
          </a:xfrm>
          <a:prstGeom prst="rect">
            <a:avLst/>
          </a:prstGeom>
          <a:solidFill>
            <a:srgbClr val="FCEBEB"/>
          </a:solidFill>
          <a:ln w="1651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74352" y="1435608"/>
            <a:ext cx="1847088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>
                <a:solidFill>
                  <a:srgbClr val="B73838"/>
                </a:solidFill>
                <a:latin typeface="Microsoft YaHei"/>
              </a:rPr>
              <a:t>5 可信修复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20072" y="2103120"/>
            <a:ext cx="175564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1F24"/>
                </a:solidFill>
                <a:latin typeface="Microsoft YaHei"/>
              </a:rPr>
              <a:t>前沿 2026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857232" y="3017520"/>
            <a:ext cx="1481328" cy="0"/>
          </a:xfrm>
          <a:prstGeom prst="line">
            <a:avLst/>
          </a:prstGeom>
          <a:ln w="12700">
            <a:solidFill>
              <a:srgbClr val="B738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720072" y="3310128"/>
            <a:ext cx="175564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C6570"/>
                </a:solidFill>
                <a:latin typeface="Microsoft YaHei"/>
              </a:rPr>
              <a:t>authority / repair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312664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现状：几乎每个单点能力都已有 benchmark；空白更多出现在受控因果干预与跨会话闭环。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代表性 Benchmark 对照（一）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21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12064" y="1115568"/>
          <a:ext cx="111556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952"/>
                <a:gridCol w="1554480"/>
                <a:gridCol w="2304288"/>
                <a:gridCol w="2496312"/>
                <a:gridCol w="2898648"/>
              </a:tblGrid>
              <a:tr h="692331"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icrosoft YaHei"/>
                        </a:rPr>
                        <a:t>Benchmark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icrosoft YaHei"/>
                        </a:rPr>
                        <a:t>出处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icrosoft YaHei"/>
                        </a:rPr>
                        <a:t>主要任务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icrosoft YaHei"/>
                        </a:rPr>
                        <a:t>核心信号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icrosoft YaHei"/>
                        </a:rPr>
                        <a:t>主要边界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LoCoMo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ACL 2024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跨 session QA / 总结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多跳、时间、长程回忆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偏最终生成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LongMemEval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ICLR 2025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五类长期聊天任务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QA / abstention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无完整行动闭环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PersonaMem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COLM 2025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动态画像与个性化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profile / response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偏 personalization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MemBench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ACL Findings 2025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事实与反思记忆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效果 / 效率 / 容量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动态冲突有限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MemoryAgentBench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ICLR 2026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增量形成与遗忘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retrieval / learning / LRU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chunk 非真实事件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AMemGym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ICLR 2026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on-policy 长期对话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write / read / use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模拟用户与领域受限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代表性 Benchmark 对照（二）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22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12064" y="1115568"/>
          <a:ext cx="111556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952"/>
                <a:gridCol w="1554480"/>
                <a:gridCol w="2304288"/>
                <a:gridCol w="2496312"/>
                <a:gridCol w="2898648"/>
              </a:tblGrid>
              <a:tr h="692331"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icrosoft YaHei"/>
                        </a:rPr>
                        <a:t>Benchmark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icrosoft YaHei"/>
                        </a:rPr>
                        <a:t>出处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icrosoft YaHei"/>
                        </a:rPr>
                        <a:t>主要任务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icrosoft YaHei"/>
                        </a:rPr>
                        <a:t>核心信号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1">
                          <a:solidFill>
                            <a:srgbClr val="FFFFFF"/>
                          </a:solidFill>
                          <a:latin typeface="Microsoft YaHei"/>
                        </a:rPr>
                        <a:t>主要边界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StratMem-Bench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ACL 2026 Long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候选记忆战略使用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must / nice / irrelevant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候选已给定、单轮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Memora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ACL Findings 2026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动态用户状态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stale penalty / forgetting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合成轨迹为主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Mem2ActBench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ACL 2026 Long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记忆到工具行动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tool / parameter accuracy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主动验证有限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CAME-Bench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ACL Findings 2026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情境混淆检索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intent hard negatives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非完整 lifecycle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</a:tr>
              <a:tr h="692331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MementoBench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ICLR 2026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超长流视频主动助手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text / object / action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多模态场景特定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  <a:tr h="692334"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前沿 2026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arXiv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状态、权威、冲突、修复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causal / longitudinal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80" b="0">
                          <a:solidFill>
                            <a:srgbClr val="1B1F24"/>
                          </a:solidFill>
                          <a:latin typeface="Microsoft YaHei"/>
                        </a:rPr>
                        <a:t>状态与成熟度待核验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评价指标：从最终答案扩展到六层证据链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23</a:t>
            </a:r>
          </a:p>
        </p:txBody>
      </p:sp>
      <p:sp>
        <p:nvSpPr>
          <p:cNvPr id="4" name="Rectangle 3"/>
          <p:cNvSpPr/>
          <p:nvPr/>
        </p:nvSpPr>
        <p:spPr>
          <a:xfrm>
            <a:off x="758952" y="1042415"/>
            <a:ext cx="1097280" cy="530352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32104" y="1161288"/>
            <a:ext cx="95097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内容</a:t>
            </a:r>
          </a:p>
        </p:txBody>
      </p:sp>
      <p:sp>
        <p:nvSpPr>
          <p:cNvPr id="6" name="Rectangle 5"/>
          <p:cNvSpPr/>
          <p:nvPr/>
        </p:nvSpPr>
        <p:spPr>
          <a:xfrm>
            <a:off x="1938528" y="1042415"/>
            <a:ext cx="9326880" cy="530352"/>
          </a:xfrm>
          <a:prstGeom prst="rect">
            <a:avLst/>
          </a:prstGeom>
          <a:solidFill>
            <a:srgbClr val="E7F1FB"/>
          </a:solidFill>
          <a:ln w="1016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48840" y="1161288"/>
            <a:ext cx="890625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Arial"/>
              </a:rPr>
              <a:t>coverage / freshness / provenance / fidelity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758952" y="1801367"/>
            <a:ext cx="1097280" cy="530352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" y="1920239"/>
            <a:ext cx="95097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检索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8528" y="1801367"/>
            <a:ext cx="9326880" cy="530352"/>
          </a:xfrm>
          <a:prstGeom prst="rect">
            <a:avLst/>
          </a:prstGeom>
          <a:solidFill>
            <a:srgbClr val="E6F6F6"/>
          </a:solidFill>
          <a:ln w="1016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1920239"/>
            <a:ext cx="890625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7E80"/>
                </a:solidFill>
                <a:latin typeface="Arial"/>
              </a:rPr>
              <a:t>Recall@k / MRR / hard-negative precision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" y="2560320"/>
            <a:ext cx="1097280" cy="530352"/>
          </a:xfrm>
          <a:prstGeom prst="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2679191"/>
            <a:ext cx="95097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控制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38528" y="2560320"/>
            <a:ext cx="9326880" cy="530352"/>
          </a:xfrm>
          <a:prstGeom prst="rect">
            <a:avLst/>
          </a:prstGeom>
          <a:solidFill>
            <a:srgbClr val="F1ECF9"/>
          </a:solidFill>
          <a:ln w="1016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148840" y="2679191"/>
            <a:ext cx="890625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684B96"/>
                </a:solidFill>
                <a:latin typeface="Arial"/>
              </a:rPr>
              <a:t>USE / SEARCH / VERIFY / ASK / ABSTAIN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8952" y="3319272"/>
            <a:ext cx="1097280" cy="530352"/>
          </a:xfrm>
          <a:prstGeom prst="rect">
            <a:avLst/>
          </a:prstGeom>
          <a:solidFill>
            <a:srgbClr val="F4A000"/>
          </a:solidFill>
          <a:ln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" y="3438144"/>
            <a:ext cx="95097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行动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38528" y="3319272"/>
            <a:ext cx="9326880" cy="530352"/>
          </a:xfrm>
          <a:prstGeom prst="rect">
            <a:avLst/>
          </a:prstGeom>
          <a:solidFill>
            <a:srgbClr val="F7F8FA"/>
          </a:solidFill>
          <a:ln w="1016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48840" y="3438144"/>
            <a:ext cx="890625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4A000"/>
                </a:solidFill>
                <a:latin typeface="Arial"/>
              </a:rPr>
              <a:t>tool selection / parameters / postcondition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58952" y="4078224"/>
            <a:ext cx="1097280" cy="530352"/>
          </a:xfrm>
          <a:prstGeom prst="rect">
            <a:avLst/>
          </a:prstGeom>
          <a:solidFill>
            <a:srgbClr val="B73838"/>
          </a:solidFill>
          <a:ln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" y="4197096"/>
            <a:ext cx="95097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演化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38528" y="4078224"/>
            <a:ext cx="9326880" cy="530352"/>
          </a:xfrm>
          <a:prstGeom prst="rect">
            <a:avLst/>
          </a:prstGeom>
          <a:solidFill>
            <a:srgbClr val="FCEBEB"/>
          </a:solidFill>
          <a:ln w="1016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48840" y="4197096"/>
            <a:ext cx="890625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73838"/>
                </a:solidFill>
                <a:latin typeface="Arial"/>
              </a:rPr>
              <a:t>update / invalidate / merge / stale suppression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" y="4837175"/>
            <a:ext cx="1097280" cy="530352"/>
          </a:xfrm>
          <a:prstGeom prst="rect">
            <a:avLst/>
          </a:prstGeom>
          <a:solidFill>
            <a:srgbClr val="277749"/>
          </a:solidFill>
          <a:ln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2104" y="4956047"/>
            <a:ext cx="95097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</a:rPr>
              <a:t>纵向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38528" y="4837175"/>
            <a:ext cx="9326880" cy="530352"/>
          </a:xfrm>
          <a:prstGeom prst="rect">
            <a:avLst/>
          </a:prstGeom>
          <a:solidFill>
            <a:srgbClr val="E7F6ED"/>
          </a:solidFill>
          <a:ln w="10160"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48840" y="4956047"/>
            <a:ext cx="8906256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77749"/>
                </a:solidFill>
                <a:latin typeface="Arial"/>
              </a:rPr>
              <a:t>future gain / recurrence / contamination / cost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650992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733288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最终准确率仍要保留，但它是系统结果，不是唯一的失败解释。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2025 代表工作：回答了什么？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24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078992"/>
            <a:ext cx="2578608" cy="4370832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" y="1078992"/>
            <a:ext cx="2578608" cy="38404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43000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LongMemEval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609343"/>
            <a:ext cx="2249424" cy="3712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长期助手在哪类能力失败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五类任务 + 三阶段分析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奠定系统级 benchmark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缺行动与纵向修复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078992"/>
            <a:ext cx="2578608" cy="4370832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10128" y="1078992"/>
            <a:ext cx="2578608" cy="38404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9856" y="1143000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A-MEM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609343"/>
            <a:ext cx="2249424" cy="3712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怎样自主组织 memory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note + tag + link + evolution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推动 agentic organization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错链和重写会累积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16752" y="1078992"/>
            <a:ext cx="2578608" cy="4370832"/>
          </a:xfrm>
          <a:prstGeom prst="rect">
            <a:avLst/>
          </a:prstGeom>
          <a:solidFill>
            <a:srgbClr val="F1ECF9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16752" y="1078992"/>
            <a:ext cx="2578608" cy="384048"/>
          </a:xfrm>
          <a:prstGeom prst="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143000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Agent Workflow Memory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1609343"/>
            <a:ext cx="2249424" cy="3712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怎样复用成功轨迹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轨迹 → workflow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程序性记忆的重要起点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环境变化导致 false reuse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23376" y="1078992"/>
            <a:ext cx="2578608" cy="4370832"/>
          </a:xfrm>
          <a:prstGeom prst="rect">
            <a:avLst/>
          </a:prstGeom>
          <a:solidFill>
            <a:srgbClr val="F7F8FA"/>
          </a:solidFill>
          <a:ln w="1524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23376" y="1078992"/>
            <a:ext cx="2578608" cy="384048"/>
          </a:xfrm>
          <a:prstGeom prst="rect">
            <a:avLst/>
          </a:prstGeom>
          <a:solidFill>
            <a:srgbClr val="F4A000"/>
          </a:solidFill>
          <a:ln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33103" y="1143000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MemoryOS / HiAgent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7" y="1609343"/>
            <a:ext cx="2249424" cy="3712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怎样管理多时间尺度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STM/MTM/LTM 与 subgoal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强调工作记忆和层次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复杂度不等于可靠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2026 代表工作：回答了什么？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25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" y="1078992"/>
            <a:ext cx="2578608" cy="4370832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3504" y="1078992"/>
            <a:ext cx="2578608" cy="38404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143000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Memory-R1 / AgeMem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1609343"/>
            <a:ext cx="2249424" cy="3712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能否学习 memory operations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PPO/GRPO + step rewards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管理与 policy 开始统一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reward validity 仍是核心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078992"/>
            <a:ext cx="2578608" cy="4370832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310128" y="1078992"/>
            <a:ext cx="2578608" cy="38404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9856" y="1143000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MEM1 / MemAgent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609343"/>
            <a:ext cx="2249424" cy="3712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怎样压缩超长状态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固定大小覆写 memory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显著控制 token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原始证据难恢复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16752" y="1078992"/>
            <a:ext cx="2578608" cy="4370832"/>
          </a:xfrm>
          <a:prstGeom prst="rect">
            <a:avLst/>
          </a:prstGeom>
          <a:solidFill>
            <a:srgbClr val="F1ECF9"/>
          </a:solidFill>
          <a:ln w="1524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16752" y="1078992"/>
            <a:ext cx="2578608" cy="384048"/>
          </a:xfrm>
          <a:prstGeom prst="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143000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AMemGym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1344" y="1609343"/>
            <a:ext cx="2249424" cy="3712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固定历史是否可靠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on-policy 用户模拟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write/read/use 诊断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状态和领域仍较规整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23376" y="1078992"/>
            <a:ext cx="2578608" cy="4370832"/>
          </a:xfrm>
          <a:prstGeom prst="rect">
            <a:avLst/>
          </a:prstGeom>
          <a:solidFill>
            <a:srgbClr val="FCEBEB"/>
          </a:solidFill>
          <a:ln w="1524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23376" y="1078992"/>
            <a:ext cx="2578608" cy="384048"/>
          </a:xfrm>
          <a:prstGeom prst="rect">
            <a:avLst/>
          </a:prstGeom>
          <a:solidFill>
            <a:srgbClr val="B73838"/>
          </a:solidFill>
          <a:ln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33103" y="1143000"/>
            <a:ext cx="235915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StratMem / Mem2Act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87967" y="1609343"/>
            <a:ext cx="2249424" cy="3712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如何适度使用并转化为行动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候选角色 + 工具参数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超越 factual recall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1B1F24"/>
                </a:solidFill>
                <a:latin typeface="Microsoft YaHei"/>
              </a:rPr>
              <a:t>• 尚未覆盖完整 repair 闭环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跨论文共识与仍有争议的地方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26</a:t>
            </a:r>
          </a:p>
        </p:txBody>
      </p:sp>
      <p:sp>
        <p:nvSpPr>
          <p:cNvPr id="4" name="Rectangle 3"/>
          <p:cNvSpPr/>
          <p:nvPr/>
        </p:nvSpPr>
        <p:spPr>
          <a:xfrm>
            <a:off x="676656" y="1078992"/>
            <a:ext cx="5166360" cy="4370832"/>
          </a:xfrm>
          <a:prstGeom prst="rect">
            <a:avLst/>
          </a:prstGeom>
          <a:solidFill>
            <a:srgbClr val="E7F6ED"/>
          </a:solidFill>
          <a:ln w="15240"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1078992"/>
            <a:ext cx="5166360" cy="384048"/>
          </a:xfrm>
          <a:prstGeom prst="rect">
            <a:avLst/>
          </a:prstGeom>
          <a:solidFill>
            <a:srgbClr val="277749"/>
          </a:solidFill>
          <a:ln>
            <a:solidFill>
              <a:srgbClr val="2777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143000"/>
            <a:ext cx="494690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已经形成的共识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1609343"/>
            <a:ext cx="4837176" cy="3712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更多 memory 不一定更好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结构与粒度会改变检索和成本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经验需要抽象，不能只保存原轨迹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memory use 与 retrieval 必须分开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动态环境需要更新和遗忘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系统必须报告质量-成本权衡</a:t>
            </a:r>
          </a:p>
        </p:txBody>
      </p:sp>
      <p:sp>
        <p:nvSpPr>
          <p:cNvPr id="8" name="Rectangle 7"/>
          <p:cNvSpPr/>
          <p:nvPr/>
        </p:nvSpPr>
        <p:spPr>
          <a:xfrm>
            <a:off x="6345936" y="1078992"/>
            <a:ext cx="5166360" cy="4370832"/>
          </a:xfrm>
          <a:prstGeom prst="rect">
            <a:avLst/>
          </a:prstGeom>
          <a:solidFill>
            <a:srgbClr val="FCEBEB"/>
          </a:solidFill>
          <a:ln w="1524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45936" y="1078992"/>
            <a:ext cx="5166360" cy="384048"/>
          </a:xfrm>
          <a:prstGeom prst="rect">
            <a:avLst/>
          </a:prstGeom>
          <a:solidFill>
            <a:srgbClr val="B73838"/>
          </a:solidFill>
          <a:ln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55664" y="1143000"/>
            <a:ext cx="4946904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仍未解决的争议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1609343"/>
            <a:ext cx="4837176" cy="3712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图结构是否真的优于强 reranker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latent compression 能否兼顾可验证性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RL 提升来自 policy 还是更强监督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反思怎样避免错误归因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on-policy benchmark 如何保持可控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安全元数据应由谁写、谁验证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614416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696712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最需要的不是再给 memory 换一个存储介质，而是建立能区分这些解释的实验协议。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当前仍可防守的 Research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27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033271"/>
            <a:ext cx="10881360" cy="1097280"/>
          </a:xfrm>
          <a:prstGeom prst="rect">
            <a:avLst/>
          </a:prstGeom>
          <a:solidFill>
            <a:srgbClr val="FCEBEB"/>
          </a:solidFill>
          <a:ln w="1524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298448"/>
            <a:ext cx="10405872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B73838"/>
                </a:solidFill>
                <a:latin typeface="Microsoft YaHei"/>
              </a:rPr>
              <a:t>不能再声称：只有事实召回、没有更新/遗忘、没有战略使用、没有 memory-to-action、没有过程诊断、没有 RL memory operations。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487168"/>
            <a:ext cx="210312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34F7E"/>
                </a:solidFill>
                <a:latin typeface="Microsoft YaHei"/>
              </a:rPr>
              <a:t>可防守的窄 Gap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862072"/>
            <a:ext cx="10881360" cy="2057400"/>
          </a:xfrm>
          <a:prstGeom prst="rect">
            <a:avLst/>
          </a:prstGeom>
          <a:solidFill>
            <a:srgbClr val="E7F1FB"/>
          </a:solidFill>
          <a:ln w="1778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3200400"/>
            <a:ext cx="10332720" cy="12984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34F7E"/>
                </a:solidFill>
                <a:latin typeface="Microsoft YaHei"/>
              </a:rPr>
              <a:t>在保持 query、world、user goal、requirements 和 tools 不变时，仅改变由历史交互形成的 persistent memory 的覆盖度、时效性、冲突、压缩和授权状态，Agent 是否会调整记忆信任与行动策略；获得权威新证据后，能否修复 memory，使未来相关任务改善且不污染无关任务？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5230368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312664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4F7E"/>
                </a:solidFill>
                <a:latin typeface="Microsoft YaHei"/>
              </a:rPr>
              <a:t>创新不是任务拼盘，而是把 persistent memory state 设为受控因果变量。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未来 2-3 年：方法与评测的预计趋势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28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60704"/>
            <a:ext cx="5230368" cy="4407408"/>
          </a:xfrm>
          <a:prstGeom prst="rect">
            <a:avLst/>
          </a:prstGeom>
          <a:solidFill>
            <a:srgbClr val="E7F1FB"/>
          </a:solidFill>
          <a:ln w="1524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060704"/>
            <a:ext cx="5230368" cy="384048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124712"/>
            <a:ext cx="50109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方法侧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591055"/>
            <a:ext cx="4901183" cy="3749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Memory-native Agent：任务动作 + 记忆动作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显式证据层 + 隐式紧凑状态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跨轨迹经验抽象与适用范围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step / episode / month 多时间尺度学习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成本、时延与风险进入约束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多模态、具身与多 Agent 共享记忆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060704"/>
            <a:ext cx="5230368" cy="4407408"/>
          </a:xfrm>
          <a:prstGeom prst="rect">
            <a:avLst/>
          </a:prstGeom>
          <a:solidFill>
            <a:srgbClr val="E6F6F6"/>
          </a:solidFill>
          <a:ln w="1524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1060704"/>
            <a:ext cx="5230368" cy="384048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124712"/>
            <a:ext cx="5010912" cy="2286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</a:rPr>
              <a:t>评测侧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3952" y="1591055"/>
            <a:ext cx="4901183" cy="3749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静态 QA → 可执行环境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单样本 → matched state family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单次得分 → future utility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aggregate → oracle ladder / attribution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平均风险 → 高风险行动分层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1B1F24"/>
                </a:solidFill>
                <a:latin typeface="Microsoft YaHei"/>
              </a:rPr>
              <a:t>• 自然语言 judge → 确定性状态验证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5632704"/>
            <a:ext cx="10844784" cy="475488"/>
          </a:xfrm>
          <a:prstGeom prst="rect">
            <a:avLst/>
          </a:prstGeom>
          <a:solidFill>
            <a:srgbClr val="F1ECF9"/>
          </a:solidFill>
          <a:ln w="1270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715000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84B96"/>
                </a:solidFill>
                <a:latin typeface="Microsoft YaHei"/>
              </a:rPr>
              <a:t>评价单位将从 question 变成跨会话的 memory episode family。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可选研究切入点：从 Benchmark 到方法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29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0352" y="1078992"/>
          <a:ext cx="11137392" cy="44439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971800"/>
                <a:gridCol w="2907792"/>
                <a:gridCol w="2880360"/>
              </a:tblGrid>
              <a:tr h="740664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方向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一句话问题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潜在贡献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主要风险</a:t>
                      </a:r>
                    </a:p>
                  </a:txBody>
                  <a:tcPr marL="45720" marR="45720" marT="36576" marB="36576" anchor="ctr">
                    <a:solidFill>
                      <a:srgbClr val="234F7E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F24"/>
                          </a:solidFill>
                          <a:latin typeface="Microsoft YaHei"/>
                        </a:rPr>
                        <a:t>Memory-State Intervention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F24"/>
                          </a:solidFill>
                          <a:latin typeface="Microsoft YaHei"/>
                        </a:rPr>
                        <a:t>状态变化是否触发策略变化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F24"/>
                          </a:solidFill>
                          <a:latin typeface="Microsoft YaHei"/>
                        </a:rPr>
                        <a:t>因果、backend-agnostic 评测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F24"/>
                          </a:solidFill>
                          <a:latin typeface="Microsoft YaHei"/>
                        </a:rPr>
                        <a:t>易退化为 RAG 充分性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F24"/>
                          </a:solidFill>
                          <a:latin typeface="Microsoft YaHei"/>
                        </a:rPr>
                        <a:t>Longitudinal Repair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F24"/>
                          </a:solidFill>
                          <a:latin typeface="Microsoft YaHei"/>
                        </a:rPr>
                        <a:t>修复能否带来未来净收益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F24"/>
                          </a:solidFill>
                          <a:latin typeface="Microsoft YaHei"/>
                        </a:rPr>
                        <a:t>闭合 use-repair-future loop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F24"/>
                          </a:solidFill>
                          <a:latin typeface="Microsoft YaHei"/>
                        </a:rPr>
                        <a:t>数据与环境构造较重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F24"/>
                          </a:solidFill>
                          <a:latin typeface="Microsoft YaHei"/>
                        </a:rPr>
                        <a:t>Memory Trust Controller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F24"/>
                          </a:solidFill>
                          <a:latin typeface="Microsoft YaHei"/>
                        </a:rPr>
                        <a:t>何时用、查、验、问、拒绝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F24"/>
                          </a:solidFill>
                          <a:latin typeface="Microsoft YaHei"/>
                        </a:rPr>
                        <a:t>检索后的控制层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F24"/>
                          </a:solidFill>
                          <a:latin typeface="Microsoft YaHei"/>
                        </a:rPr>
                        <a:t>单独分类器可能过薄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F24"/>
                          </a:solidFill>
                          <a:latin typeface="Microsoft YaHei"/>
                        </a:rPr>
                        <a:t>Authority-aware Memory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F24"/>
                          </a:solidFill>
                          <a:latin typeface="Microsoft YaHei"/>
                        </a:rPr>
                        <a:t>来源与授权怎样约束行动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F24"/>
                          </a:solidFill>
                          <a:latin typeface="Microsoft YaHei"/>
                        </a:rPr>
                        <a:t>可信 metadata 一等化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F24"/>
                          </a:solidFill>
                          <a:latin typeface="Microsoft YaHei"/>
                        </a:rPr>
                        <a:t>前沿撞题密集</a:t>
                      </a:r>
                    </a:p>
                  </a:txBody>
                  <a:tcPr marL="45720" marR="45720" marT="36576" marB="36576" anchor="ctr">
                    <a:solidFill>
                      <a:srgbClr val="F7F8FA"/>
                    </a:solidFill>
                  </a:tcPr>
                </a:tc>
              </a:tr>
              <a:tr h="740664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F24"/>
                          </a:solidFill>
                          <a:latin typeface="Microsoft YaHei"/>
                        </a:rPr>
                        <a:t>Budget-aware Evaluation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F24"/>
                          </a:solidFill>
                          <a:latin typeface="Microsoft YaHei"/>
                        </a:rPr>
                        <a:t>同预算下真实收益是多少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F24"/>
                          </a:solidFill>
                          <a:latin typeface="Microsoft YaHei"/>
                        </a:rPr>
                        <a:t>质量-成本-风险 Pareto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B1F24"/>
                          </a:solidFill>
                          <a:latin typeface="Microsoft YaHei"/>
                        </a:rPr>
                        <a:t>单做成本新颖性不足</a:t>
                      </a:r>
                    </a:p>
                  </a:txBody>
                  <a:tcPr marL="45720" marR="4572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58368" y="5650992"/>
            <a:ext cx="10844784" cy="475488"/>
          </a:xfrm>
          <a:prstGeom prst="rect">
            <a:avLst/>
          </a:prstGeom>
          <a:solidFill>
            <a:srgbClr val="E7F1FB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5733288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优先顺序：状态干预 Benchmark → 定位 dominant failure → 再训练 controller / reranker / repairer。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建议执行路线：Benchmark First, Method Second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30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426464"/>
            <a:ext cx="2011680" cy="3090672"/>
          </a:xfrm>
          <a:prstGeom prst="rect">
            <a:avLst/>
          </a:prstGeom>
          <a:solidFill>
            <a:srgbClr val="E7F1FB"/>
          </a:solidFill>
          <a:ln w="1651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88719" y="1170432"/>
            <a:ext cx="694944" cy="694944"/>
          </a:xfrm>
          <a:prstGeom prst="round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353312"/>
            <a:ext cx="51206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084831"/>
            <a:ext cx="1737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34F7E"/>
                </a:solidFill>
                <a:latin typeface="Arial"/>
              </a:rPr>
              <a:t>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788920"/>
            <a:ext cx="1719072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1F24"/>
                </a:solidFill>
                <a:latin typeface="Microsoft YaHei"/>
              </a:rPr>
              <a:t>50-100 个 base tasks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1F24"/>
                </a:solidFill>
                <a:latin typeface="Microsoft YaHei"/>
              </a:rPr>
              <a:t>4-7 个 memory-state variants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23744" y="2743200"/>
            <a:ext cx="28346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07208" y="1426464"/>
            <a:ext cx="2011680" cy="3090672"/>
          </a:xfrm>
          <a:prstGeom prst="rect">
            <a:avLst/>
          </a:prstGeom>
          <a:solidFill>
            <a:srgbClr val="E6F6F6"/>
          </a:solidFill>
          <a:ln w="1651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65576" y="1170432"/>
            <a:ext cx="694944" cy="694944"/>
          </a:xfrm>
          <a:prstGeom prst="round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7016" y="1353312"/>
            <a:ext cx="51206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44368" y="2084831"/>
            <a:ext cx="1737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F7E80"/>
                </a:solidFill>
                <a:latin typeface="Arial"/>
              </a:rPr>
              <a:t>Baselines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2" y="2788920"/>
            <a:ext cx="1719072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1F24"/>
                </a:solidFill>
                <a:latin typeface="Microsoft YaHei"/>
              </a:rPr>
              <a:t>No-memory / full-history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1F24"/>
                </a:solidFill>
                <a:latin typeface="Microsoft YaHei"/>
              </a:rPr>
              <a:t>BM25 / dense / structured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743200"/>
            <a:ext cx="28346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84064" y="1426464"/>
            <a:ext cx="2011680" cy="3090672"/>
          </a:xfrm>
          <a:prstGeom prst="rect">
            <a:avLst/>
          </a:prstGeom>
          <a:solidFill>
            <a:srgbClr val="F1ECF9"/>
          </a:solidFill>
          <a:ln w="1651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742432" y="1170432"/>
            <a:ext cx="694944" cy="694944"/>
          </a:xfrm>
          <a:prstGeom prst="round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33872" y="1353312"/>
            <a:ext cx="51206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2084831"/>
            <a:ext cx="1737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684B96"/>
                </a:solidFill>
                <a:latin typeface="Arial"/>
              </a:rPr>
              <a:t>Oracle Ladder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30368" y="2788920"/>
            <a:ext cx="1719072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1F24"/>
                </a:solidFill>
                <a:latin typeface="Microsoft YaHei"/>
              </a:rPr>
              <a:t>memory / retrieval / diagnosis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1F24"/>
                </a:solidFill>
                <a:latin typeface="Microsoft YaHei"/>
              </a:rPr>
              <a:t>control / execution / repair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77456" y="2743200"/>
            <a:ext cx="28346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920" y="1426464"/>
            <a:ext cx="2011680" cy="3090672"/>
          </a:xfrm>
          <a:prstGeom prst="rect">
            <a:avLst/>
          </a:prstGeom>
          <a:solidFill>
            <a:srgbClr val="F7F8FA"/>
          </a:solidFill>
          <a:ln w="1651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19288" y="1170432"/>
            <a:ext cx="694944" cy="694944"/>
          </a:xfrm>
          <a:prstGeom prst="roundRect">
            <a:avLst/>
          </a:prstGeom>
          <a:solidFill>
            <a:srgbClr val="F4A000"/>
          </a:solidFill>
          <a:ln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0728" y="1353312"/>
            <a:ext cx="51206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80" y="2084831"/>
            <a:ext cx="1737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4A000"/>
                </a:solidFill>
                <a:latin typeface="Arial"/>
              </a:rPr>
              <a:t>Failure Map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4" y="2788920"/>
            <a:ext cx="1719072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1F24"/>
                </a:solidFill>
                <a:latin typeface="Microsoft YaHei"/>
              </a:rPr>
              <a:t>识别 dominant bottleneck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1F24"/>
                </a:solidFill>
                <a:latin typeface="Microsoft YaHei"/>
              </a:rPr>
              <a:t>检查跨模型与跨域稳定性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4312" y="2743200"/>
            <a:ext cx="28346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5C6570"/>
                </a:solidFill>
                <a:latin typeface="Microsoft YaHe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37776" y="1426464"/>
            <a:ext cx="2011680" cy="3090672"/>
          </a:xfrm>
          <a:prstGeom prst="rect">
            <a:avLst/>
          </a:prstGeom>
          <a:solidFill>
            <a:srgbClr val="FCEBEB"/>
          </a:solidFill>
          <a:ln w="1651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296144" y="1170432"/>
            <a:ext cx="694944" cy="694944"/>
          </a:xfrm>
          <a:prstGeom prst="roundRect">
            <a:avLst/>
          </a:prstGeom>
          <a:solidFill>
            <a:srgbClr val="B73838"/>
          </a:solidFill>
          <a:ln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87584" y="1353312"/>
            <a:ext cx="51206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74936" y="2084831"/>
            <a:ext cx="17373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B73838"/>
                </a:solidFill>
                <a:latin typeface="Arial"/>
              </a:rPr>
              <a:t>Method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2788920"/>
            <a:ext cx="1719072" cy="10515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1F24"/>
                </a:solidFill>
                <a:latin typeface="Microsoft YaHei"/>
              </a:rPr>
              <a:t>SFT / DPO 优先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B1F24"/>
                </a:solidFill>
                <a:latin typeface="Microsoft YaHei"/>
              </a:rPr>
              <a:t>必要时小模型 RL → 7B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065776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5148072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四卡 4090 的优势不在于硬训大模型，而在于先用强诊断协议找到值得训练的窄模块。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一个可落地的一阶段方案：MemReadyBench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31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6199632"/>
            <a:ext cx="8961120" cy="2103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20624" y="6208776"/>
            <a:ext cx="8887968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C6570"/>
                </a:solidFill>
                <a:latin typeface="Arial"/>
              </a:rPr>
              <a:t>该图为当前项目方案示意，用于把综述结论落到可执行 benchmark；二阶段训练不在本图内。</a:t>
            </a:r>
          </a:p>
        </p:txBody>
      </p:sp>
      <p:pic>
        <p:nvPicPr>
          <p:cNvPr id="6" name="Picture 5" descr="2026-09-03-memreadybench-stage1-benchmark-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060704"/>
            <a:ext cx="10881360" cy="494690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何时值得从 Benchmark 进入方法训练？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32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024128"/>
            <a:ext cx="2103120" cy="640080"/>
          </a:xfrm>
          <a:prstGeom prst="rect">
            <a:avLst/>
          </a:prstGeom>
          <a:solidFill>
            <a:srgbClr val="234F7E"/>
          </a:solidFill>
          <a:ln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188720"/>
            <a:ext cx="188366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State effect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944368" y="1024128"/>
            <a:ext cx="8339327" cy="640080"/>
          </a:xfrm>
          <a:prstGeom prst="rect">
            <a:avLst/>
          </a:prstGeom>
          <a:solidFill>
            <a:srgbClr val="E7F1FB"/>
          </a:solidFill>
          <a:ln w="1016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179576"/>
            <a:ext cx="782726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34F7E"/>
                </a:solidFill>
                <a:latin typeface="Microsoft YaHei"/>
              </a:rPr>
              <a:t>同一模型在不同 memory state 上出现可重复 policy flip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8" y="1965960"/>
            <a:ext cx="2103120" cy="640080"/>
          </a:xfrm>
          <a:prstGeom prst="rect">
            <a:avLst/>
          </a:prstGeom>
          <a:solidFill>
            <a:srgbClr val="1F7E80"/>
          </a:solidFill>
          <a:ln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130552"/>
            <a:ext cx="188366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Metric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4368" y="1965960"/>
            <a:ext cx="8339327" cy="640080"/>
          </a:xfrm>
          <a:prstGeom prst="rect">
            <a:avLst/>
          </a:prstGeom>
          <a:solidFill>
            <a:srgbClr val="E6F6F6"/>
          </a:solidFill>
          <a:ln w="10160">
            <a:solidFill>
              <a:srgbClr val="1F7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2121408"/>
            <a:ext cx="782726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7E80"/>
                </a:solidFill>
                <a:latin typeface="Microsoft YaHei"/>
              </a:rPr>
              <a:t>episode accuracy 明显高估 family-level performance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9808" y="2907792"/>
            <a:ext cx="2103120" cy="640080"/>
          </a:xfrm>
          <a:prstGeom prst="rect">
            <a:avLst/>
          </a:prstGeom>
          <a:solidFill>
            <a:srgbClr val="684B96"/>
          </a:solidFill>
          <a:ln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3072384"/>
            <a:ext cx="188366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Attribution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907792"/>
            <a:ext cx="8339327" cy="640080"/>
          </a:xfrm>
          <a:prstGeom prst="rect">
            <a:avLst/>
          </a:prstGeom>
          <a:solidFill>
            <a:srgbClr val="F1ECF9"/>
          </a:solidFill>
          <a:ln w="10160">
            <a:solidFill>
              <a:srgbClr val="684B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3063240"/>
            <a:ext cx="782726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684B96"/>
                </a:solidFill>
                <a:latin typeface="Microsoft YaHei"/>
              </a:rPr>
              <a:t>oracle ladder 定位到一两个可训练模块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3849624"/>
            <a:ext cx="2103120" cy="640080"/>
          </a:xfrm>
          <a:prstGeom prst="rect">
            <a:avLst/>
          </a:prstGeom>
          <a:solidFill>
            <a:srgbClr val="F4A000"/>
          </a:solidFill>
          <a:ln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" y="4014215"/>
            <a:ext cx="188366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Repair value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44368" y="3849624"/>
            <a:ext cx="8339327" cy="640080"/>
          </a:xfrm>
          <a:prstGeom prst="rect">
            <a:avLst/>
          </a:prstGeom>
          <a:solidFill>
            <a:srgbClr val="F7F8FA"/>
          </a:solidFill>
          <a:ln w="10160">
            <a:solidFill>
              <a:srgbClr val="F4A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4005072"/>
            <a:ext cx="782726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4A000"/>
                </a:solidFill>
                <a:latin typeface="Microsoft YaHei"/>
              </a:rPr>
              <a:t>相关任务收益为正，无关任务污染接近零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8" y="4791456"/>
            <a:ext cx="2103120" cy="640080"/>
          </a:xfrm>
          <a:prstGeom prst="rect">
            <a:avLst/>
          </a:prstGeom>
          <a:solidFill>
            <a:srgbClr val="B73838"/>
          </a:solidFill>
          <a:ln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" y="4956048"/>
            <a:ext cx="188366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Non-trivial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44368" y="4791456"/>
            <a:ext cx="8339327" cy="640080"/>
          </a:xfrm>
          <a:prstGeom prst="rect">
            <a:avLst/>
          </a:prstGeom>
          <a:solidFill>
            <a:srgbClr val="FCEBEB"/>
          </a:solidFill>
          <a:ln w="10160">
            <a:solidFill>
              <a:srgbClr val="B738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4946904"/>
            <a:ext cx="782726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73838"/>
                </a:solidFill>
                <a:latin typeface="Microsoft YaHei"/>
              </a:rPr>
              <a:t>简单 prompt、更多 Top-k 或 full history 不能修复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5715000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97296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34F7E"/>
                </a:solidFill>
                <a:latin typeface="Microsoft YaHei"/>
              </a:rPr>
              <a:t>先让数据证明该训练什么，再决定是 reranker、verifier、controller 还是 repairer。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结论：Agent Memory 的竞争焦点已经改变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70432"/>
            <a:ext cx="123444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5C6570"/>
                </a:solidFill>
                <a:latin typeface="Microsoft YaHei"/>
              </a:rPr>
              <a:t>过去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719072"/>
            <a:ext cx="2880360" cy="3291840"/>
          </a:xfrm>
          <a:prstGeom prst="rect">
            <a:avLst/>
          </a:prstGeom>
          <a:solidFill>
            <a:srgbClr val="F7F8FA"/>
          </a:solidFill>
          <a:ln w="13970">
            <a:solidFill>
              <a:srgbClr val="5C65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0704" y="2240280"/>
            <a:ext cx="2084831" cy="21031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5C6570"/>
                </a:solidFill>
                <a:latin typeface="Microsoft YaHei"/>
              </a:rPr>
              <a:t>存更多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5C6570"/>
                </a:solidFill>
                <a:latin typeface="Microsoft YaHei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5C6570"/>
                </a:solidFill>
                <a:latin typeface="Microsoft YaHei"/>
              </a:rPr>
              <a:t>召回更多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5C6570"/>
                </a:solidFill>
                <a:latin typeface="Microsoft YaHei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5C6570"/>
                </a:solidFill>
                <a:latin typeface="Microsoft YaHei"/>
              </a:rPr>
              <a:t>回答更准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2898648"/>
            <a:ext cx="658368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>
                <a:solidFill>
                  <a:srgbClr val="234F7E"/>
                </a:solidFill>
                <a:latin typeface="Microsoft YaHei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0016" y="1170432"/>
            <a:ext cx="2148840" cy="4023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34F7E"/>
                </a:solidFill>
                <a:latin typeface="Microsoft YaHei"/>
              </a:rPr>
              <a:t>现在与未来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8848" y="1719072"/>
            <a:ext cx="7022592" cy="3291840"/>
          </a:xfrm>
          <a:prstGeom prst="rect">
            <a:avLst/>
          </a:prstGeom>
          <a:solidFill>
            <a:srgbClr val="E7F1FB"/>
          </a:solidFill>
          <a:ln w="1651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82896" y="2139696"/>
            <a:ext cx="6254496" cy="23225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34F7E"/>
                </a:solidFill>
                <a:latin typeface="Microsoft YaHei"/>
              </a:rPr>
              <a:t>何时可信   何时需要新证据   何时可以行动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34F7E"/>
                </a:solidFill>
                <a:latin typeface="Microsoft YaHei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34F7E"/>
                </a:solidFill>
                <a:latin typeface="Microsoft YaHei"/>
              </a:rPr>
              <a:t>如何更新与失效   如何恢复来源与冲突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34F7E"/>
                </a:solidFill>
                <a:latin typeface="Microsoft YaHei"/>
              </a:rPr>
              <a:t/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34F7E"/>
                </a:solidFill>
                <a:latin typeface="Microsoft YaHei"/>
              </a:rPr>
              <a:t>修复是否改善未来任务，并控制成本与风险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413248"/>
            <a:ext cx="10844784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234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5495544"/>
            <a:ext cx="1051560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234F7E"/>
                </a:solidFill>
                <a:latin typeface="Microsoft YaHei"/>
              </a:rPr>
              <a:t>Memory 不再只是存储组件，而是 Agent 的持续状态、控制策略和责任边界。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参考文献（一）：综述与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30759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298448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Hu et al. Memory in the Age of AI Agents. arXiv:2512.13564, 2025/2026.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203704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194560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Luo et al. From Storage to Experience. ACL Findings,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3099816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090672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Wu et al. LongMemEval. ICLR, 2025.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995928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[4]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986784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Xu et al. A-MEM. NeurIPS Main, 2025.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4892040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[5]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882896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Wang et al. Agent Workflow Memory. ICML, 2025.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578815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[6]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5779008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Hu et al. HiAgent. ACL Long, 2025.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30759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[7]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1298448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R2D2: Reflective Agentic Memory. ACL Long, 2025.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203704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[8]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194560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In Prospect and Retrospect. ACL Long, 2025.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099816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[9]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090672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Contextual Experience Replay. ACL Long, 2025.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995928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[10]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3986784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Tan et al. MemBench. ACL Findings, 2025.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892040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[11]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882896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Ong et al. THEANINE. NAACL Long, 2025.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78815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[12]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5779008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Kang et al. MemoryOS. EMNLP Main, 2025.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参考文献（二）：2026 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30759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298448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Yu et al. Agentic Memory (AgeMem). ACL Long,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203704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194560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Yan et al. Memory-R1. ACL Long,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3099816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090672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Zhang et al. LightMem. ACL Long,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995928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[4]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986784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MAGMA. ACL Long, 2026.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4892040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[5]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882896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APEX-MEM. ACL Long, 2026.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578815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[6]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5779008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MemSearcher. ACL Findings, 2026.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30759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[7]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1298448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MEM1. ICLR, 2026.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203704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[8]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194560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MemAgent. ICLR Oral, 2026.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099816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[9]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090672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Sculptor. ICLR, 2026.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995928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[10]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3986784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AdaMEM. ICML, 2026.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892040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[11]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882896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MRAgent. ICML, 2026.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78815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[12]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5779008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MemoPilot / BudgetMem. ICML, 2026.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71016" y="164592"/>
            <a:ext cx="9601200" cy="53035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B1F24"/>
                </a:solidFill>
                <a:latin typeface="Microsoft YaHei"/>
              </a:rPr>
              <a:t>参考文献（三）：2026 Benchmark 与治理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5680" y="6355080"/>
            <a:ext cx="43891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570"/>
                </a:solidFill>
                <a:latin typeface="Arial"/>
              </a:rPr>
              <a:t>36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30759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[1]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1298448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AMemGym. ICLR,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203704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[2]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194560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MemoryAgentBench. ICLR,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3099816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[3]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3090672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Wu et al. StratMem-Bench. ACL Long, 2026.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3995928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[4]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986784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Shen et al. Mem2ActBench. ACL Long, 2026.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4892040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[5]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882896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From Recall to Forgetting (Memora). ACL Findings, 2026.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578815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[6]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5779008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Grounding Agent Memory in Contextual Intent. ACL Findings, 2026.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30759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[7]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1298448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MEXTRA. ACL Long, 2025.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203704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[8]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2194560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Topology Matters. ACL Findings, 2026.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099816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[9]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090672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MemoryArena. arXiv:2602.16313, 2026.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995928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[10]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3986784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MemTrace. arXiv:2605.28732, 2026.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892040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[11]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4882896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MobileMem. arXiv:2608.13606, 2026.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788152"/>
            <a:ext cx="310896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34F7E"/>
                </a:solidFill>
                <a:latin typeface="Arial"/>
              </a:rPr>
              <a:t>[12]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5779008"/>
            <a:ext cx="5230368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1B1F24"/>
                </a:solidFill>
                <a:latin typeface="Arial"/>
              </a:rPr>
              <a:t>SafeCommit / AuthMem-Bench / TANGLE. arXiv, 2026.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623560" y="2578608"/>
            <a:ext cx="5989320" cy="7498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</a:rPr>
              <a:t>谢谢！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3401568"/>
            <a:ext cx="5669280" cy="51206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Microsoft YaHei"/>
              </a:rPr>
              <a:t>Agent Memory：从“记住什么”到“何时可信、如何行动、怎样修复”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ZlYzRlNjdkZTEzZTk5OTgwNjY5OTIyODZkM2FhNTkifQ==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楷体"/>
        <a:cs typeface=""/>
      </a:majorFont>
      <a:minorFont>
        <a:latin typeface="Times New Roman"/>
        <a:ea typeface="楷体"/>
        <a:cs typeface=""/>
      </a:minorFont>
    </a:fontScheme>
    <a:fmtScheme name="细微固体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ln w="12700">
          <a:miter lim="400000"/>
        </a:ln>
      </a:spPr>
      <a:bodyPr wrap="square" lIns="45719" rIns="45719">
        <a:spAutoFit/>
      </a:bodyPr>
      <a:lstStyle>
        <a:defPPr algn="l">
          <a:defRPr sz="2000" b="1" dirty="0">
            <a:solidFill>
              <a:schemeClr val="tx1"/>
            </a:solidFill>
            <a:latin typeface="Adobe 黑体 Std R"/>
            <a:ea typeface="Adobe 黑体 Std R"/>
            <a:cs typeface="Adobe 黑体 Std R"/>
            <a:sym typeface="Adobe 黑体 Std R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1854</TotalTime>
  <Words>896</Words>
  <Application>Microsoft Office PowerPoint</Application>
  <PresentationFormat>宽屏</PresentationFormat>
  <Paragraphs>70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Adobe 黑体 Std R</vt:lpstr>
      <vt:lpstr>等线</vt:lpstr>
      <vt:lpstr>等线 Light</vt:lpstr>
      <vt:lpstr>黑体</vt:lpstr>
      <vt:lpstr>楷体</vt:lpstr>
      <vt:lpstr>宋体</vt:lpstr>
      <vt:lpstr>Arial</vt:lpstr>
      <vt:lpstr>Calibri</vt:lpstr>
      <vt:lpstr>Impact</vt:lpstr>
      <vt:lpstr>Times New Roman</vt:lpstr>
      <vt:lpstr>Wingdings</vt:lpstr>
      <vt:lpstr>1_Office 主题</vt:lpstr>
      <vt:lpstr>20260321进展汇报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熙润 魏</cp:lastModifiedBy>
  <cp:revision>778</cp:revision>
  <cp:lastPrinted>2022-07-23T06:32:00Z</cp:lastPrinted>
  <dcterms:created xsi:type="dcterms:W3CDTF">2024-10-10T02:06:00Z</dcterms:created>
  <dcterms:modified xsi:type="dcterms:W3CDTF">2026-09-03T15:38:22Z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C63D499CBFA8412BBFD94993171443F4_13</vt:lpwstr>
  </property>
  <property fmtid="{D5CDD505-2E9C-101B-9397-08002B2CF9AE}" pid="3" name="KSOProductBuildVer">
    <vt:lpwstr>2052-12.1.0.24657</vt:lpwstr>
  </property>
</Properties>
</file>