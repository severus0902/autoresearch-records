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9"/>
    <p:sldId id="264" r:id="rId8"/>
    <p:sldId id="265" r:id="rId7"/>
    <p:sldId id="266" r:id="rId6"/>
    <p:sldId id="267" r:id="rId5"/>
    <p:sldId id="268" r:id="rId4"/>
    <p:sldId id="269" r:id="rId3"/>
    <p:sldId id="270" r:id="rId2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</p:sldIdLst>
  <p:sldSz cx="12192000" cy="6858000"/>
  <p:notesSz cx="7104063" cy="10234613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SQ" initials="ZS" lastIdx="20" clrIdx="0"/>
  <p:cmAuthor id="2" name="Administrator" initials="A" lastIdx="2" clrIdx="1"/>
  <p:cmAuthor id="3" name="吴 亦珂" initials="吴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F497D"/>
    <a:srgbClr val="FFF2CC"/>
    <a:srgbClr val="C9E6F1"/>
    <a:srgbClr val="DBF1CE"/>
    <a:srgbClr val="D4E0F9"/>
    <a:srgbClr val="071F65"/>
    <a:srgbClr val="F6BB00"/>
    <a:srgbClr val="BD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2805" autoAdjust="0"/>
  </p:normalViewPr>
  <p:slideViewPr>
    <p:cSldViewPr showGuides="1">
      <p:cViewPr varScale="1">
        <p:scale>
          <a:sx n="74" d="100"/>
          <a:sy n="74" d="100"/>
        </p:scale>
        <p:origin x="82" y="2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8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35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fld id="{9917FF82-BF6E-4CF3-9BC5-B117A23C0B8B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fld id="{C1F7C08F-D52A-499E-A227-BAB2A2F122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47210" y="4861442"/>
            <a:ext cx="5209646" cy="4605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6102" y="1844823"/>
            <a:ext cx="9144000" cy="1548173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548336" y="3933056"/>
            <a:ext cx="4427984" cy="57606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汇报人：</a:t>
            </a:r>
          </a:p>
        </p:txBody>
      </p:sp>
      <p:sp>
        <p:nvSpPr>
          <p:cNvPr id="23" name="直接连接符 16"/>
          <p:cNvSpPr/>
          <p:nvPr userDrawn="1"/>
        </p:nvSpPr>
        <p:spPr>
          <a:xfrm>
            <a:off x="1376102" y="3573016"/>
            <a:ext cx="9171588" cy="0"/>
          </a:xfrm>
          <a:prstGeom prst="line">
            <a:avLst/>
          </a:prstGeom>
          <a:ln w="28575">
            <a:solidFill>
              <a:srgbClr val="3B3838"/>
            </a:solidFill>
            <a:miter/>
          </a:ln>
        </p:spPr>
        <p:txBody>
          <a:bodyPr lIns="45719" rIns="45719"/>
          <a:lstStyle/>
          <a:p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1424" y="674380"/>
            <a:ext cx="10988093" cy="457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814820" y="821851"/>
            <a:ext cx="10377180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3499776" y="6237312"/>
            <a:ext cx="5192447" cy="400110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0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278349" y="271432"/>
            <a:ext cx="1210787" cy="12133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  <a:headEnd/>
            <a:tailEnd/>
          </a:ln>
        </p:spPr>
      </p:pic>
      <p:sp>
        <p:nvSpPr>
          <p:cNvPr id="21" name="平行四边形 20"/>
          <p:cNvSpPr/>
          <p:nvPr userDrawn="1"/>
        </p:nvSpPr>
        <p:spPr>
          <a:xfrm>
            <a:off x="9959911" y="1383388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9568735" y="1223108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9634158" y="240164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 flipH="1">
            <a:off x="9926169" y="327129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 rot="2100000">
            <a:off x="9776972" y="649458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7" name="椭圆 26"/>
          <p:cNvSpPr/>
          <p:nvPr userDrawn="1"/>
        </p:nvSpPr>
        <p:spPr>
          <a:xfrm>
            <a:off x="9408368" y="923917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8" name="椭圆 27"/>
          <p:cNvSpPr/>
          <p:nvPr userDrawn="1"/>
        </p:nvSpPr>
        <p:spPr>
          <a:xfrm flipH="1">
            <a:off x="9700379" y="1010882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 rot="17160000">
            <a:off x="9482134" y="729367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08946" y="977141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31" name="椭圆 30"/>
          <p:cNvSpPr/>
          <p:nvPr userDrawn="1"/>
        </p:nvSpPr>
        <p:spPr>
          <a:xfrm>
            <a:off x="10255679" y="663819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2" name="椭圆 31"/>
          <p:cNvSpPr/>
          <p:nvPr userDrawn="1"/>
        </p:nvSpPr>
        <p:spPr>
          <a:xfrm flipH="1">
            <a:off x="10547690" y="750784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 rot="20520000">
            <a:off x="9761327" y="949176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18402" y="836712"/>
            <a:ext cx="1755195" cy="648072"/>
          </a:xfrm>
          <a:prstGeom prst="rect">
            <a:avLst/>
          </a:prstGeom>
        </p:spPr>
        <p:txBody>
          <a:bodyPr anchor="b"/>
          <a:lstStyle>
            <a:lvl1pPr algn="l">
              <a:defRPr sz="4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目  录</a:t>
            </a:r>
          </a:p>
        </p:txBody>
      </p:sp>
      <p:sp>
        <p:nvSpPr>
          <p:cNvPr id="50" name="矩形 49"/>
          <p:cNvSpPr/>
          <p:nvPr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1" name="平行四边形 50"/>
          <p:cNvSpPr/>
          <p:nvPr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椭圆 53"/>
          <p:cNvSpPr/>
          <p:nvPr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0" name="矩形 59"/>
          <p:cNvSpPr/>
          <p:nvPr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椭圆 61"/>
          <p:cNvSpPr/>
          <p:nvPr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774440" y="6298981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65" name="图片 3" descr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7"/>
          <p:cNvSpPr/>
          <p:nvPr userDrawn="1"/>
        </p:nvSpPr>
        <p:spPr>
          <a:xfrm rot="16200000">
            <a:off x="7305290" y="-190466"/>
            <a:ext cx="2534492" cy="7238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4502" y="0"/>
                </a:lnTo>
                <a:lnTo>
                  <a:pt x="1709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任意多边形 5"/>
          <p:cNvSpPr/>
          <p:nvPr userDrawn="1"/>
        </p:nvSpPr>
        <p:spPr>
          <a:xfrm>
            <a:off x="-101744" y="2276872"/>
            <a:ext cx="5054814" cy="2282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897"/>
                </a:lnTo>
                <a:lnTo>
                  <a:pt x="21600" y="3879"/>
                </a:lnTo>
                <a:lnTo>
                  <a:pt x="0" y="0"/>
                </a:lnTo>
                <a:close/>
              </a:path>
            </a:pathLst>
          </a:custGeom>
          <a:solidFill>
            <a:srgbClr val="F6BB00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8" name="图片 1" descr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7" y="1948519"/>
            <a:ext cx="2215952" cy="21915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矩形 8"/>
          <p:cNvSpPr/>
          <p:nvPr userDrawn="1"/>
        </p:nvSpPr>
        <p:spPr>
          <a:xfrm>
            <a:off x="46800" y="61892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551384" y="72866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9959911" y="128332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568735" y="112304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634158" y="14010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26169" y="22706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2100000">
            <a:off x="9776972" y="54939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9408368" y="82385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 flipH="1">
            <a:off x="9700379" y="91081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 rot="17160000">
            <a:off x="9482134" y="62930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9908946" y="87707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10255679" y="56375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1" name="椭圆 20"/>
          <p:cNvSpPr/>
          <p:nvPr userDrawn="1"/>
        </p:nvSpPr>
        <p:spPr>
          <a:xfrm flipH="1">
            <a:off x="10547690" y="65072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 rot="20520000">
            <a:off x="9761327" y="84911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3000441" y="6198735"/>
            <a:ext cx="6191118" cy="461665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055062" y="3523960"/>
            <a:ext cx="1366044" cy="437851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Part</a:t>
            </a:r>
            <a:endParaRPr kumimoji="0" lang="en-US" altLang="zh-CN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Adobe 黑体 Std R"/>
              <a:sym typeface="Adobe 黑体 Std R"/>
            </a:endParaRPr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3689796" y="3066760"/>
            <a:ext cx="1366044" cy="914400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1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6035338" y="3220594"/>
            <a:ext cx="1750685" cy="52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911424" y="9932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idx="1"/>
          </p:nvPr>
        </p:nvSpPr>
        <p:spPr>
          <a:xfrm>
            <a:off x="911424" y="2438900"/>
            <a:ext cx="10515600" cy="3875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7" name="平行四边形 6"/>
          <p:cNvSpPr/>
          <p:nvPr userDrawn="1"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774440" y="6445076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1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45838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105103" y="10080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95247" y="8269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47317" y="446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79727" y="1138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60982" y="3703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67612" y="5888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900022" y="6580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726322" y="4339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030897" y="6541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48530" y="6089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矩形 16"/>
          <p:cNvSpPr/>
          <p:nvPr userDrawn="1"/>
        </p:nvSpPr>
        <p:spPr>
          <a:xfrm>
            <a:off x="1219953" y="52810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41982" y="3818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74392" y="4510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0150783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40927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892997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0125407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006662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9713292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9945702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9772002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076577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387662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0620072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9994210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-大面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069995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60139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12209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44619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25874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32504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864914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691214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995789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06874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39284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13422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 userDrawn="1"/>
        </p:nvSpPr>
        <p:spPr>
          <a:xfrm>
            <a:off x="3651598" y="6289238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40" name="任意多边形 6"/>
          <p:cNvSpPr/>
          <p:nvPr/>
        </p:nvSpPr>
        <p:spPr>
          <a:xfrm>
            <a:off x="8147909" y="1716433"/>
            <a:ext cx="4122553" cy="4184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57" y="11120"/>
                </a:moveTo>
                <a:lnTo>
                  <a:pt x="9095" y="11200"/>
                </a:lnTo>
                <a:lnTo>
                  <a:pt x="21600" y="0"/>
                </a:lnTo>
                <a:lnTo>
                  <a:pt x="21356" y="18080"/>
                </a:lnTo>
                <a:lnTo>
                  <a:pt x="0" y="21600"/>
                </a:lnTo>
                <a:lnTo>
                  <a:pt x="1056" y="17200"/>
                </a:lnTo>
                <a:lnTo>
                  <a:pt x="9338" y="10880"/>
                </a:lnTo>
                <a:lnTo>
                  <a:pt x="9257" y="11120"/>
                </a:lnTo>
                <a:close/>
              </a:path>
            </a:pathLst>
          </a:custGeom>
          <a:solidFill>
            <a:srgbClr val="1F497D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1" name="矩形 13"/>
          <p:cNvSpPr/>
          <p:nvPr/>
        </p:nvSpPr>
        <p:spPr>
          <a:xfrm rot="15778716">
            <a:off x="9553773" y="4299863"/>
            <a:ext cx="1405177" cy="174441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2" name="矩形 14"/>
          <p:cNvSpPr/>
          <p:nvPr/>
        </p:nvSpPr>
        <p:spPr>
          <a:xfrm rot="20391046">
            <a:off x="8563822" y="5408665"/>
            <a:ext cx="1807308" cy="104850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3" name="任意多边形 8"/>
          <p:cNvSpPr/>
          <p:nvPr userDrawn="1"/>
        </p:nvSpPr>
        <p:spPr>
          <a:xfrm>
            <a:off x="8147909" y="5095065"/>
            <a:ext cx="2107770" cy="805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8" y="0"/>
                </a:moveTo>
                <a:lnTo>
                  <a:pt x="0" y="21600"/>
                </a:lnTo>
                <a:lnTo>
                  <a:pt x="21600" y="0"/>
                </a:lnTo>
                <a:lnTo>
                  <a:pt x="1588" y="0"/>
                </a:lnTo>
                <a:close/>
              </a:path>
            </a:pathLst>
          </a:custGeom>
          <a:solidFill>
            <a:srgbClr val="F6BB00">
              <a:alpha val="9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0" name="Line"/>
          <p:cNvSpPr/>
          <p:nvPr/>
        </p:nvSpPr>
        <p:spPr>
          <a:xfrm>
            <a:off x="-298672" y="1762930"/>
            <a:ext cx="10554351" cy="333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978" y="1005"/>
                </a:lnTo>
                <a:lnTo>
                  <a:pt x="6978" y="3215"/>
                </a:lnTo>
                <a:lnTo>
                  <a:pt x="21093" y="3215"/>
                </a:lnTo>
                <a:lnTo>
                  <a:pt x="21600" y="21600"/>
                </a:lnTo>
                <a:lnTo>
                  <a:pt x="4314" y="21299"/>
                </a:lnTo>
                <a:lnTo>
                  <a:pt x="4314" y="19792"/>
                </a:lnTo>
                <a:lnTo>
                  <a:pt x="127" y="18988"/>
                </a:lnTo>
              </a:path>
            </a:pathLst>
          </a:custGeom>
          <a:solidFill>
            <a:srgbClr val="1F497D"/>
          </a:solidFill>
          <a:ln w="12700" cap="flat">
            <a:solidFill>
              <a:srgbClr val="42719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1" name="Text"/>
          <p:cNvSpPr txBox="1"/>
          <p:nvPr/>
        </p:nvSpPr>
        <p:spPr>
          <a:xfrm>
            <a:off x="-298672" y="3244333"/>
            <a:ext cx="105543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dirty="0">
                <a:ea typeface="楷体" panose="02010609060101010101" pitchFamily="49" charset="-122"/>
              </a:rPr>
              <a:t>   </a:t>
            </a:r>
          </a:p>
        </p:txBody>
      </p:sp>
      <p:sp>
        <p:nvSpPr>
          <p:cNvPr id="48" name="矩形 12"/>
          <p:cNvSpPr/>
          <p:nvPr/>
        </p:nvSpPr>
        <p:spPr>
          <a:xfrm rot="16200000">
            <a:off x="1950003" y="3453336"/>
            <a:ext cx="2573116" cy="266703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49" name="图片 1" descr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4" y="2350228"/>
            <a:ext cx="1867031" cy="1861853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46" name="任意多边形 9"/>
          <p:cNvSpPr/>
          <p:nvPr/>
        </p:nvSpPr>
        <p:spPr>
          <a:xfrm>
            <a:off x="1794391" y="4816095"/>
            <a:ext cx="1308818" cy="25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387"/>
                </a:lnTo>
                <a:lnTo>
                  <a:pt x="341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6BB0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800" y="66746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1384" y="77720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平行四边形 54"/>
          <p:cNvSpPr/>
          <p:nvPr/>
        </p:nvSpPr>
        <p:spPr>
          <a:xfrm>
            <a:off x="9959911" y="133186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568735" y="117158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634158" y="18864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椭圆 57"/>
          <p:cNvSpPr/>
          <p:nvPr/>
        </p:nvSpPr>
        <p:spPr>
          <a:xfrm flipH="1">
            <a:off x="9926169" y="27560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 rot="2100000">
            <a:off x="9776972" y="59793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9408368" y="87239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 flipH="1">
            <a:off x="9700379" y="95935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 rot="17160000">
            <a:off x="9482134" y="67784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908946" y="92561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4" name="椭圆 63"/>
          <p:cNvSpPr/>
          <p:nvPr/>
        </p:nvSpPr>
        <p:spPr>
          <a:xfrm>
            <a:off x="10255679" y="61229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5" name="椭圆 64"/>
          <p:cNvSpPr/>
          <p:nvPr/>
        </p:nvSpPr>
        <p:spPr>
          <a:xfrm flipH="1">
            <a:off x="10547690" y="69926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6" name="矩形 65"/>
          <p:cNvSpPr/>
          <p:nvPr/>
        </p:nvSpPr>
        <p:spPr>
          <a:xfrm rot="20520000">
            <a:off x="9761327" y="89765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7" name="文本框 10"/>
          <p:cNvSpPr txBox="1"/>
          <p:nvPr userDrawn="1"/>
        </p:nvSpPr>
        <p:spPr>
          <a:xfrm>
            <a:off x="3752206" y="3248797"/>
            <a:ext cx="5881870" cy="81047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indent="71755">
              <a:defRPr sz="5400" b="1" spc="7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>
              <a:lnSpc>
                <a:spcPts val="5600"/>
              </a:lnSpc>
              <a:spcAft>
                <a:spcPts val="600"/>
              </a:spcAft>
            </a:pPr>
            <a:r>
              <a:rPr lang="zh-CN" altLang="en-US" sz="4800" b="1" dirty="0">
                <a:latin typeface="楷体" panose="02010609060101010101" pitchFamily="49" charset="-122"/>
                <a:ea typeface="楷体" panose="02010609060101010101" pitchFamily="49" charset="-122"/>
              </a:rPr>
              <a:t>请各位批评指正！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Agent Memory 入门综述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定义、系统、方法、评测与发展趋势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3931920"/>
            <a:ext cx="57150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从“保存聊天记录”到“管理可持续的 Agent 状态”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599432"/>
            <a:ext cx="5715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面向初学者 · 文献核验截止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看完这份综述，你应该能回答五个问题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15568"/>
            <a:ext cx="512064" cy="512064"/>
          </a:xfrm>
          <a:prstGeom prst="round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225295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15568"/>
            <a:ext cx="10058400" cy="512064"/>
          </a:xfrm>
          <a:prstGeom prst="rect">
            <a:avLst/>
          </a:prstGeom>
          <a:solidFill>
            <a:srgbClr val="E7F1FB"/>
          </a:solidFill>
          <a:ln w="1143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1216152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216152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LLM 有上下文，为何还需要长期记忆？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9967"/>
            <a:ext cx="512064" cy="512064"/>
          </a:xfrm>
          <a:prstGeom prst="round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39696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29967"/>
            <a:ext cx="10058400" cy="512064"/>
          </a:xfrm>
          <a:prstGeom prst="rect">
            <a:avLst/>
          </a:prstGeom>
          <a:solidFill>
            <a:srgbClr val="E6F6F6"/>
          </a:solidFill>
          <a:ln w="1143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130551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E80"/>
                </a:solidFill>
                <a:latin typeface="Microsoft YaHei"/>
              </a:rPr>
              <a:t>记忆是什么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130551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哪些状态属于 Agent Memory，哪些只是 RAG？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44368"/>
            <a:ext cx="512064" cy="512064"/>
          </a:xfrm>
          <a:prstGeom prst="round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054096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944368"/>
            <a:ext cx="10058400" cy="512064"/>
          </a:xfrm>
          <a:prstGeom prst="rect">
            <a:avLst/>
          </a:prstGeom>
          <a:solidFill>
            <a:srgbClr val="F1ECF9"/>
          </a:solidFill>
          <a:ln w="1143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3044951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84B96"/>
                </a:solidFill>
                <a:latin typeface="Microsoft YaHei"/>
              </a:rPr>
              <a:t>系统怎么做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044951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如何形成、组织、检索、使用、更新与治理？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12064" cy="512064"/>
          </a:xfrm>
          <a:prstGeom prst="round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968496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858768"/>
            <a:ext cx="10058400" cy="512064"/>
          </a:xfrm>
          <a:prstGeom prst="rect">
            <a:avLst/>
          </a:prstGeom>
          <a:solidFill>
            <a:srgbClr val="F7F8FA"/>
          </a:solidFill>
          <a:ln w="1143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6192" y="3959352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A000"/>
                </a:solidFill>
                <a:latin typeface="Microsoft YaHei"/>
              </a:rPr>
              <a:t>怎样评测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959352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从事实召回到工具行动，指标如何演化？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773168"/>
            <a:ext cx="512064" cy="512064"/>
          </a:xfrm>
          <a:prstGeom prst="round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882896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773168"/>
            <a:ext cx="10058400" cy="512064"/>
          </a:xfrm>
          <a:prstGeom prst="rect">
            <a:avLst/>
          </a:prstGeom>
          <a:solidFill>
            <a:srgbClr val="FCEBEB"/>
          </a:solidFill>
          <a:ln w="1143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4873752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未来往哪走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873752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学习型策略、在线交互、可信与成本为何重要？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7900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6130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主线：Why → What → How → Evaluation →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为什么普通 LLM 不等于有记忆的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3108960" cy="411480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310896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2471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Session A：过去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591055"/>
            <a:ext cx="2779776" cy="3456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用户：我对花生过敏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模型：收到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会话结束后，信息可能离开当前上下文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4487" y="2761488"/>
            <a:ext cx="4754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060704"/>
            <a:ext cx="3108960" cy="411480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1060704"/>
            <a:ext cx="310896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12471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Session B：未来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91055"/>
            <a:ext cx="2779776" cy="3456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用户：帮我订晚餐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当前问题没有再次说明过敏信息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Agent 仍需恢复并使用历史约束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2761488"/>
            <a:ext cx="4754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060704"/>
            <a:ext cx="3200400" cy="411480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060704"/>
            <a:ext cx="3200400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1124712"/>
            <a:ext cx="29809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真正的挑战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591055"/>
            <a:ext cx="2871216" cy="3456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写入：值得长期保存吗？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读取：现在仍有效吗？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行动：证据足够下单吗？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更新：新信息与旧信息冲突怎么办？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上下文解决“现在看见什么”；Memory 解决“历史怎样成为未来可用状态”。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Agent Memory 的工作定义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Hu et al., Memory in the Age of AI Agents, arXiv:2512.13564.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005840"/>
            <a:ext cx="10698480" cy="1170432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25880"/>
            <a:ext cx="101315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4F7E"/>
                </a:solidFill>
                <a:latin typeface="Microsoft YaHei"/>
              </a:rPr>
              <a:t>Agent Memory 是由历史交互形成、跨当前上下文或会话持续存在，并在未来推理、规划和行动中被选择性读写与更新的状态。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542032"/>
            <a:ext cx="3246120" cy="245059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542032"/>
            <a:ext cx="324612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06039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持久性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2916936" cy="1792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跨 turn / session / task 保留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不只依赖当前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状态可以有版本和生命周期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2542032"/>
            <a:ext cx="3246120" cy="245059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542032"/>
            <a:ext cx="324612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39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能动性 Agency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072384"/>
            <a:ext cx="2916936" cy="1792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决定写、读、更新与遗忘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规则、LLM 或 learned 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可主动验证或抑制记忆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2542032"/>
            <a:ext cx="3246120" cy="2450592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542032"/>
            <a:ext cx="3246120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606039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行为后果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072384"/>
            <a:ext cx="2916936" cy="1792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改变回答、计划和工具调用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影响未来状态与经验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正确与错误都可能累积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41324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9554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数据库里有历史文本，不自动等于 Agent 拥有了可用的长期记忆。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四个基本对象：Item、State、System、Policy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2532888" cy="2194560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99616"/>
            <a:ext cx="23865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Memory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83664"/>
            <a:ext cx="2368296" cy="1572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一条可寻址单元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事实、事件、经验、技能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1256" y="225856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4" y="1371600"/>
            <a:ext cx="2532888" cy="2194560"/>
          </a:xfrm>
          <a:prstGeom prst="rect">
            <a:avLst/>
          </a:prstGeom>
          <a:solidFill>
            <a:srgbClr val="E6F6F6"/>
          </a:solidFill>
          <a:ln w="1778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1499616"/>
            <a:ext cx="23865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E80"/>
                </a:solidFill>
                <a:latin typeface="Microsoft YaHei"/>
              </a:rPr>
              <a:t>Memory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83664"/>
            <a:ext cx="2368296" cy="1572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某时刻的有效状态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条目 + 时间 + 来源 + 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25856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371600"/>
            <a:ext cx="2532888" cy="2194560"/>
          </a:xfrm>
          <a:prstGeom prst="rect">
            <a:avLst/>
          </a:prstGeom>
          <a:solidFill>
            <a:srgbClr val="F1ECF9"/>
          </a:solidFill>
          <a:ln w="1778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99616"/>
            <a:ext cx="23865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4B96"/>
                </a:solidFill>
                <a:latin typeface="Microsoft YaHei"/>
              </a:rPr>
              <a:t>Memory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883664"/>
            <a:ext cx="2368296" cy="1572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生命周期后端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写入、组织、检索、更新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25856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8008" y="1371600"/>
            <a:ext cx="2532888" cy="2194560"/>
          </a:xfrm>
          <a:prstGeom prst="rect">
            <a:avLst/>
          </a:prstGeom>
          <a:solidFill>
            <a:srgbClr val="F7F8FA"/>
          </a:solidFill>
          <a:ln w="1778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99616"/>
            <a:ext cx="23865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A000"/>
                </a:solidFill>
                <a:latin typeface="Microsoft YaHei"/>
              </a:rPr>
              <a:t>Memory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1883664"/>
            <a:ext cx="2368296" cy="157276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管理决策策略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何时写、用、验、忘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4078224"/>
            <a:ext cx="532180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4F7E"/>
                </a:solidFill>
                <a:latin typeface="Arial"/>
              </a:rPr>
              <a:t>Mₜ = U(Mₜ₋₁, Hₜ; πᴹ)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681728"/>
            <a:ext cx="7269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570"/>
                </a:solidFill>
                <a:latin typeface="Microsoft YaHei"/>
              </a:rPr>
              <a:t>历史 H 经过记忆策略 πᴹ 更新为下一时刻的持久状态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2180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0410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研究对象从“存了哪些文本”扩展为“状态怎样形成、变化并控制行为”。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不要混淆：Memory、RAG、长上下文与上下文工程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60704"/>
          <a:ext cx="1106423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2304288"/>
                <a:gridCol w="2066543"/>
                <a:gridCol w="1408176"/>
                <a:gridCol w="3657600"/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概念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核心对象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时间尺度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持续更新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主要目标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长上下文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当前 token 序列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单次调用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读得更多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RAG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外部文档库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单次任务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通常否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找外部知识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Agentic RAG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主动搜索过程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多步任务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可选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规划检索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Context Engineering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当前上下文配置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当前任务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临时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编排资源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Agent Memory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历史形成的状态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跨会话/任务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持续学习与行动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LLM Memory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参数、激活、KV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推理到模型生命周期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视机制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容量与效率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650992"/>
            <a:ext cx="10844784" cy="475488"/>
          </a:xfrm>
          <a:prstGeom prst="rect">
            <a:avLst/>
          </a:prstGeom>
          <a:solidFill>
            <a:srgbClr val="E7F1FB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73328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判断题：删除当前 query 后，信息是否仍因过去交互而存在并继续演化？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Memory 里有什么？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类型、形式与生命周期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按功能分类：Agent 到底记住什么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3456432" cy="175564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345643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61288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事实 / 语义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27631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用户事实、偏好、环境关系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回答：是什么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097280"/>
            <a:ext cx="3456432" cy="175564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097280"/>
            <a:ext cx="345643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161288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1627631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带时间、参与者和结果的经历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回答：发生过什么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2752" y="1097280"/>
            <a:ext cx="3456432" cy="175564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1097280"/>
            <a:ext cx="3456432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161288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经验 / 反思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1627631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失败教训、注意事项、策略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回答：以后如何改进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55263"/>
            <a:ext cx="3456432" cy="175564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55263"/>
            <a:ext cx="3456432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319271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程序 / 技能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85615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计划、工具链、代码、工作流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回答：如何做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255263"/>
            <a:ext cx="3456432" cy="1755648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3255263"/>
            <a:ext cx="3456432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319271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工作记忆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785615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当前任务中间状态与目标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回答：现在做到哪里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3255263"/>
            <a:ext cx="3456432" cy="1755648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02752" y="3255263"/>
            <a:ext cx="3456432" cy="384048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319271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前瞻记忆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3785615"/>
            <a:ext cx="312724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未来条件触发的延迟意图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回答：何时再做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2297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0527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同一系统常同时保存事实、经历和技能；不同类型需要不同更新与评测。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按形式分类：记忆以什么结构存在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24128"/>
          <a:ext cx="11082528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61488"/>
                <a:gridCol w="2880360"/>
                <a:gridCol w="3794760"/>
              </a:tblGrid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形式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典型实现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主要局限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原始轨迹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完整对话、工具日志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保真、可审计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成本高、噪声多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文本条目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事实、摘要、反思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可读、易接入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结构和限定条件易丢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向量索引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Embedding + Top-k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成熟、快速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相似不等于适用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结构 / 图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JSON、事件图、时间图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关系清晰、可追踪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建图和维护复杂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层次记忆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短期 / 中期 / 长期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效率与范围平衡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跨层一致性困难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参数 / 隐式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微调、LoRA、memory token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调用紧凑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难解释、删除与更新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96646"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混合系统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原文 + 索引 + 图 + 技能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能力完整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0">
                          <a:solidFill>
                            <a:srgbClr val="1B1F24"/>
                          </a:solidFill>
                          <a:latin typeface="Microsoft YaHei"/>
                        </a:rPr>
                        <a:t>故障归因更难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79729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7959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结构没有绝对优劣：任务所需关系、更新频率和审计要求决定选择。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完整生命周期：从历史事件到未来行为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" y="1874519"/>
            <a:ext cx="1664208" cy="1993392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用户 / 工具 / 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3976" y="2651760"/>
            <a:ext cx="2560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1874519"/>
            <a:ext cx="1664208" cy="1993392"/>
          </a:xfrm>
          <a:prstGeom prst="rect">
            <a:avLst/>
          </a:prstGeom>
          <a:solidFill>
            <a:srgbClr val="E6F6F6"/>
          </a:solidFill>
          <a:ln w="1778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4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E80"/>
                </a:solidFill>
                <a:latin typeface="Microsoft YaHei"/>
              </a:rPr>
              <a:t>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抽取 / 写入 / 反思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2651760"/>
            <a:ext cx="2560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1664208" cy="1993392"/>
          </a:xfrm>
          <a:prstGeom prst="rect">
            <a:avLst/>
          </a:prstGeom>
          <a:solidFill>
            <a:srgbClr val="F1ECF9"/>
          </a:solidFill>
          <a:ln w="1778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4B96"/>
                </a:solidFill>
                <a:latin typeface="Microsoft YaHei"/>
              </a:rPr>
              <a:t>Organize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索引 / 链接 / 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2" y="2651760"/>
            <a:ext cx="2560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874519"/>
            <a:ext cx="1664208" cy="1993392"/>
          </a:xfrm>
          <a:prstGeom prst="rect">
            <a:avLst/>
          </a:prstGeom>
          <a:solidFill>
            <a:srgbClr val="F7F8FA"/>
          </a:solidFill>
          <a:ln w="1778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A000"/>
                </a:solidFill>
                <a:latin typeface="Microsoft YaHei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候选 / 排序 / 停止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51760"/>
            <a:ext cx="2560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1874519"/>
            <a:ext cx="1664208" cy="1993392"/>
          </a:xfrm>
          <a:prstGeom prst="rect">
            <a:avLst/>
          </a:prstGeom>
          <a:solidFill>
            <a:srgbClr val="FCEBEB"/>
          </a:solidFill>
          <a:ln w="1778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73838"/>
                </a:solidFill>
                <a:latin typeface="Microsoft YaHei"/>
              </a:rPr>
              <a:t>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回答 / 计划 / 行动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651760"/>
            <a:ext cx="2560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13264" y="1874519"/>
            <a:ext cx="1664208" cy="1993392"/>
          </a:xfrm>
          <a:prstGeom prst="rect">
            <a:avLst/>
          </a:prstGeom>
          <a:solidFill>
            <a:srgbClr val="E7F6ED"/>
          </a:solidFill>
          <a:ln w="1778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86416" y="2002536"/>
            <a:ext cx="151790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7749"/>
                </a:solidFill>
                <a:latin typeface="Microsoft YaHei"/>
              </a:rPr>
              <a:t>Evolve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386584"/>
            <a:ext cx="1499616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更新 / 遗忘 / 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188720"/>
            <a:ext cx="1938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历史交互 H₁:ₜ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1188720"/>
            <a:ext cx="1938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持续状态 Mₜ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1188720"/>
            <a:ext cx="2194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未来行为与反馈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45152"/>
            <a:ext cx="10844784" cy="475488"/>
          </a:xfrm>
          <a:prstGeom prst="rect">
            <a:avLst/>
          </a:prstGeom>
          <a:solidFill>
            <a:srgbClr val="E7F1FB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2744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任一阶段都可能失败，最终准确率无法告诉我们错误发生在哪里。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一套最小可运行的 Memory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993392" cy="199339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438912" cy="1993392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618488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51790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事件日志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892808"/>
            <a:ext cx="1298448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对话 / 动作 / 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221284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389888"/>
            <a:ext cx="1993392" cy="199339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208" y="1389888"/>
            <a:ext cx="438912" cy="1993392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618488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51790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写入器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1892808"/>
            <a:ext cx="1298448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选择 + 结构化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1284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1389888"/>
            <a:ext cx="1993392" cy="199339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1389888"/>
            <a:ext cx="438912" cy="1993392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1618488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151790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Microsoft YaHei"/>
              </a:rPr>
              <a:t>记忆库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8424" y="1892808"/>
            <a:ext cx="1298448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文本 / 向量 / 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221284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5784" y="1389888"/>
            <a:ext cx="1993392" cy="1993392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15784" y="1389888"/>
            <a:ext cx="438912" cy="1993392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618488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151790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Microsoft YaHei"/>
              </a:rPr>
              <a:t>检索器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1892808"/>
            <a:ext cx="1298448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召回 + 重排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1284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20072" y="1389888"/>
            <a:ext cx="1993392" cy="199339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0072" y="1389888"/>
            <a:ext cx="438912" cy="1993392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618488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51790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Microsoft YaHei"/>
              </a:rPr>
              <a:t>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1892808"/>
            <a:ext cx="1298448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推理 + 工具行动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444752" y="3822191"/>
            <a:ext cx="9326880" cy="0"/>
          </a:xfrm>
          <a:prstGeom prst="line">
            <a:avLst/>
          </a:prstGeom>
          <a:ln w="17780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864608" y="3566160"/>
            <a:ext cx="2468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反馈与更新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" y="4151376"/>
            <a:ext cx="10222992" cy="1042415"/>
          </a:xfrm>
          <a:prstGeom prst="rect">
            <a:avLst/>
          </a:prstGeom>
          <a:solidFill>
            <a:srgbClr val="FFFFFF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9264" y="4151376"/>
            <a:ext cx="1022299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4215384"/>
            <a:ext cx="100035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最低日志要求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4681728"/>
            <a:ext cx="9893808" cy="3840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写入前事件  |  写入后状态  |  检索候选  |  可见证据  |  最终行动  |  环境反馈  |  更新记录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52297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60527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先把生命周期记录清楚，再讨论复杂模型；否则无法区分写入、检索和使用错误。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方法如何演化？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从存储记录到学习 Memory policy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发展时间线：四个阶段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3072384"/>
            <a:ext cx="10351008" cy="0"/>
          </a:xfrm>
          <a:prstGeom prst="line">
            <a:avLst/>
          </a:prstGeom>
          <a:ln w="2286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15568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46703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Arial"/>
              </a:rPr>
              <a:t>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5" y="1097280"/>
            <a:ext cx="2011680" cy="1609344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5" y="1097280"/>
            <a:ext cx="201168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3" y="1161288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外部记忆成型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" y="1627631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Generative 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Reflexion / Voyager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MemGPT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3346703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Arial"/>
              </a:rPr>
              <a:t>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7" y="1097280"/>
            <a:ext cx="2011680" cy="1609344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5807" y="1097280"/>
            <a:ext cx="201168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5" y="1161288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长期对话评测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399" y="1627631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LoCoMo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多会话与时间推理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图检索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3346703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Arial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7568" y="1097280"/>
            <a:ext cx="2011680" cy="1609344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87568" y="1097280"/>
            <a:ext cx="2011680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1161288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组织与经验复用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1627631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LongMemEval / A-MEM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AWM / MemoryOS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效率与结构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3346703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Arial"/>
              </a:rPr>
              <a:t>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8" y="1097280"/>
            <a:ext cx="2011680" cy="1609344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1097280"/>
            <a:ext cx="2011680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1161288"/>
            <a:ext cx="17922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策略、行动、治理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627631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AgeMem / Memory-R1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StratMem / Mem2Act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1F24"/>
                </a:solidFill>
                <a:latin typeface="Microsoft YaHei"/>
              </a:rPr>
              <a:t>• 可信与成本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68172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6402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主线：Storage → Reflection → Experience → Learned control and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2023：四种奠基思路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Park et al.; Shinn et al.; Wang et al.; Packer et al., 2023.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2578608" cy="418795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Generative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09343"/>
            <a:ext cx="2249424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保存自然语言经历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按相关性、时近性和重要性检索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反思形成高层认知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记忆服务计划和社会行为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078992"/>
            <a:ext cx="2578608" cy="418795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1078992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Reflexion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1609343"/>
            <a:ext cx="2249424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把环境反馈转为语言反思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写入 episodic buffer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不更新模型参数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跨 trial 改进行为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78992"/>
            <a:ext cx="2578608" cy="418795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Voyager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609343"/>
            <a:ext cx="2249424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开放式具身探索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保存可执行技能代码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组合和复用技能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以环境反馈持续改进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078992"/>
            <a:ext cx="2578608" cy="4187952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976" y="1078992"/>
            <a:ext cx="257860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3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MemGPT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7" y="1609343"/>
            <a:ext cx="2249424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类操作系统分层内存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有限上下文与外存调度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用 interrupt 管理控制流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支持跨会话对话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共同贡献：让 Agent 能在模型参数不变的情况下积累跨任务状态与经验。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2024–2025：从“能否找回”走向“如何组织与复用”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LoCoMo: ACL 2024 Long; LongMemEval: ICLR 2025; A-MEM: NeurIPS 2025; AWM: ICML 2025.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60704"/>
            <a:ext cx="3456432" cy="420624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060704"/>
            <a:ext cx="345643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12471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评测基础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91055"/>
            <a:ext cx="3127248" cy="3547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LoCoMo：超长多会话对话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LongMemEval：抽取、跨会话、时间、更新、拒答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问题从短对话扩大到持续交互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060704"/>
            <a:ext cx="3456432" cy="420624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060704"/>
            <a:ext cx="345643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2471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动态组织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591055"/>
            <a:ext cx="3127248" cy="3547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A-MEM：动态索引和链接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新记忆可更新旧条目属性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从平坦 Top-k 走向关联网络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060704"/>
            <a:ext cx="3456432" cy="4206240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060704"/>
            <a:ext cx="3456432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12471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经验复用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91055"/>
            <a:ext cx="3127248" cy="3547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AWM：从轨迹归纳 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MemoryOS：多层存储与管理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从“发生了什么”走向“以后怎么做”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这一阶段的关键词：long-term evaluation、organization、workflow、efficiency。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2026：Memory operation 成为可学习的 Agent 行为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AgeMem and Memory-R1: ACL 2026 Long; LightMem: ACL 2026 Long.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078992"/>
            <a:ext cx="212140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过去：固定规则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2880360" cy="3584448"/>
          </a:xfrm>
          <a:prstGeom prst="rect">
            <a:avLst/>
          </a:prstGeom>
          <a:solidFill>
            <a:srgbClr val="F7F8FA"/>
          </a:solidFill>
          <a:ln w="15240"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2880360" cy="384048"/>
          </a:xfrm>
          <a:prstGeom prst="rect">
            <a:avLst/>
          </a:prstGeom>
          <a:solidFill>
            <a:srgbClr val="5C6570"/>
          </a:solidFill>
          <a:ln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26609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Heuristic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57984"/>
            <a:ext cx="2551176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固定摘要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固定 Top-k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TTL / LRU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统一写入与更新模板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62656"/>
            <a:ext cx="5120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078992"/>
            <a:ext cx="2926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4F7E"/>
                </a:solidFill>
                <a:latin typeface="Microsoft YaHei"/>
              </a:rPr>
              <a:t>现在：自主操作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627632"/>
            <a:ext cx="3127248" cy="358444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627632"/>
            <a:ext cx="312724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691640"/>
            <a:ext cx="290779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Agentic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57984"/>
            <a:ext cx="2798064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STORE / RETRIEVE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UPDATE / DELETE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SUMMARIZE / NOOP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• 作为工具动作进入策略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962656"/>
            <a:ext cx="5120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078992"/>
            <a:ext cx="31272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7E80"/>
                </a:solidFill>
                <a:latin typeface="Microsoft YaHei"/>
              </a:rPr>
              <a:t>进一步：学习策略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1627632"/>
            <a:ext cx="3328416" cy="358444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1627632"/>
            <a:ext cx="3328416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9164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Learned Memory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157984"/>
            <a:ext cx="2999232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SFT / preference learning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PPO / GRPO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结果 + 步骤 + 成本奖励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学习何时及如何管理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关键变化：Memory 不再只是后端组件，而成为 Agent policy 的动作空间。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六类常见架构：选择取决于任务，而非流行度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24128"/>
          <a:ext cx="11064240" cy="480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971800"/>
                <a:gridCol w="2697480"/>
                <a:gridCol w="3429000"/>
              </a:tblGrid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Microsoft YaHei"/>
                        </a:rPr>
                        <a:t>家族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Microsoft YaHei"/>
                        </a:rPr>
                        <a:t>做法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1">
                          <a:solidFill>
                            <a:srgbClr val="FFFFFF"/>
                          </a:solidFill>
                          <a:latin typeface="Microsoft YaHei"/>
                        </a:rPr>
                        <a:t>核心风险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Full history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保留全部或最近历史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简单、保真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成本与干扰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Retrieval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切分 + 索引 + Top-k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成熟、快速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相似不等于适用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Hierarchical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近期细节 + 长期摘要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平衡范围和效率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压缩失真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Graph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实体 / 事件 / 时间关系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多跳与追踪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构建维护复杂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Experience / Skill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反思、案例、工作流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跨任务复用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负迁移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Parametric / Latent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参数或隐式状态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调用紧凑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难审计与删除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1218"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Hybrid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原文 + 索引 + 图 + 技能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能力完整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B1F24"/>
                          </a:solidFill>
                          <a:latin typeface="Microsoft YaHei"/>
                        </a:rPr>
                        <a:t>故障归因困难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79729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7959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现代系统通常是混合架构；真正困难的是跨组件一致性与可诊断性。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Formation 与 Organization：怎样把历史变成记忆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3383280" cy="43708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338328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088136"/>
            <a:ext cx="31638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写入策略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054096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全量保存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事实 / 偏好抽取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摘要与反思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novelty / importance / utility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ADD / UPDATE / DELETE / NOOP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024128"/>
            <a:ext cx="3383280" cy="43708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024128"/>
            <a:ext cx="338328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088136"/>
            <a:ext cx="31638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组织与元数据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54096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Embedding、关键词与标签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实体、时间与事件关系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来源 provenance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权限 authority /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版本与 supersession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024128"/>
            <a:ext cx="3383280" cy="43708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024128"/>
            <a:ext cx="3383280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088136"/>
            <a:ext cx="31638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主要失败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054096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漏写重要信息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把推测写成事实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临时要求变成永久偏好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摘要丢失否定和例外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错误链接与过度抽象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59552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4184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写入质量决定后续上限：不存在或被错误抽象的证据，检索器无法恢复。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Retrieval 与 Use：找到了，不等于会正确使用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993392" cy="1920240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9344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993392"/>
            <a:ext cx="1828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当前目标 + 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221284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6" y="1481328"/>
            <a:ext cx="1993392" cy="1920240"/>
          </a:xfrm>
          <a:prstGeom prst="rect">
            <a:avLst/>
          </a:prstGeom>
          <a:solidFill>
            <a:srgbClr val="E6F6F6"/>
          </a:solidFill>
          <a:ln w="1778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609344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E80"/>
                </a:solidFill>
                <a:latin typeface="Microsoft YaHei"/>
              </a:rP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1993392"/>
            <a:ext cx="1828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关键词 / 向量 / 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221284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5504" y="1481328"/>
            <a:ext cx="1993392" cy="1920240"/>
          </a:xfrm>
          <a:prstGeom prst="rect">
            <a:avLst/>
          </a:prstGeom>
          <a:solidFill>
            <a:srgbClr val="F1ECF9"/>
          </a:solidFill>
          <a:ln w="1778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609344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4B96"/>
                </a:solidFill>
                <a:latin typeface="Microsoft YaHei"/>
              </a:rPr>
              <a:t>Rerank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93392"/>
            <a:ext cx="1828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相关 + 时效 + 适用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21284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9792" y="1481328"/>
            <a:ext cx="1993392" cy="1920240"/>
          </a:xfrm>
          <a:prstGeom prst="rect">
            <a:avLst/>
          </a:prstGeom>
          <a:solidFill>
            <a:srgbClr val="F7F8FA"/>
          </a:solidFill>
          <a:ln w="1778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609344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A000"/>
                </a:solidFill>
                <a:latin typeface="Microsoft YaHei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1993392"/>
            <a:ext cx="1828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用 / 验 / 问 / 忽略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212848"/>
            <a:ext cx="2560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481328"/>
            <a:ext cx="1993392" cy="1920240"/>
          </a:xfrm>
          <a:prstGeom prst="rect">
            <a:avLst/>
          </a:prstGeom>
          <a:solidFill>
            <a:srgbClr val="FCEBEB"/>
          </a:solidFill>
          <a:ln w="1778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1609344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73838"/>
                </a:solidFill>
                <a:latin typeface="Microsoft YaHei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6" y="1993392"/>
            <a:ext cx="1828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回答 / 工具 / 拒绝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840480"/>
            <a:ext cx="4956048" cy="128016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3840480"/>
            <a:ext cx="495604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904488"/>
            <a:ext cx="47365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检索失败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70832"/>
            <a:ext cx="4626864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正确记忆未进入候选；旧版本或相似噪声排在前面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3840480"/>
            <a:ext cx="4956048" cy="128016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3840480"/>
            <a:ext cx="495604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04488"/>
            <a:ext cx="47365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使用失败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370832"/>
            <a:ext cx="4626864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正确证据已可见，但 Agent 忽略、误解或过早行动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2297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0527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必须分别记录 retrieved evidence 与实际行为，才能区分 recall 和 utilization。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Evolution 与 Governance：让记忆长期可用且可控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42415"/>
            <a:ext cx="3493008" cy="422452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34930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06424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状态演化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72767"/>
            <a:ext cx="3163824" cy="3566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覆盖旧值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保留全部版本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记录 supersede 关系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冲突未决时继续验证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压缩、合并与遗忘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544" y="1042415"/>
            <a:ext cx="3493008" cy="422452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2544" y="1042415"/>
            <a:ext cx="34930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106424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治理字段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72767"/>
            <a:ext cx="3163824" cy="3566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来源：谁说的？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权威：能否支持该动作？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作用域：适用于谁和哪里？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时效：现在仍有效吗？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审计：影响了哪个行为？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042415"/>
            <a:ext cx="3493008" cy="4224528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042415"/>
            <a:ext cx="349300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106424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长期风险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72767"/>
            <a:ext cx="3163824" cy="3566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旧值残留与冲突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来源在摘要中消失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用户或项目串扰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错误经验反复重放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敏感信息无法撤销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“过去真实”不等于“现在有效”；“曾被写入”也不等于“有权影响行动”。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怎样评价 Memory？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从事实召回到行动、成本与可信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Benchmark 演化：评价对象不断向后延伸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61872"/>
            <a:ext cx="2011680" cy="349300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261872"/>
            <a:ext cx="438912" cy="349300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9047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89888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长期回忆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64792"/>
            <a:ext cx="1316736" cy="29260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过去信息能否找回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LoCoMo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LongMemEval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736" y="2761488"/>
            <a:ext cx="2834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261872"/>
            <a:ext cx="2011680" cy="349300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1261872"/>
            <a:ext cx="438912" cy="349300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49047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89888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状态演化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764792"/>
            <a:ext cx="1316736" cy="29260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时间、更新与遗忘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Persona / state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TTL / LRU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761488"/>
            <a:ext cx="2834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261872"/>
            <a:ext cx="2011680" cy="349300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1261872"/>
            <a:ext cx="438912" cy="349300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49047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389888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Microsoft YaHei"/>
              </a:rPr>
              <a:t>战略使用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764792"/>
            <a:ext cx="1316736" cy="29260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该不该用、用多少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StratMem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SteeM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2761488"/>
            <a:ext cx="2834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4071" y="1261872"/>
            <a:ext cx="2011680" cy="349300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34071" y="1261872"/>
            <a:ext cx="438912" cy="349300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7" y="149047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999" y="1389888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Microsoft YaHei"/>
              </a:rPr>
              <a:t>工具行动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999" y="1764792"/>
            <a:ext cx="1316736" cy="29260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选工具并恢复参数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Mem2Act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MemoryArena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761488"/>
            <a:ext cx="28346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5792" y="1261872"/>
            <a:ext cx="2011680" cy="3493008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65792" y="1261872"/>
            <a:ext cx="438912" cy="349300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7" y="149047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1389888"/>
            <a:ext cx="131673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Microsoft YaHei"/>
              </a:rPr>
              <a:t>纵向治理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9" y="1764792"/>
            <a:ext cx="1316736" cy="29260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成本、来源、修复与副作用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/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Lifecycle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Safety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126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问题从“记住了吗”变成“记忆是否恰当地改变了当前与未来行为”。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代表性 Benchmark：各自测什么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24128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691640"/>
                <a:gridCol w="4069080"/>
                <a:gridCol w="315468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Benchmark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出处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主要能力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边界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LoCoMo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ACL 2024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多会话回忆、时间、总结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偏问答 / 生成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LongMemEval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ICLR 2025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抽取、跨会话、更新、拒答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非完整行动闭环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MemoryAgentBench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ICLR 2026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检索、TTL、LRU、遗忘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以 chunk 为主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AMemGym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ICLR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on-policy write/read/use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任务域与用户模拟受限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StratMem-Bench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ACL 2026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必须 / 可选 / 无关记忆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候选已给定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Mem2ActBench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ACL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工具选择、参数落地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主要是离线行动生成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MemoryArena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arXiv 2026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记忆获取与环境行动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B1F24"/>
                          </a:solidFill>
                          <a:latin typeface="Microsoft YaHei"/>
                        </a:rPr>
                        <a:t>预印本，协议演化中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815584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没有一个分数能代表全部 Memory 能力；应按任务所需生命周期选择评测。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六层指标：不要只看最终准确率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3456432" cy="166420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345643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43000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09343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写入 P/R、事实一致性、来源保留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078992"/>
            <a:ext cx="3456432" cy="166420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078992"/>
            <a:ext cx="345643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143000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1609343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Recall@k、MRR、证据覆盖、预算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2752" y="1078992"/>
            <a:ext cx="3456432" cy="166420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1078992"/>
            <a:ext cx="3456432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143000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1609343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答案、工具、参数、证据引用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63824"/>
            <a:ext cx="3456432" cy="166420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163824"/>
            <a:ext cx="3456432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22783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演化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94176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更新、失效、冲突、未来复发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163824"/>
            <a:ext cx="3456432" cy="1664208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3163824"/>
            <a:ext cx="3456432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22783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694176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Token、调用、延迟、存储增长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3163824"/>
            <a:ext cx="3456432" cy="1664208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02752" y="3163824"/>
            <a:ext cx="3456432" cy="384048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227832"/>
            <a:ext cx="32369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3694176"/>
            <a:ext cx="3127248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权限、泄露、污染、审计、撤销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41324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9554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最终答案错误可能来自写入、检索、使用或更新；指标必须支持阶段归因。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常见失败模式：Memory 也会制造错误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24128"/>
            <a:ext cx="5193792" cy="1225296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24128"/>
            <a:ext cx="519379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88136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漏写 / 幻觉写入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554480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重要信息未保存，或推测被写成事实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024128"/>
            <a:ext cx="5193792" cy="1225296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1024128"/>
            <a:ext cx="519379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88136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检索错位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554480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相似但过期、跨用户或不同条件的经验抢占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560320"/>
            <a:ext cx="5193792" cy="1225296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560320"/>
            <a:ext cx="5193792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7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召回后不用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90672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证据可见，但模型仍按旧计划或参数先验行动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2560320"/>
            <a:ext cx="5193792" cy="1225296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2560320"/>
            <a:ext cx="5193792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7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过度使用 / 锚定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090672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旧经验压制新证据和探索分支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096512"/>
            <a:ext cx="5193792" cy="1225296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096512"/>
            <a:ext cx="5193792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压缩与版本失真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26864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否定、例外、来源、时间和权限被丢失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4096512"/>
            <a:ext cx="5193792" cy="1225296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6792" y="4096512"/>
            <a:ext cx="5193792" cy="384048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49743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错误传播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4626864"/>
            <a:ext cx="48646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B1F24"/>
                </a:solidFill>
                <a:latin typeface="Microsoft YaHei"/>
              </a:rPr>
              <a:t>• 一次错误被保存并在未来相似任务中重放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669280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5157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Memory 的价值来自跨时间复用；它的风险也会跨时间累积。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更多 Memory 为什么不一定更好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Huang et al., ACL 2026; Xiong et al., ACL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920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34F7E"/>
                </a:solidFill>
                <a:latin typeface="Microsoft YaHei"/>
              </a:rPr>
              <a:t>长期净效用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3401568" cy="3511296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2395728" cy="21396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4F7E"/>
                </a:solidFill>
                <a:latin typeface="Microsoft YaHei"/>
              </a:rPr>
              <a:t>U(M) = 任务收益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4F7E"/>
                </a:solidFill>
                <a:latin typeface="Microsoft YaHei"/>
              </a:rPr>
              <a:t>− 成本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4F7E"/>
                </a:solidFill>
                <a:latin typeface="Microsoft YaHei"/>
              </a:rPr>
              <a:t>− 干扰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4F7E"/>
                </a:solidFill>
                <a:latin typeface="Microsoft YaHei"/>
              </a:rPr>
              <a:t>− 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2889504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170432"/>
            <a:ext cx="2816352" cy="3968496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8928" y="1170432"/>
            <a:ext cx="281635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234440"/>
            <a:ext cx="25968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Memory 太少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700784"/>
            <a:ext cx="2487168" cy="3310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关键信息漏失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重复探索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个性化和连续性不足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历史反馈无法复用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70432"/>
            <a:ext cx="2816352" cy="3968496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170432"/>
            <a:ext cx="2816352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1234440"/>
            <a:ext cx="25968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Memory 太多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1700784"/>
            <a:ext cx="2487168" cy="3310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检索和 token 成本上升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旧版本与噪声抢占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经验锚定和探索收缩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隐私与污染面扩大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0468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86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现代目标不是“存得最多”，而是在任务、成本和风险之间获得更高净效用。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公平比较 Memory system，需要控制什么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969264"/>
            <a:ext cx="512064" cy="512064"/>
          </a:xfrm>
          <a:prstGeom prst="round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078992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969264"/>
            <a:ext cx="10058400" cy="512064"/>
          </a:xfrm>
          <a:prstGeom prst="rect">
            <a:avLst/>
          </a:prstGeom>
          <a:solidFill>
            <a:srgbClr val="E7F1FB"/>
          </a:solidFill>
          <a:ln w="1143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1069848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069848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固定基础模型与解码参数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37360"/>
            <a:ext cx="512064" cy="512064"/>
          </a:xfrm>
          <a:prstGeom prst="round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847088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737360"/>
            <a:ext cx="10058400" cy="512064"/>
          </a:xfrm>
          <a:prstGeom prst="rect">
            <a:avLst/>
          </a:prstGeom>
          <a:solidFill>
            <a:srgbClr val="E6F6F6"/>
          </a:solidFill>
          <a:ln w="1143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1837943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E80"/>
                </a:solidFill>
                <a:latin typeface="Microsoft YaHei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837943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报告切分、摘要和原文保留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505456"/>
            <a:ext cx="512064" cy="512064"/>
          </a:xfrm>
          <a:prstGeom prst="round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615184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505456"/>
            <a:ext cx="10058400" cy="512064"/>
          </a:xfrm>
          <a:prstGeom prst="rect">
            <a:avLst/>
          </a:prstGeom>
          <a:solidFill>
            <a:srgbClr val="F1ECF9"/>
          </a:solidFill>
          <a:ln w="1143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2606040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84B96"/>
                </a:solidFill>
                <a:latin typeface="Microsoft YaHei"/>
              </a:rPr>
              <a:t>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06040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配平 Top-k、token 与调用预算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73552"/>
            <a:ext cx="512064" cy="512064"/>
          </a:xfrm>
          <a:prstGeom prst="round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83280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273552"/>
            <a:ext cx="10058400" cy="512064"/>
          </a:xfrm>
          <a:prstGeom prst="rect">
            <a:avLst/>
          </a:prstGeom>
          <a:solidFill>
            <a:srgbClr val="F7F8FA"/>
          </a:solidFill>
          <a:ln w="1143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6192" y="3374136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A000"/>
                </a:solidFill>
                <a:latin typeface="Microsoft YaHei"/>
              </a:rPr>
              <a:t>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374136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记录真正进入上下文的证据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41648"/>
            <a:ext cx="512064" cy="512064"/>
          </a:xfrm>
          <a:prstGeom prst="round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151376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041648"/>
            <a:ext cx="10058400" cy="512064"/>
          </a:xfrm>
          <a:prstGeom prst="rect">
            <a:avLst/>
          </a:prstGeom>
          <a:solidFill>
            <a:srgbClr val="FCEBEB"/>
          </a:solidFill>
          <a:ln w="1143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4142232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Evaluator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142232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工具用程序评分，文本再用 judge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809744"/>
            <a:ext cx="512064" cy="512064"/>
          </a:xfrm>
          <a:prstGeom prst="round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919472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809744"/>
            <a:ext cx="10058400" cy="512064"/>
          </a:xfrm>
          <a:prstGeom prst="rect">
            <a:avLst/>
          </a:prstGeom>
          <a:solidFill>
            <a:srgbClr val="E7F6ED"/>
          </a:solidFill>
          <a:ln w="1143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4910328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7749"/>
                </a:solidFill>
                <a:latin typeface="Microsoft YaHei"/>
              </a:rPr>
              <a:t>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910328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按用户 / 事件 / family / episode 统计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6875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98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Embedding、chunk、Top-k 和 judge 的差异，可能比方法名称更影响排行榜。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未来往哪里走？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方法、评测与系统目标的共同变化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六条发展趋势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230368" cy="1243584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523036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08813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自主操作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固定 pipeline → Agent 调用 memory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1024128"/>
            <a:ext cx="5230368" cy="1243584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7648" y="1024128"/>
            <a:ext cx="523036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08813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学习策略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Prompt / rule → SFT / preference / 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78608"/>
            <a:ext cx="5230368" cy="1243584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78608"/>
            <a:ext cx="523036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4261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经验与技能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10896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记事实 → 复用 workflow 和可执行技能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578608"/>
            <a:ext cx="5230368" cy="1243584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2578608"/>
            <a:ext cx="523036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64261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条件化使用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Always-on/off → 按状态控制依赖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133087"/>
            <a:ext cx="5230368" cy="1243584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133087"/>
            <a:ext cx="523036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19709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在线评测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66344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固定历史 → 行为改变未来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4133087"/>
            <a:ext cx="5230368" cy="1243584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4133087"/>
            <a:ext cx="5230368" cy="384048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197096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可信与成本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4901183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B1F24"/>
                </a:solidFill>
                <a:latin typeface="Microsoft YaHei"/>
              </a:rPr>
              <a:t>• 单一准确率 → 多目标长期净效用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6875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698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竞争焦点正在从“记忆容量”转向“记忆策略是否可靠、经济且可治理”。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仍然开放的研究问题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230368" cy="438912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523036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43000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学习与决策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09343"/>
            <a:ext cx="4901183" cy="3730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写入时看不到未来任务，如何估计长期价值？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何时依赖经验，何时保留探索并重新验证？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多条记忆共同支持行动时，如何评价组合贡献？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怎样保护低频但高后果的约束？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1078992"/>
            <a:ext cx="5230368" cy="4389120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078992"/>
            <a:ext cx="523036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可信与评测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609343"/>
            <a:ext cx="4901183" cy="3730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压缩后如何保留来源、时间、否定和权限？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多 Agent 共享记忆时，如何隔离身份与责任？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错误已经造成外部后果后，怎样最小化修复？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B1F24"/>
                </a:solidFill>
                <a:latin typeface="Microsoft YaHei"/>
              </a:rPr>
              <a:t>• 排行榜对 chunk、embedding、预算和 judge 稳定吗？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50992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3328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开放问题不等于新颖性主张：仍需核查同期工作并先做可证伪 pilot。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初学者如何搭一个最小实验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353312"/>
            <a:ext cx="1984248" cy="34564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353312"/>
            <a:ext cx="438912" cy="3456432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81328"/>
            <a:ext cx="12893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定义事件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56232"/>
            <a:ext cx="1289304" cy="2889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用户 / 工具 / 环境统一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276148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353312"/>
            <a:ext cx="1984248" cy="34564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208" y="1353312"/>
            <a:ext cx="438912" cy="3456432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58191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481328"/>
            <a:ext cx="12893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做透明基线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1856232"/>
            <a:ext cx="1289304" cy="2889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No-memory / Full-history / BM25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6148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353312"/>
            <a:ext cx="1984248" cy="345643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1353312"/>
            <a:ext cx="438912" cy="3456432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158191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481328"/>
            <a:ext cx="12893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Microsoft YaHei"/>
              </a:rPr>
              <a:t>增加检索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56232"/>
            <a:ext cx="1289304" cy="2889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Dense + hybrid + reranker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76148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7496" y="1353312"/>
            <a:ext cx="1984248" cy="3456432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1353312"/>
            <a:ext cx="438912" cy="3456432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158191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3" y="1481328"/>
            <a:ext cx="12893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Microsoft YaHei"/>
              </a:rPr>
              <a:t>记录全链路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3" y="1856232"/>
            <a:ext cx="1289304" cy="2889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State / evidence / action /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761488"/>
            <a:ext cx="274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353312"/>
            <a:ext cx="1984248" cy="34564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1353312"/>
            <a:ext cx="438912" cy="3456432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9215" y="1581912"/>
            <a:ext cx="35661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1481328"/>
            <a:ext cx="128930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Microsoft YaHei"/>
              </a:rPr>
              <a:t>定位瓶颈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7" y="1856232"/>
            <a:ext cx="1289304" cy="28895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1F24"/>
                </a:solidFill>
                <a:latin typeface="Microsoft YaHei"/>
              </a:rPr>
              <a:t>Write、retrieve、use 还是 evolve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85232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6752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先建立可观察的系统，再训练模块；否则高分也无法解释 Memory 为什么有效。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推荐阅读路径：四组论文建立完整认知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2487168" cy="358444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248716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325880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基础架构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92224"/>
            <a:ext cx="2157984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Generative 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Reflexion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MemGPT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3824" y="2761488"/>
            <a:ext cx="228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7" y="1261872"/>
            <a:ext cx="2487168" cy="358444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7" y="1261872"/>
            <a:ext cx="248716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5" y="1325880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评测基础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792224"/>
            <a:ext cx="2157984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LoCoMo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LongMemEval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StratMem / Mem2Act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4" y="2761488"/>
            <a:ext cx="228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261872"/>
            <a:ext cx="2487168" cy="358444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7" y="1261872"/>
            <a:ext cx="248716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325880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现代方法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1792224"/>
            <a:ext cx="2157984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A-MEM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AWM / MemoryOS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AgeMem / Memory-R1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2761488"/>
            <a:ext cx="228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5128" y="1261872"/>
            <a:ext cx="2487168" cy="358444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5128" y="1261872"/>
            <a:ext cx="248716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5" y="1325880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风险趋势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1792224"/>
            <a:ext cx="2157984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SteeM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Experience-Following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Memory Surveys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66944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阅读顺序：先理解系统对象，再看 Benchmark，最后看学习策略与治理。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总结：用五句话记住 Agent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512064" cy="512064"/>
          </a:xfrm>
          <a:prstGeom prst="round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188719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78992"/>
            <a:ext cx="10058400" cy="512064"/>
          </a:xfrm>
          <a:prstGeom prst="rect">
            <a:avLst/>
          </a:prstGeom>
          <a:solidFill>
            <a:srgbClr val="E7F1FB"/>
          </a:solidFill>
          <a:ln w="1143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1179576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179576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由历史形成、跨会话持续、受策略管理并影响未来行为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93391"/>
            <a:ext cx="512064" cy="512064"/>
          </a:xfrm>
          <a:prstGeom prst="round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03120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993391"/>
            <a:ext cx="10058400" cy="512064"/>
          </a:xfrm>
          <a:prstGeom prst="rect">
            <a:avLst/>
          </a:prstGeom>
          <a:solidFill>
            <a:srgbClr val="E6F6F6"/>
          </a:solidFill>
          <a:ln w="1143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093975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E80"/>
                </a:solidFill>
                <a:latin typeface="Microsoft YaHei"/>
              </a:rPr>
              <a:t>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093975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形成、组织、检索、使用、更新和治理缺一不可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07791"/>
            <a:ext cx="512064" cy="512064"/>
          </a:xfrm>
          <a:prstGeom prst="round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017520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907791"/>
            <a:ext cx="10058400" cy="512064"/>
          </a:xfrm>
          <a:prstGeom prst="rect">
            <a:avLst/>
          </a:prstGeom>
          <a:solidFill>
            <a:srgbClr val="F1ECF9"/>
          </a:solidFill>
          <a:ln w="1143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3008375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84B96"/>
                </a:solidFill>
                <a:latin typeface="Microsoft YaHei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008375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从存储与 Top-k 走向经验抽象和 learned memory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22191"/>
            <a:ext cx="512064" cy="512064"/>
          </a:xfrm>
          <a:prstGeom prst="round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931920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822191"/>
            <a:ext cx="10058400" cy="512064"/>
          </a:xfrm>
          <a:prstGeom prst="rect">
            <a:avLst/>
          </a:prstGeom>
          <a:solidFill>
            <a:srgbClr val="F7F8FA"/>
          </a:solidFill>
          <a:ln w="1143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6192" y="3922776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A000"/>
                </a:solidFill>
                <a:latin typeface="Microsoft YaHei"/>
              </a:rPr>
              <a:t>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922776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从事实召回走向行动、生命周期、成本和可信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736592"/>
            <a:ext cx="512064" cy="512064"/>
          </a:xfrm>
          <a:prstGeom prst="round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846320"/>
            <a:ext cx="31089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736592"/>
            <a:ext cx="10058400" cy="512064"/>
          </a:xfrm>
          <a:prstGeom prst="rect">
            <a:avLst/>
          </a:prstGeom>
          <a:solidFill>
            <a:srgbClr val="FCEBEB"/>
          </a:solidFill>
          <a:ln w="1143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4837176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837176"/>
            <a:ext cx="7708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更多 Memory 不必然更好；长期净效用才是目标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7900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6130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Memory 不只是存储组件，而是 Agent 的持续状态、学习介质和责任边界。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参考文献（一）：综述与奠基工作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Hu et al. Memory in the Age of AI Agents. arXiv:2512.13564.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Zhang et al. Rethinking Memory in AI. arXiv:2505.00675.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Luo et al. From Storage to Experience. ACL Findings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Park et al. Generative Agents. UIST / arXiv 2023.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Shinn et al. Reflexion. NeurIPS Main 2023.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Wang et al. Voyager. arXiv:2305.16291.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Packer et al. MemGPT. arXiv:2310.08560.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Maharana et al. LoCoMo. ACL Long 2024.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 et al. LongMemEval. ICLR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Tan et al. MemBench. ACL Findings 2025.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参考文献（二）：代表性方法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Xu et al. A-MEM. NeurIPS Main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Wang et al. Agent Workflow Memory. ICML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Kang et al. MemoryOS. EMNLP Main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Ong et al. THEANINE. NAACL Long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Yu et al. Agentic Memory (AgeMem). ACL Long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Yan et al. Memory-R1. ACL Long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Zhang et al. LightMem. ACL Long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Jiang et al. MAGMA. ACL Long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 et al. GAM. ACL Long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Huang et al. Controllable Memory Usage. ACL Long 2026.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参考文献（三）：评测、行动与风险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 et al. StratMem-Bench. ACL Long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Shen et al. Mem2ActBench. ACL Long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AMemGym. ICLR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MemoryAgentBench. ICLR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MemoryArena. arXiv:2602.16313.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Xiong et al. How Memory Management Impacts LLM Agents. ACL Long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Locomo-Plus. ACL Long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From Recall to Forgetting (Memora). ACL Findings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Demystify the Role of Memory in MLE Agents. ACL Findings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Branch-and-Browse. ACL Long 2026.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Agent Memory：从历史记录到可持续、可行动、可治理的状态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ZlYzRlNjdkZTEzZTk5OTgwNjY5OTIyODZkM2FhNTk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</a:spPr>
      <a:bodyPr wrap="square" lIns="45719" rIns="45719">
        <a:spAutoFit/>
      </a:bodyPr>
      <a:lstStyle>
        <a:defPPr algn="l">
          <a:defRPr sz="2000" b="1" dirty="0">
            <a:solidFill>
              <a:schemeClr val="tx1"/>
            </a:solidFill>
            <a:latin typeface="Adobe 黑体 Std R"/>
            <a:ea typeface="Adobe 黑体 Std R"/>
            <a:cs typeface="Adobe 黑体 Std R"/>
            <a:sym typeface="Adobe 黑体 Std 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896</Words>
  <Application>Microsoft Office PowerPoint</Application>
  <PresentationFormat>宽屏</PresentationFormat>
  <Paragraphs>70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Adobe 黑体 Std R</vt:lpstr>
      <vt:lpstr>等线</vt:lpstr>
      <vt:lpstr>等线 Light</vt:lpstr>
      <vt:lpstr>黑体</vt:lpstr>
      <vt:lpstr>楷体</vt:lpstr>
      <vt:lpstr>宋体</vt:lpstr>
      <vt:lpstr>Arial</vt:lpstr>
      <vt:lpstr>Calibri</vt:lpstr>
      <vt:lpstr>Impact</vt:lpstr>
      <vt:lpstr>Times New Roman</vt:lpstr>
      <vt:lpstr>Wingdings</vt:lpstr>
      <vt:lpstr>1_Office 主题</vt:lpstr>
      <vt:lpstr>20260321进展汇报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熙润 魏</cp:lastModifiedBy>
  <cp:revision>778</cp:revision>
  <cp:lastPrinted>2022-07-23T06:32:00Z</cp:lastPrinted>
  <dcterms:created xsi:type="dcterms:W3CDTF">2024-10-10T02:06:00Z</dcterms:created>
  <dcterms:modified xsi:type="dcterms:W3CDTF">2026-09-03T15:38:22Z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C63D499CBFA8412BBFD94993171443F4_13</vt:lpwstr>
  </property>
  <property fmtid="{D5CDD505-2E9C-101B-9397-08002B2CF9AE}" pid="3" name="KSOProductBuildVer">
    <vt:lpwstr>2052-12.1.0.24657</vt:lpwstr>
  </property>
</Properties>
</file>